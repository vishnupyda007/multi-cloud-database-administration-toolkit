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72" r:id="rId10"/>
    <p:sldId id="264" r:id="rId11"/>
    <p:sldId id="266" r:id="rId12"/>
    <p:sldId id="269" r:id="rId13"/>
    <p:sldId id="271" r:id="rId14"/>
  </p:sldIdLst>
  <p:sldSz cx="12192000" cy="6856413"/>
  <p:notesSz cx="12192000" cy="8534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3D5E0-E9B0-4B1F-9AA3-318431B4311C}" v="30" dt="2025-08-01T06:14:50.9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hima Vishnu Seshasai, Pyda Venkata (Cognizant)" userId="cd751c49-d693-4a81-83f7-635dd6b9ac74" providerId="ADAL" clId="{41D3D5E0-E9B0-4B1F-9AA3-318431B4311C}"/>
    <pc:docChg chg="undo redo custSel addSld delSld modSld">
      <pc:chgData name="Srihima Vishnu Seshasai, Pyda Venkata (Cognizant)" userId="cd751c49-d693-4a81-83f7-635dd6b9ac74" providerId="ADAL" clId="{41D3D5E0-E9B0-4B1F-9AA3-318431B4311C}" dt="2025-08-01T10:07:58.604" v="844" actId="20577"/>
      <pc:docMkLst>
        <pc:docMk/>
      </pc:docMkLst>
      <pc:sldChg chg="delSp modSp mod">
        <pc:chgData name="Srihima Vishnu Seshasai, Pyda Venkata (Cognizant)" userId="cd751c49-d693-4a81-83f7-635dd6b9ac74" providerId="ADAL" clId="{41D3D5E0-E9B0-4B1F-9AA3-318431B4311C}" dt="2025-07-30T16:47:44.530" v="128" actId="20577"/>
        <pc:sldMkLst>
          <pc:docMk/>
          <pc:sldMk cId="0" sldId="256"/>
        </pc:sldMkLst>
        <pc:spChg chg="mod">
          <ac:chgData name="Srihima Vishnu Seshasai, Pyda Venkata (Cognizant)" userId="cd751c49-d693-4a81-83f7-635dd6b9ac74" providerId="ADAL" clId="{41D3D5E0-E9B0-4B1F-9AA3-318431B4311C}" dt="2025-07-30T16:47:44.530" v="128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rihima Vishnu Seshasai, Pyda Venkata (Cognizant)" userId="cd751c49-d693-4a81-83f7-635dd6b9ac74" providerId="ADAL" clId="{41D3D5E0-E9B0-4B1F-9AA3-318431B4311C}" dt="2025-07-30T16:35:24.136" v="9" actId="21"/>
        <pc:sldMkLst>
          <pc:docMk/>
          <pc:sldMk cId="0" sldId="257"/>
        </pc:sldMkLst>
        <pc:spChg chg="mod">
          <ac:chgData name="Srihima Vishnu Seshasai, Pyda Venkata (Cognizant)" userId="cd751c49-d693-4a81-83f7-635dd6b9ac74" providerId="ADAL" clId="{41D3D5E0-E9B0-4B1F-9AA3-318431B4311C}" dt="2025-07-30T16:34:44.710" v="4" actId="20577"/>
          <ac:spMkLst>
            <pc:docMk/>
            <pc:sldMk cId="0" sldId="257"/>
            <ac:spMk id="47" creationId="{00000000-0000-0000-0000-000000000000}"/>
          </ac:spMkLst>
        </pc:spChg>
        <pc:picChg chg="topLvl">
          <ac:chgData name="Srihima Vishnu Seshasai, Pyda Venkata (Cognizant)" userId="cd751c49-d693-4a81-83f7-635dd6b9ac74" providerId="ADAL" clId="{41D3D5E0-E9B0-4B1F-9AA3-318431B4311C}" dt="2025-07-30T16:35:24.136" v="9" actId="21"/>
          <ac:picMkLst>
            <pc:docMk/>
            <pc:sldMk cId="0" sldId="257"/>
            <ac:picMk id="4" creationId="{00000000-0000-0000-0000-000000000000}"/>
          </ac:picMkLst>
        </pc:picChg>
      </pc:sldChg>
      <pc:sldChg chg="addSp delSp modSp mod">
        <pc:chgData name="Srihima Vishnu Seshasai, Pyda Venkata (Cognizant)" userId="cd751c49-d693-4a81-83f7-635dd6b9ac74" providerId="ADAL" clId="{41D3D5E0-E9B0-4B1F-9AA3-318431B4311C}" dt="2025-07-30T17:15:50.010" v="480" actId="21"/>
        <pc:sldMkLst>
          <pc:docMk/>
          <pc:sldMk cId="0" sldId="258"/>
        </pc:sldMkLst>
        <pc:spChg chg="mod">
          <ac:chgData name="Srihima Vishnu Seshasai, Pyda Venkata (Cognizant)" userId="cd751c49-d693-4a81-83f7-635dd6b9ac74" providerId="ADAL" clId="{41D3D5E0-E9B0-4B1F-9AA3-318431B4311C}" dt="2025-07-30T16:35:20.746" v="7" actId="1076"/>
          <ac:spMkLst>
            <pc:docMk/>
            <pc:sldMk cId="0" sldId="258"/>
            <ac:spMk id="26" creationId="{00000000-0000-0000-0000-000000000000}"/>
          </ac:spMkLst>
        </pc:spChg>
        <pc:spChg chg="add del mod">
          <ac:chgData name="Srihima Vishnu Seshasai, Pyda Venkata (Cognizant)" userId="cd751c49-d693-4a81-83f7-635dd6b9ac74" providerId="ADAL" clId="{41D3D5E0-E9B0-4B1F-9AA3-318431B4311C}" dt="2025-07-30T17:15:50.010" v="480" actId="21"/>
          <ac:spMkLst>
            <pc:docMk/>
            <pc:sldMk cId="0" sldId="258"/>
            <ac:spMk id="30" creationId="{00000000-0000-0000-0000-000000000000}"/>
          </ac:spMkLst>
        </pc:spChg>
      </pc:sldChg>
      <pc:sldChg chg="delSp mod">
        <pc:chgData name="Srihima Vishnu Seshasai, Pyda Venkata (Cognizant)" userId="cd751c49-d693-4a81-83f7-635dd6b9ac74" providerId="ADAL" clId="{41D3D5E0-E9B0-4B1F-9AA3-318431B4311C}" dt="2025-07-30T17:18:45.067" v="482" actId="21"/>
        <pc:sldMkLst>
          <pc:docMk/>
          <pc:sldMk cId="0" sldId="259"/>
        </pc:sldMkLst>
      </pc:sldChg>
      <pc:sldChg chg="delSp mod">
        <pc:chgData name="Srihima Vishnu Seshasai, Pyda Venkata (Cognizant)" userId="cd751c49-d693-4a81-83f7-635dd6b9ac74" providerId="ADAL" clId="{41D3D5E0-E9B0-4B1F-9AA3-318431B4311C}" dt="2025-07-30T17:19:21.822" v="484" actId="21"/>
        <pc:sldMkLst>
          <pc:docMk/>
          <pc:sldMk cId="0" sldId="260"/>
        </pc:sldMkLst>
      </pc:sldChg>
      <pc:sldChg chg="addSp delSp modSp add del mod">
        <pc:chgData name="Srihima Vishnu Seshasai, Pyda Venkata (Cognizant)" userId="cd751c49-d693-4a81-83f7-635dd6b9ac74" providerId="ADAL" clId="{41D3D5E0-E9B0-4B1F-9AA3-318431B4311C}" dt="2025-08-01T06:15:58.490" v="736" actId="21"/>
        <pc:sldMkLst>
          <pc:docMk/>
          <pc:sldMk cId="0" sldId="261"/>
        </pc:sldMkLst>
        <pc:spChg chg="mod">
          <ac:chgData name="Srihima Vishnu Seshasai, Pyda Venkata (Cognizant)" userId="cd751c49-d693-4a81-83f7-635dd6b9ac74" providerId="ADAL" clId="{41D3D5E0-E9B0-4B1F-9AA3-318431B4311C}" dt="2025-08-01T05:55:10.307" v="720" actId="20577"/>
          <ac:spMkLst>
            <pc:docMk/>
            <pc:sldMk cId="0" sldId="261"/>
            <ac:spMk id="19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8-01T06:15:32.280" v="733" actId="21"/>
          <ac:spMkLst>
            <pc:docMk/>
            <pc:sldMk cId="0" sldId="261"/>
            <ac:spMk id="35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8-01T06:15:20.357" v="731" actId="21"/>
          <ac:spMkLst>
            <pc:docMk/>
            <pc:sldMk cId="0" sldId="261"/>
            <ac:spMk id="39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8-01T05:55:21.304" v="722" actId="20577"/>
          <ac:spMkLst>
            <pc:docMk/>
            <pc:sldMk cId="0" sldId="261"/>
            <ac:spMk id="40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8-01T06:15:25.084" v="732" actId="21"/>
          <ac:spMkLst>
            <pc:docMk/>
            <pc:sldMk cId="0" sldId="261"/>
            <ac:spMk id="41" creationId="{00000000-0000-0000-0000-000000000000}"/>
          </ac:spMkLst>
        </pc:spChg>
        <pc:grpChg chg="mod">
          <ac:chgData name="Srihima Vishnu Seshasai, Pyda Venkata (Cognizant)" userId="cd751c49-d693-4a81-83f7-635dd6b9ac74" providerId="ADAL" clId="{41D3D5E0-E9B0-4B1F-9AA3-318431B4311C}" dt="2025-08-01T05:54:01.033" v="713" actId="1076"/>
          <ac:grpSpMkLst>
            <pc:docMk/>
            <pc:sldMk cId="0" sldId="261"/>
            <ac:grpSpMk id="11" creationId="{00000000-0000-0000-0000-000000000000}"/>
          </ac:grpSpMkLst>
        </pc:grpChg>
        <pc:picChg chg="mod">
          <ac:chgData name="Srihima Vishnu Seshasai, Pyda Venkata (Cognizant)" userId="cd751c49-d693-4a81-83f7-635dd6b9ac74" providerId="ADAL" clId="{41D3D5E0-E9B0-4B1F-9AA3-318431B4311C}" dt="2025-08-01T05:54:55.902" v="718" actId="1076"/>
          <ac:picMkLst>
            <pc:docMk/>
            <pc:sldMk cId="0" sldId="261"/>
            <ac:picMk id="13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5:53:19.038" v="709" actId="1076"/>
          <ac:picMkLst>
            <pc:docMk/>
            <pc:sldMk cId="0" sldId="261"/>
            <ac:picMk id="14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5:53:29.453" v="710" actId="1076"/>
          <ac:picMkLst>
            <pc:docMk/>
            <pc:sldMk cId="0" sldId="261"/>
            <ac:picMk id="15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5:53:40.452" v="711" actId="1076"/>
          <ac:picMkLst>
            <pc:docMk/>
            <pc:sldMk cId="0" sldId="261"/>
            <ac:picMk id="16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5:54:14.130" v="714" actId="1076"/>
          <ac:picMkLst>
            <pc:docMk/>
            <pc:sldMk cId="0" sldId="261"/>
            <ac:picMk id="17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5:54:24.667" v="715" actId="1076"/>
          <ac:picMkLst>
            <pc:docMk/>
            <pc:sldMk cId="0" sldId="261"/>
            <ac:picMk id="18" creationId="{00000000-0000-0000-0000-000000000000}"/>
          </ac:picMkLst>
        </pc:picChg>
        <pc:picChg chg="add del">
          <ac:chgData name="Srihima Vishnu Seshasai, Pyda Venkata (Cognizant)" userId="cd751c49-d693-4a81-83f7-635dd6b9ac74" providerId="ADAL" clId="{41D3D5E0-E9B0-4B1F-9AA3-318431B4311C}" dt="2025-08-01T06:15:58.490" v="736" actId="21"/>
          <ac:picMkLst>
            <pc:docMk/>
            <pc:sldMk cId="0" sldId="261"/>
            <ac:picMk id="36" creationId="{00000000-0000-0000-0000-000000000000}"/>
          </ac:picMkLst>
        </pc:picChg>
      </pc:sldChg>
      <pc:sldChg chg="delSp mod">
        <pc:chgData name="Srihima Vishnu Seshasai, Pyda Venkata (Cognizant)" userId="cd751c49-d693-4a81-83f7-635dd6b9ac74" providerId="ADAL" clId="{41D3D5E0-E9B0-4B1F-9AA3-318431B4311C}" dt="2025-07-30T17:23:15.202" v="502" actId="21"/>
        <pc:sldMkLst>
          <pc:docMk/>
          <pc:sldMk cId="0" sldId="262"/>
        </pc:sldMkLst>
      </pc:sldChg>
      <pc:sldChg chg="delSp modSp mod">
        <pc:chgData name="Srihima Vishnu Seshasai, Pyda Venkata (Cognizant)" userId="cd751c49-d693-4a81-83f7-635dd6b9ac74" providerId="ADAL" clId="{41D3D5E0-E9B0-4B1F-9AA3-318431B4311C}" dt="2025-08-01T10:07:04.921" v="814" actId="21"/>
        <pc:sldMkLst>
          <pc:docMk/>
          <pc:sldMk cId="0" sldId="263"/>
        </pc:sldMkLst>
        <pc:spChg chg="mod">
          <ac:chgData name="Srihima Vishnu Seshasai, Pyda Venkata (Cognizant)" userId="cd751c49-d693-4a81-83f7-635dd6b9ac74" providerId="ADAL" clId="{41D3D5E0-E9B0-4B1F-9AA3-318431B4311C}" dt="2025-08-01T10:05:10.134" v="753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8-01T10:05:06.454" v="75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8-01T10:05:07.572" v="75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8-01T10:06:53.126" v="812" actId="20577"/>
          <ac:spMkLst>
            <pc:docMk/>
            <pc:sldMk cId="0" sldId="263"/>
            <ac:spMk id="37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8-01T10:07:00.739" v="813" actId="21"/>
          <ac:spMkLst>
            <pc:docMk/>
            <pc:sldMk cId="0" sldId="263"/>
            <ac:spMk id="41" creationId="{00000000-0000-0000-0000-000000000000}"/>
          </ac:spMkLst>
        </pc:spChg>
        <pc:grpChg chg="mod">
          <ac:chgData name="Srihima Vishnu Seshasai, Pyda Venkata (Cognizant)" userId="cd751c49-d693-4a81-83f7-635dd6b9ac74" providerId="ADAL" clId="{41D3D5E0-E9B0-4B1F-9AA3-318431B4311C}" dt="2025-08-01T10:05:07.164" v="751" actId="1076"/>
          <ac:grpSpMkLst>
            <pc:docMk/>
            <pc:sldMk cId="0" sldId="263"/>
            <ac:grpSpMk id="6" creationId="{00000000-0000-0000-0000-000000000000}"/>
          </ac:grpSpMkLst>
        </pc:grpChg>
        <pc:grpChg chg="del mod">
          <ac:chgData name="Srihima Vishnu Seshasai, Pyda Venkata (Cognizant)" userId="cd751c49-d693-4a81-83f7-635dd6b9ac74" providerId="ADAL" clId="{41D3D5E0-E9B0-4B1F-9AA3-318431B4311C}" dt="2025-08-01T10:07:04.921" v="814" actId="21"/>
          <ac:grpSpMkLst>
            <pc:docMk/>
            <pc:sldMk cId="0" sldId="263"/>
            <ac:grpSpMk id="38" creationId="{00000000-0000-0000-0000-000000000000}"/>
          </ac:grpSpMkLst>
        </pc:grpChg>
      </pc:sldChg>
      <pc:sldChg chg="addSp delSp modSp add del mod">
        <pc:chgData name="Srihima Vishnu Seshasai, Pyda Venkata (Cognizant)" userId="cd751c49-d693-4a81-83f7-635dd6b9ac74" providerId="ADAL" clId="{41D3D5E0-E9B0-4B1F-9AA3-318431B4311C}" dt="2025-08-01T06:16:45.646" v="739" actId="1076"/>
        <pc:sldMkLst>
          <pc:docMk/>
          <pc:sldMk cId="0" sldId="264"/>
        </pc:sldMkLst>
        <pc:spChg chg="mod">
          <ac:chgData name="Srihima Vishnu Seshasai, Pyda Venkata (Cognizant)" userId="cd751c49-d693-4a81-83f7-635dd6b9ac74" providerId="ADAL" clId="{41D3D5E0-E9B0-4B1F-9AA3-318431B4311C}" dt="2025-08-01T06:16:25.456" v="73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7-31T10:02:21.094" v="533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7-31T10:08:39.884" v="636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7-31T10:09:31.121" v="641" actId="1076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Srihima Vishnu Seshasai, Pyda Venkata (Cognizant)" userId="cd751c49-d693-4a81-83f7-635dd6b9ac74" providerId="ADAL" clId="{41D3D5E0-E9B0-4B1F-9AA3-318431B4311C}" dt="2025-07-31T10:04:42.397" v="549" actId="21"/>
          <ac:spMkLst>
            <pc:docMk/>
            <pc:sldMk cId="0" sldId="264"/>
            <ac:spMk id="11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6:06.557" v="623" actId="2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7-31T10:09:19.694" v="640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rihima Vishnu Seshasai, Pyda Venkata (Cognizant)" userId="cd751c49-d693-4a81-83f7-635dd6b9ac74" providerId="ADAL" clId="{41D3D5E0-E9B0-4B1F-9AA3-318431B4311C}" dt="2025-07-31T10:10:07.098" v="644" actId="1076"/>
          <ac:spMkLst>
            <pc:docMk/>
            <pc:sldMk cId="0" sldId="264"/>
            <ac:spMk id="17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07.842" v="542" actId="21"/>
          <ac:spMkLst>
            <pc:docMk/>
            <pc:sldMk cId="0" sldId="264"/>
            <ac:spMk id="18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15.527" v="544" actId="21"/>
          <ac:spMkLst>
            <pc:docMk/>
            <pc:sldMk cId="0" sldId="264"/>
            <ac:spMk id="19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02.676" v="541" actId="21"/>
          <ac:spMkLst>
            <pc:docMk/>
            <pc:sldMk cId="0" sldId="264"/>
            <ac:spMk id="20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30.438" v="547" actId="21"/>
          <ac:spMkLst>
            <pc:docMk/>
            <pc:sldMk cId="0" sldId="264"/>
            <ac:spMk id="21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3:53.569" v="539" actId="21"/>
          <ac:spMkLst>
            <pc:docMk/>
            <pc:sldMk cId="0" sldId="264"/>
            <ac:spMk id="22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10.694" v="543" actId="21"/>
          <ac:spMkLst>
            <pc:docMk/>
            <pc:sldMk cId="0" sldId="264"/>
            <ac:spMk id="28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19.382" v="545" actId="21"/>
          <ac:spMkLst>
            <pc:docMk/>
            <pc:sldMk cId="0" sldId="264"/>
            <ac:spMk id="29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23.596" v="546" actId="21"/>
          <ac:spMkLst>
            <pc:docMk/>
            <pc:sldMk cId="0" sldId="264"/>
            <ac:spMk id="30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1:47.667" v="508" actId="21"/>
          <ac:spMkLst>
            <pc:docMk/>
            <pc:sldMk cId="0" sldId="264"/>
            <ac:spMk id="36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3:30.679" v="535" actId="21"/>
          <ac:spMkLst>
            <pc:docMk/>
            <pc:sldMk cId="0" sldId="264"/>
            <ac:spMk id="38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4:49.478" v="550" actId="21"/>
          <ac:spMkLst>
            <pc:docMk/>
            <pc:sldMk cId="0" sldId="264"/>
            <ac:spMk id="39" creationId="{00000000-0000-0000-0000-000000000000}"/>
          </ac:spMkLst>
        </pc:spChg>
        <pc:spChg chg="add del mod">
          <ac:chgData name="Srihima Vishnu Seshasai, Pyda Venkata (Cognizant)" userId="cd751c49-d693-4a81-83f7-635dd6b9ac74" providerId="ADAL" clId="{41D3D5E0-E9B0-4B1F-9AA3-318431B4311C}" dt="2025-07-31T10:07:02.266" v="628" actId="1076"/>
          <ac:spMkLst>
            <pc:docMk/>
            <pc:sldMk cId="0" sldId="264"/>
            <ac:spMk id="40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5:33.486" v="619" actId="21"/>
          <ac:spMkLst>
            <pc:docMk/>
            <pc:sldMk cId="0" sldId="264"/>
            <ac:spMk id="41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3:45.965" v="538" actId="21"/>
          <ac:spMkLst>
            <pc:docMk/>
            <pc:sldMk cId="0" sldId="264"/>
            <ac:spMk id="42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3:42.659" v="537" actId="21"/>
          <ac:spMkLst>
            <pc:docMk/>
            <pc:sldMk cId="0" sldId="264"/>
            <ac:spMk id="43" creationId="{00000000-0000-0000-0000-000000000000}"/>
          </ac:spMkLst>
        </pc:spChg>
        <pc:spChg chg="del">
          <ac:chgData name="Srihima Vishnu Seshasai, Pyda Venkata (Cognizant)" userId="cd751c49-d693-4a81-83f7-635dd6b9ac74" providerId="ADAL" clId="{41D3D5E0-E9B0-4B1F-9AA3-318431B4311C}" dt="2025-07-31T10:03:58.170" v="540" actId="21"/>
          <ac:spMkLst>
            <pc:docMk/>
            <pc:sldMk cId="0" sldId="264"/>
            <ac:spMk id="44" creationId="{00000000-0000-0000-0000-000000000000}"/>
          </ac:spMkLst>
        </pc:spChg>
        <pc:grpChg chg="add del mod">
          <ac:chgData name="Srihima Vishnu Seshasai, Pyda Venkata (Cognizant)" userId="cd751c49-d693-4a81-83f7-635dd6b9ac74" providerId="ADAL" clId="{41D3D5E0-E9B0-4B1F-9AA3-318431B4311C}" dt="2025-07-31T10:07:36.681" v="630" actId="1076"/>
          <ac:grpSpMkLst>
            <pc:docMk/>
            <pc:sldMk cId="0" sldId="264"/>
            <ac:grpSpMk id="8" creationId="{00000000-0000-0000-0000-000000000000}"/>
          </ac:grpSpMkLst>
        </pc:grpChg>
        <pc:grpChg chg="del">
          <ac:chgData name="Srihima Vishnu Seshasai, Pyda Venkata (Cognizant)" userId="cd751c49-d693-4a81-83f7-635dd6b9ac74" providerId="ADAL" clId="{41D3D5E0-E9B0-4B1F-9AA3-318431B4311C}" dt="2025-07-31T10:03:39.037" v="536" actId="21"/>
          <ac:grpSpMkLst>
            <pc:docMk/>
            <pc:sldMk cId="0" sldId="264"/>
            <ac:grpSpMk id="31" creationId="{00000000-0000-0000-0000-000000000000}"/>
          </ac:grpSpMkLst>
        </pc:grpChg>
        <pc:graphicFrameChg chg="del">
          <ac:chgData name="Srihima Vishnu Seshasai, Pyda Venkata (Cognizant)" userId="cd751c49-d693-4a81-83f7-635dd6b9ac74" providerId="ADAL" clId="{41D3D5E0-E9B0-4B1F-9AA3-318431B4311C}" dt="2025-07-31T10:03:24.479" v="534" actId="21"/>
          <ac:graphicFrameMkLst>
            <pc:docMk/>
            <pc:sldMk cId="0" sldId="264"/>
            <ac:graphicFrameMk id="37" creationId="{00000000-0000-0000-0000-000000000000}"/>
          </ac:graphicFrameMkLst>
        </pc:graphicFrameChg>
        <pc:picChg chg="mod">
          <ac:chgData name="Srihima Vishnu Seshasai, Pyda Venkata (Cognizant)" userId="cd751c49-d693-4a81-83f7-635dd6b9ac74" providerId="ADAL" clId="{41D3D5E0-E9B0-4B1F-9AA3-318431B4311C}" dt="2025-07-31T10:08:08.244" v="632" actId="1076"/>
          <ac:picMkLst>
            <pc:docMk/>
            <pc:sldMk cId="0" sldId="264"/>
            <ac:picMk id="9" creationId="{00000000-0000-0000-0000-000000000000}"/>
          </ac:picMkLst>
        </pc:picChg>
        <pc:picChg chg="del">
          <ac:chgData name="Srihima Vishnu Seshasai, Pyda Venkata (Cognizant)" userId="cd751c49-d693-4a81-83f7-635dd6b9ac74" providerId="ADAL" clId="{41D3D5E0-E9B0-4B1F-9AA3-318431B4311C}" dt="2025-07-31T10:05:53.720" v="621" actId="21"/>
          <ac:picMkLst>
            <pc:docMk/>
            <pc:sldMk cId="0" sldId="264"/>
            <ac:picMk id="13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7-31T10:09:12.720" v="639" actId="1076"/>
          <ac:picMkLst>
            <pc:docMk/>
            <pc:sldMk cId="0" sldId="264"/>
            <ac:picMk id="14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7-31T10:09:58.098" v="643" actId="1076"/>
          <ac:picMkLst>
            <pc:docMk/>
            <pc:sldMk cId="0" sldId="264"/>
            <ac:picMk id="16" creationId="{00000000-0000-0000-0000-000000000000}"/>
          </ac:picMkLst>
        </pc:picChg>
        <pc:picChg chg="del">
          <ac:chgData name="Srihima Vishnu Seshasai, Pyda Venkata (Cognizant)" userId="cd751c49-d693-4a81-83f7-635dd6b9ac74" providerId="ADAL" clId="{41D3D5E0-E9B0-4B1F-9AA3-318431B4311C}" dt="2025-07-31T10:01:37.312" v="507" actId="21"/>
          <ac:picMkLst>
            <pc:docMk/>
            <pc:sldMk cId="0" sldId="264"/>
            <ac:picMk id="35" creationId="{00000000-0000-0000-0000-000000000000}"/>
          </ac:picMkLst>
        </pc:picChg>
        <pc:picChg chg="mod">
          <ac:chgData name="Srihima Vishnu Seshasai, Pyda Venkata (Cognizant)" userId="cd751c49-d693-4a81-83f7-635dd6b9ac74" providerId="ADAL" clId="{41D3D5E0-E9B0-4B1F-9AA3-318431B4311C}" dt="2025-08-01T06:16:45.646" v="739" actId="1076"/>
          <ac:picMkLst>
            <pc:docMk/>
            <pc:sldMk cId="0" sldId="264"/>
            <ac:picMk id="36" creationId="{00000000-0000-0000-0000-000000000000}"/>
          </ac:picMkLst>
        </pc:picChg>
        <pc:picChg chg="add del mod">
          <ac:chgData name="Srihima Vishnu Seshasai, Pyda Venkata (Cognizant)" userId="cd751c49-d693-4a81-83f7-635dd6b9ac74" providerId="ADAL" clId="{41D3D5E0-E9B0-4B1F-9AA3-318431B4311C}" dt="2025-07-31T10:11:27.495" v="654" actId="21"/>
          <ac:picMkLst>
            <pc:docMk/>
            <pc:sldMk cId="0" sldId="264"/>
            <ac:picMk id="1026" creationId="{A77810D3-797B-D549-510C-E8EFCF8B6D01}"/>
          </ac:picMkLst>
        </pc:picChg>
        <pc:picChg chg="add del mod">
          <ac:chgData name="Srihima Vishnu Seshasai, Pyda Venkata (Cognizant)" userId="cd751c49-d693-4a81-83f7-635dd6b9ac74" providerId="ADAL" clId="{41D3D5E0-E9B0-4B1F-9AA3-318431B4311C}" dt="2025-07-31T10:16:47.716" v="667" actId="478"/>
          <ac:picMkLst>
            <pc:docMk/>
            <pc:sldMk cId="0" sldId="264"/>
            <ac:picMk id="1028" creationId="{3B1FB992-012D-1F65-0029-192263FAE0AD}"/>
          </ac:picMkLst>
        </pc:picChg>
      </pc:sldChg>
      <pc:sldChg chg="delSp modSp del mod">
        <pc:chgData name="Srihima Vishnu Seshasai, Pyda Venkata (Cognizant)" userId="cd751c49-d693-4a81-83f7-635dd6b9ac74" providerId="ADAL" clId="{41D3D5E0-E9B0-4B1F-9AA3-318431B4311C}" dt="2025-07-31T10:54:23.412" v="673" actId="47"/>
        <pc:sldMkLst>
          <pc:docMk/>
          <pc:sldMk cId="0" sldId="265"/>
        </pc:sldMkLst>
      </pc:sldChg>
      <pc:sldChg chg="delSp modSp mod">
        <pc:chgData name="Srihima Vishnu Seshasai, Pyda Venkata (Cognizant)" userId="cd751c49-d693-4a81-83f7-635dd6b9ac74" providerId="ADAL" clId="{41D3D5E0-E9B0-4B1F-9AA3-318431B4311C}" dt="2025-08-01T10:07:58.604" v="844" actId="20577"/>
        <pc:sldMkLst>
          <pc:docMk/>
          <pc:sldMk cId="0" sldId="266"/>
        </pc:sldMkLst>
        <pc:spChg chg="mod">
          <ac:chgData name="Srihima Vishnu Seshasai, Pyda Venkata (Cognizant)" userId="cd751c49-d693-4a81-83f7-635dd6b9ac74" providerId="ADAL" clId="{41D3D5E0-E9B0-4B1F-9AA3-318431B4311C}" dt="2025-08-01T10:07:58.604" v="844" actId="20577"/>
          <ac:spMkLst>
            <pc:docMk/>
            <pc:sldMk cId="0" sldId="266"/>
            <ac:spMk id="17" creationId="{00000000-0000-0000-0000-000000000000}"/>
          </ac:spMkLst>
        </pc:spChg>
      </pc:sldChg>
      <pc:sldChg chg="delSp del mod">
        <pc:chgData name="Srihima Vishnu Seshasai, Pyda Venkata (Cognizant)" userId="cd751c49-d693-4a81-83f7-635dd6b9ac74" providerId="ADAL" clId="{41D3D5E0-E9B0-4B1F-9AA3-318431B4311C}" dt="2025-07-31T10:53:38.786" v="672" actId="2696"/>
        <pc:sldMkLst>
          <pc:docMk/>
          <pc:sldMk cId="0" sldId="267"/>
        </pc:sldMkLst>
      </pc:sldChg>
      <pc:sldChg chg="delSp del mod">
        <pc:chgData name="Srihima Vishnu Seshasai, Pyda Venkata (Cognizant)" userId="cd751c49-d693-4a81-83f7-635dd6b9ac74" providerId="ADAL" clId="{41D3D5E0-E9B0-4B1F-9AA3-318431B4311C}" dt="2025-07-31T10:53:18.827" v="671" actId="2696"/>
        <pc:sldMkLst>
          <pc:docMk/>
          <pc:sldMk cId="0" sldId="268"/>
        </pc:sldMkLst>
      </pc:sldChg>
      <pc:sldChg chg="delSp mod">
        <pc:chgData name="Srihima Vishnu Seshasai, Pyda Venkata (Cognizant)" userId="cd751c49-d693-4a81-83f7-635dd6b9ac74" providerId="ADAL" clId="{41D3D5E0-E9B0-4B1F-9AA3-318431B4311C}" dt="2025-07-30T17:22:32.786" v="500" actId="21"/>
        <pc:sldMkLst>
          <pc:docMk/>
          <pc:sldMk cId="0" sldId="269"/>
        </pc:sldMkLst>
      </pc:sldChg>
      <pc:sldChg chg="delSp modSp del mod">
        <pc:chgData name="Srihima Vishnu Seshasai, Pyda Venkata (Cognizant)" userId="cd751c49-d693-4a81-83f7-635dd6b9ac74" providerId="ADAL" clId="{41D3D5E0-E9B0-4B1F-9AA3-318431B4311C}" dt="2025-07-31T10:47:19.958" v="670" actId="47"/>
        <pc:sldMkLst>
          <pc:docMk/>
          <pc:sldMk cId="0" sldId="270"/>
        </pc:sldMkLst>
      </pc:sldChg>
      <pc:sldChg chg="addSp delSp modSp mod">
        <pc:chgData name="Srihima Vishnu Seshasai, Pyda Venkata (Cognizant)" userId="cd751c49-d693-4a81-83f7-635dd6b9ac74" providerId="ADAL" clId="{41D3D5E0-E9B0-4B1F-9AA3-318431B4311C}" dt="2025-07-30T17:11:42.661" v="478" actId="478"/>
        <pc:sldMkLst>
          <pc:docMk/>
          <pc:sldMk cId="0" sldId="271"/>
        </pc:sldMkLst>
        <pc:spChg chg="mod">
          <ac:chgData name="Srihima Vishnu Seshasai, Pyda Venkata (Cognizant)" userId="cd751c49-d693-4a81-83f7-635dd6b9ac74" providerId="ADAL" clId="{41D3D5E0-E9B0-4B1F-9AA3-318431B4311C}" dt="2025-07-30T17:11:36.578" v="476" actId="20577"/>
          <ac:spMkLst>
            <pc:docMk/>
            <pc:sldMk cId="0" sldId="271"/>
            <ac:spMk id="17" creationId="{00000000-0000-0000-0000-000000000000}"/>
          </ac:spMkLst>
        </pc:spChg>
      </pc:sldChg>
      <pc:sldChg chg="modSp add mod">
        <pc:chgData name="Srihima Vishnu Seshasai, Pyda Venkata (Cognizant)" userId="cd751c49-d693-4a81-83f7-635dd6b9ac74" providerId="ADAL" clId="{41D3D5E0-E9B0-4B1F-9AA3-318431B4311C}" dt="2025-08-01T10:05:39.168" v="757" actId="1076"/>
        <pc:sldMkLst>
          <pc:docMk/>
          <pc:sldMk cId="0" sldId="272"/>
        </pc:sldMkLst>
        <pc:spChg chg="mod">
          <ac:chgData name="Srihima Vishnu Seshasai, Pyda Venkata (Cognizant)" userId="cd751c49-d693-4a81-83f7-635dd6b9ac74" providerId="ADAL" clId="{41D3D5E0-E9B0-4B1F-9AA3-318431B4311C}" dt="2025-08-01T10:05:39.168" v="757" actId="1076"/>
          <ac:spMkLst>
            <pc:docMk/>
            <pc:sldMk cId="0" sldId="272"/>
            <ac:spMk id="2" creationId="{00000000-0000-0000-0000-000000000000}"/>
          </ac:spMkLst>
        </pc:spChg>
        <pc:graphicFrameChg chg="mod">
          <ac:chgData name="Srihima Vishnu Seshasai, Pyda Venkata (Cognizant)" userId="cd751c49-d693-4a81-83f7-635dd6b9ac74" providerId="ADAL" clId="{41D3D5E0-E9B0-4B1F-9AA3-318431B4311C}" dt="2025-08-01T06:04:26.586" v="726" actId="1076"/>
          <ac:graphicFrameMkLst>
            <pc:docMk/>
            <pc:sldMk cId="0" sldId="272"/>
            <ac:graphicFrameMk id="38" creationId="{00000000-0000-0000-0000-000000000000}"/>
          </ac:graphicFrameMkLst>
        </pc:graphicFrameChg>
        <pc:picChg chg="mod">
          <ac:chgData name="Srihima Vishnu Seshasai, Pyda Venkata (Cognizant)" userId="cd751c49-d693-4a81-83f7-635dd6b9ac74" providerId="ADAL" clId="{41D3D5E0-E9B0-4B1F-9AA3-318431B4311C}" dt="2025-08-01T06:05:01.224" v="729" actId="1076"/>
          <ac:picMkLst>
            <pc:docMk/>
            <pc:sldMk cId="0" sldId="272"/>
            <ac:picMk id="49" creationId="{00000000-0000-0000-0000-000000000000}"/>
          </ac:picMkLst>
        </pc:picChg>
      </pc:sldChg>
      <pc:sldChg chg="add del">
        <pc:chgData name="Srihima Vishnu Seshasai, Pyda Venkata (Cognizant)" userId="cd751c49-d693-4a81-83f7-635dd6b9ac74" providerId="ADAL" clId="{41D3D5E0-E9B0-4B1F-9AA3-318431B4311C}" dt="2025-07-31T06:43:58.244" v="506" actId="2890"/>
        <pc:sldMkLst>
          <pc:docMk/>
          <pc:sldMk cId="2276593418" sldId="272"/>
        </pc:sldMkLst>
      </pc:sldChg>
      <pc:sldChg chg="new del">
        <pc:chgData name="Srihima Vishnu Seshasai, Pyda Venkata (Cognizant)" userId="cd751c49-d693-4a81-83f7-635dd6b9ac74" providerId="ADAL" clId="{41D3D5E0-E9B0-4B1F-9AA3-318431B4311C}" dt="2025-07-30T17:27:15.035" v="504" actId="680"/>
        <pc:sldMkLst>
          <pc:docMk/>
          <pc:sldMk cId="4081016058" sldId="272"/>
        </pc:sldMkLst>
      </pc:sldChg>
      <pc:sldChg chg="new del">
        <pc:chgData name="Srihima Vishnu Seshasai, Pyda Venkata (Cognizant)" userId="cd751c49-d693-4a81-83f7-635dd6b9ac74" providerId="ADAL" clId="{41D3D5E0-E9B0-4B1F-9AA3-318431B4311C}" dt="2025-08-01T05:55:30.540" v="723" actId="47"/>
        <pc:sldMkLst>
          <pc:docMk/>
          <pc:sldMk cId="4266663841" sldId="272"/>
        </pc:sldMkLst>
      </pc:sldChg>
      <pc:sldChg chg="add del">
        <pc:chgData name="Srihima Vishnu Seshasai, Pyda Venkata (Cognizant)" userId="cd751c49-d693-4a81-83f7-635dd6b9ac74" providerId="ADAL" clId="{41D3D5E0-E9B0-4B1F-9AA3-318431B4311C}" dt="2025-08-01T05:51:22.554" v="692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F6EB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0202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F6EB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0202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F6EB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44500" y="1250314"/>
            <a:ext cx="5119370" cy="346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0202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88099" y="1301750"/>
            <a:ext cx="5164455" cy="433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F6EB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77499" y="0"/>
            <a:ext cx="1714500" cy="6858000"/>
          </a:xfrm>
          <a:custGeom>
            <a:avLst/>
            <a:gdLst/>
            <a:ahLst/>
            <a:cxnLst/>
            <a:rect l="l" t="t" r="r" b="b"/>
            <a:pathLst>
              <a:path w="1714500" h="6858000">
                <a:moveTo>
                  <a:pt x="17144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714499" y="0"/>
                </a:lnTo>
                <a:lnTo>
                  <a:pt x="1714499" y="6857999"/>
                </a:lnTo>
                <a:close/>
              </a:path>
            </a:pathLst>
          </a:custGeom>
          <a:solidFill>
            <a:srgbClr val="F0F7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587375"/>
            <a:ext cx="781812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F6EBE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4999" y="1616075"/>
            <a:ext cx="4963795" cy="1760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0202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7799" y="6501376"/>
            <a:ext cx="2510155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37018" y="6417158"/>
            <a:ext cx="1215657" cy="287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</a:rPr>
              <a:t>Made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with</a:t>
            </a:r>
            <a:r>
              <a:rPr sz="900" spc="-20" dirty="0">
                <a:solidFill>
                  <a:srgbClr val="FFFFFF"/>
                </a:solidFill>
              </a:rPr>
              <a:t> </a:t>
            </a:r>
            <a:r>
              <a:rPr sz="900" dirty="0">
                <a:solidFill>
                  <a:srgbClr val="FFFFFF"/>
                </a:solidFill>
              </a:rPr>
              <a:t>Genspark</a:t>
            </a:r>
            <a:r>
              <a:rPr sz="900" spc="60" dirty="0">
                <a:solidFill>
                  <a:srgbClr val="FFFFFF"/>
                </a:solidFill>
              </a:rPr>
              <a:t> </a:t>
            </a:r>
            <a:fld id="{81D60167-4931-47E6-BA6A-407CBD079E47}" type="slidenum">
              <a:rPr sz="1575" spc="-75" baseline="-42328" dirty="0"/>
              <a:t>‹#›</a:t>
            </a:fld>
            <a:endParaRPr sz="1575" baseline="-42328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40.png"/><Relationship Id="rId12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0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9" y="0"/>
            <a:ext cx="4572000" cy="6858000"/>
          </a:xfrm>
          <a:custGeom>
            <a:avLst/>
            <a:gdLst/>
            <a:ahLst/>
            <a:cxnLst/>
            <a:rect l="l" t="t" r="r" b="b"/>
            <a:pathLst>
              <a:path w="4572000" h="6858000">
                <a:moveTo>
                  <a:pt x="4571999" y="6857999"/>
                </a:moveTo>
                <a:lnTo>
                  <a:pt x="0" y="0"/>
                </a:lnTo>
                <a:lnTo>
                  <a:pt x="4571999" y="0"/>
                </a:lnTo>
                <a:lnTo>
                  <a:pt x="4571999" y="6857999"/>
                </a:lnTo>
                <a:close/>
              </a:path>
            </a:pathLst>
          </a:custGeom>
          <a:solidFill>
            <a:srgbClr val="F0F7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441949"/>
            <a:ext cx="1428750" cy="1416050"/>
          </a:xfrm>
          <a:custGeom>
            <a:avLst/>
            <a:gdLst/>
            <a:ahLst/>
            <a:cxnLst/>
            <a:rect l="l" t="t" r="r" b="b"/>
            <a:pathLst>
              <a:path w="1428750" h="1416050">
                <a:moveTo>
                  <a:pt x="1428678" y="1416050"/>
                </a:moveTo>
                <a:lnTo>
                  <a:pt x="0" y="1416050"/>
                </a:lnTo>
                <a:lnTo>
                  <a:pt x="0" y="0"/>
                </a:lnTo>
                <a:lnTo>
                  <a:pt x="174904" y="0"/>
                </a:lnTo>
                <a:lnTo>
                  <a:pt x="209641" y="12699"/>
                </a:lnTo>
                <a:lnTo>
                  <a:pt x="244251" y="12699"/>
                </a:lnTo>
                <a:lnTo>
                  <a:pt x="278735" y="25399"/>
                </a:lnTo>
                <a:lnTo>
                  <a:pt x="313051" y="25399"/>
                </a:lnTo>
                <a:lnTo>
                  <a:pt x="381055" y="50799"/>
                </a:lnTo>
                <a:lnTo>
                  <a:pt x="414744" y="50799"/>
                </a:lnTo>
                <a:lnTo>
                  <a:pt x="448182" y="63499"/>
                </a:lnTo>
                <a:lnTo>
                  <a:pt x="610869" y="126999"/>
                </a:lnTo>
                <a:lnTo>
                  <a:pt x="642372" y="152399"/>
                </a:lnTo>
                <a:lnTo>
                  <a:pt x="704237" y="177799"/>
                </a:lnTo>
                <a:lnTo>
                  <a:pt x="734524" y="203199"/>
                </a:lnTo>
                <a:lnTo>
                  <a:pt x="793770" y="228599"/>
                </a:lnTo>
                <a:lnTo>
                  <a:pt x="822694" y="253999"/>
                </a:lnTo>
                <a:lnTo>
                  <a:pt x="851105" y="279399"/>
                </a:lnTo>
                <a:lnTo>
                  <a:pt x="879004" y="292099"/>
                </a:lnTo>
                <a:lnTo>
                  <a:pt x="906389" y="317499"/>
                </a:lnTo>
                <a:lnTo>
                  <a:pt x="933229" y="342899"/>
                </a:lnTo>
                <a:lnTo>
                  <a:pt x="959490" y="368299"/>
                </a:lnTo>
                <a:lnTo>
                  <a:pt x="985173" y="393699"/>
                </a:lnTo>
                <a:lnTo>
                  <a:pt x="1010278" y="406399"/>
                </a:lnTo>
                <a:lnTo>
                  <a:pt x="1034775" y="431799"/>
                </a:lnTo>
                <a:lnTo>
                  <a:pt x="1058634" y="457199"/>
                </a:lnTo>
                <a:lnTo>
                  <a:pt x="1081855" y="495299"/>
                </a:lnTo>
                <a:lnTo>
                  <a:pt x="1104438" y="520699"/>
                </a:lnTo>
                <a:lnTo>
                  <a:pt x="1147583" y="571499"/>
                </a:lnTo>
                <a:lnTo>
                  <a:pt x="1187961" y="622299"/>
                </a:lnTo>
                <a:lnTo>
                  <a:pt x="1207090" y="660399"/>
                </a:lnTo>
                <a:lnTo>
                  <a:pt x="1225480" y="685799"/>
                </a:lnTo>
                <a:lnTo>
                  <a:pt x="1243131" y="723899"/>
                </a:lnTo>
                <a:lnTo>
                  <a:pt x="1260044" y="749299"/>
                </a:lnTo>
                <a:lnTo>
                  <a:pt x="1276199" y="774699"/>
                </a:lnTo>
                <a:lnTo>
                  <a:pt x="1291575" y="812799"/>
                </a:lnTo>
                <a:lnTo>
                  <a:pt x="1306173" y="838199"/>
                </a:lnTo>
                <a:lnTo>
                  <a:pt x="1319992" y="876299"/>
                </a:lnTo>
                <a:lnTo>
                  <a:pt x="1333017" y="914399"/>
                </a:lnTo>
                <a:lnTo>
                  <a:pt x="1345231" y="939799"/>
                </a:lnTo>
                <a:lnTo>
                  <a:pt x="1356635" y="977899"/>
                </a:lnTo>
                <a:lnTo>
                  <a:pt x="1367228" y="1003299"/>
                </a:lnTo>
                <a:lnTo>
                  <a:pt x="1376998" y="1041399"/>
                </a:lnTo>
                <a:lnTo>
                  <a:pt x="1385933" y="1079499"/>
                </a:lnTo>
                <a:lnTo>
                  <a:pt x="1394032" y="1104899"/>
                </a:lnTo>
                <a:lnTo>
                  <a:pt x="1401296" y="1142999"/>
                </a:lnTo>
                <a:lnTo>
                  <a:pt x="1407717" y="1181099"/>
                </a:lnTo>
                <a:lnTo>
                  <a:pt x="1413286" y="1206499"/>
                </a:lnTo>
                <a:lnTo>
                  <a:pt x="1418004" y="1244599"/>
                </a:lnTo>
                <a:lnTo>
                  <a:pt x="1421870" y="1282699"/>
                </a:lnTo>
                <a:lnTo>
                  <a:pt x="1424880" y="1320799"/>
                </a:lnTo>
                <a:lnTo>
                  <a:pt x="1427030" y="1346199"/>
                </a:lnTo>
                <a:lnTo>
                  <a:pt x="1428319" y="1384299"/>
                </a:lnTo>
                <a:lnTo>
                  <a:pt x="1428678" y="1416050"/>
                </a:lnTo>
                <a:close/>
              </a:path>
            </a:pathLst>
          </a:custGeom>
          <a:solidFill>
            <a:srgbClr val="E6F1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599" y="1066799"/>
            <a:ext cx="1143000" cy="57150"/>
          </a:xfrm>
          <a:custGeom>
            <a:avLst/>
            <a:gdLst/>
            <a:ahLst/>
            <a:cxnLst/>
            <a:rect l="l" t="t" r="r" b="b"/>
            <a:pathLst>
              <a:path w="1143000" h="57150">
                <a:moveTo>
                  <a:pt x="1142999" y="57149"/>
                </a:moveTo>
                <a:lnTo>
                  <a:pt x="0" y="57149"/>
                </a:lnTo>
                <a:lnTo>
                  <a:pt x="0" y="0"/>
                </a:lnTo>
                <a:lnTo>
                  <a:pt x="1142999" y="0"/>
                </a:lnTo>
                <a:lnTo>
                  <a:pt x="1142999" y="571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6899" y="1263650"/>
            <a:ext cx="9144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Automated</a:t>
            </a:r>
            <a:r>
              <a:rPr sz="3600" spc="-75" dirty="0"/>
              <a:t> </a:t>
            </a:r>
            <a:r>
              <a:rPr sz="3600" dirty="0"/>
              <a:t>Database</a:t>
            </a:r>
            <a:r>
              <a:rPr sz="3600" spc="-75" dirty="0"/>
              <a:t> </a:t>
            </a:r>
            <a:r>
              <a:rPr sz="3600" dirty="0"/>
              <a:t>Growth</a:t>
            </a:r>
            <a:r>
              <a:rPr sz="3600" spc="-75" dirty="0"/>
              <a:t> </a:t>
            </a:r>
            <a:r>
              <a:rPr sz="3600" dirty="0"/>
              <a:t>Alert</a:t>
            </a:r>
            <a:r>
              <a:rPr sz="3600" spc="-75" dirty="0"/>
              <a:t> </a:t>
            </a:r>
            <a:r>
              <a:rPr sz="3600" spc="-10" dirty="0"/>
              <a:t>System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596899" y="1987550"/>
            <a:ext cx="2755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202020"/>
                </a:solidFill>
                <a:latin typeface="Segoe UI Semibold"/>
                <a:cs typeface="Segoe UI Semibold"/>
              </a:rPr>
              <a:t>using GitHub </a:t>
            </a:r>
            <a:r>
              <a:rPr sz="22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Copilot</a:t>
            </a:r>
            <a:endParaRPr sz="2250">
              <a:latin typeface="Segoe UI Semibold"/>
              <a:cs typeface="Segoe UI Semi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899" y="2692400"/>
            <a:ext cx="652462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A</a:t>
            </a:r>
            <a:r>
              <a:rPr sz="1500" spc="-2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comprehensive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monitoring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solution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to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track,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analyze,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and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alert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on</a:t>
            </a:r>
            <a:r>
              <a:rPr sz="1500" spc="-2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374050"/>
                </a:solidFill>
                <a:latin typeface="Segoe UI"/>
                <a:cs typeface="Segoe UI"/>
              </a:rPr>
              <a:t>database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growth</a:t>
            </a:r>
            <a:r>
              <a:rPr sz="1500" spc="-3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patterns</a:t>
            </a:r>
            <a:r>
              <a:rPr sz="1500" spc="-3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across</a:t>
            </a:r>
            <a:r>
              <a:rPr sz="1500" spc="-3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multiple</a:t>
            </a:r>
            <a:r>
              <a:rPr sz="1500" spc="-3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SQL</a:t>
            </a:r>
            <a:r>
              <a:rPr sz="1500" spc="-3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374050"/>
                </a:solidFill>
                <a:latin typeface="Segoe UI"/>
                <a:cs typeface="Segoe UI"/>
              </a:rPr>
              <a:t>Server</a:t>
            </a:r>
            <a:r>
              <a:rPr sz="1500" spc="-3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374050"/>
                </a:solidFill>
                <a:latin typeface="Segoe UI"/>
                <a:cs typeface="Segoe UI"/>
              </a:rPr>
              <a:t>instances</a:t>
            </a:r>
            <a:endParaRPr sz="15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5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Srihima Vishnu</a:t>
            </a:r>
            <a:endParaRPr lang="en-US" sz="13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lang="en-US" sz="1200" spc="-10" dirty="0">
                <a:solidFill>
                  <a:srgbClr val="4A5462"/>
                </a:solidFill>
                <a:latin typeface="Segoe UI"/>
                <a:cs typeface="Segoe UI"/>
              </a:rPr>
              <a:t>ITOps 1C DBA Team</a:t>
            </a:r>
            <a:endParaRPr sz="12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solidFill>
                  <a:srgbClr val="4A5462"/>
                </a:solidFill>
                <a:latin typeface="Segoe UI"/>
                <a:cs typeface="Segoe UI"/>
              </a:rPr>
              <a:t>Date:</a:t>
            </a:r>
            <a:r>
              <a:rPr sz="120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4A5462"/>
                </a:solidFill>
                <a:latin typeface="Segoe UI"/>
                <a:cs typeface="Segoe UI"/>
              </a:rPr>
              <a:t>July</a:t>
            </a:r>
            <a:r>
              <a:rPr sz="120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4A5462"/>
                </a:solidFill>
                <a:latin typeface="Segoe UI"/>
                <a:cs typeface="Segoe UI"/>
              </a:rPr>
              <a:t>30,</a:t>
            </a:r>
            <a:r>
              <a:rPr sz="120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Segoe UI"/>
                <a:cs typeface="Segoe UI"/>
              </a:rPr>
              <a:t>2025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106024" y="39052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7" y="154781"/>
                </a:moveTo>
                <a:lnTo>
                  <a:pt x="101808" y="150104"/>
                </a:lnTo>
                <a:lnTo>
                  <a:pt x="48824" y="137349"/>
                </a:lnTo>
                <a:lnTo>
                  <a:pt x="13100" y="118427"/>
                </a:lnTo>
                <a:lnTo>
                  <a:pt x="0" y="95250"/>
                </a:lnTo>
                <a:lnTo>
                  <a:pt x="0" y="59531"/>
                </a:lnTo>
                <a:lnTo>
                  <a:pt x="13100" y="36353"/>
                </a:lnTo>
                <a:lnTo>
                  <a:pt x="48824" y="17431"/>
                </a:lnTo>
                <a:lnTo>
                  <a:pt x="101808" y="4676"/>
                </a:lnTo>
                <a:lnTo>
                  <a:pt x="166687" y="0"/>
                </a:lnTo>
                <a:lnTo>
                  <a:pt x="231566" y="4676"/>
                </a:lnTo>
                <a:lnTo>
                  <a:pt x="284550" y="17431"/>
                </a:lnTo>
                <a:lnTo>
                  <a:pt x="320274" y="36353"/>
                </a:lnTo>
                <a:lnTo>
                  <a:pt x="333375" y="59531"/>
                </a:lnTo>
                <a:lnTo>
                  <a:pt x="333375" y="95250"/>
                </a:lnTo>
                <a:lnTo>
                  <a:pt x="320274" y="118427"/>
                </a:lnTo>
                <a:lnTo>
                  <a:pt x="284550" y="137349"/>
                </a:lnTo>
                <a:lnTo>
                  <a:pt x="231566" y="150104"/>
                </a:lnTo>
                <a:lnTo>
                  <a:pt x="166687" y="154781"/>
                </a:lnTo>
                <a:close/>
              </a:path>
              <a:path w="333375" h="381000">
                <a:moveTo>
                  <a:pt x="166687" y="273843"/>
                </a:moveTo>
                <a:lnTo>
                  <a:pt x="101808" y="269167"/>
                </a:lnTo>
                <a:lnTo>
                  <a:pt x="48824" y="256412"/>
                </a:lnTo>
                <a:lnTo>
                  <a:pt x="13100" y="237490"/>
                </a:lnTo>
                <a:lnTo>
                  <a:pt x="0" y="214312"/>
                </a:lnTo>
                <a:lnTo>
                  <a:pt x="0" y="138484"/>
                </a:lnTo>
                <a:lnTo>
                  <a:pt x="8828" y="144708"/>
                </a:lnTo>
                <a:lnTo>
                  <a:pt x="18693" y="150325"/>
                </a:lnTo>
                <a:lnTo>
                  <a:pt x="67798" y="167731"/>
                </a:lnTo>
                <a:lnTo>
                  <a:pt x="131464" y="177326"/>
                </a:lnTo>
                <a:lnTo>
                  <a:pt x="166687" y="178593"/>
                </a:lnTo>
                <a:lnTo>
                  <a:pt x="333375" y="178593"/>
                </a:lnTo>
                <a:lnTo>
                  <a:pt x="333375" y="214312"/>
                </a:lnTo>
                <a:lnTo>
                  <a:pt x="320274" y="237490"/>
                </a:lnTo>
                <a:lnTo>
                  <a:pt x="284550" y="256412"/>
                </a:lnTo>
                <a:lnTo>
                  <a:pt x="231566" y="269167"/>
                </a:lnTo>
                <a:lnTo>
                  <a:pt x="166687" y="273843"/>
                </a:lnTo>
                <a:close/>
              </a:path>
              <a:path w="333375" h="381000">
                <a:moveTo>
                  <a:pt x="333375" y="178593"/>
                </a:moveTo>
                <a:lnTo>
                  <a:pt x="166687" y="178593"/>
                </a:lnTo>
                <a:lnTo>
                  <a:pt x="201910" y="177326"/>
                </a:lnTo>
                <a:lnTo>
                  <a:pt x="235111" y="173645"/>
                </a:lnTo>
                <a:lnTo>
                  <a:pt x="292596" y="159767"/>
                </a:lnTo>
                <a:lnTo>
                  <a:pt x="333375" y="138484"/>
                </a:lnTo>
                <a:lnTo>
                  <a:pt x="333375" y="178593"/>
                </a:lnTo>
                <a:close/>
              </a:path>
              <a:path w="333375" h="381000">
                <a:moveTo>
                  <a:pt x="166687" y="381000"/>
                </a:moveTo>
                <a:lnTo>
                  <a:pt x="101808" y="376323"/>
                </a:lnTo>
                <a:lnTo>
                  <a:pt x="48824" y="363568"/>
                </a:lnTo>
                <a:lnTo>
                  <a:pt x="13100" y="344646"/>
                </a:lnTo>
                <a:lnTo>
                  <a:pt x="0" y="321468"/>
                </a:lnTo>
                <a:lnTo>
                  <a:pt x="0" y="257547"/>
                </a:lnTo>
                <a:lnTo>
                  <a:pt x="8828" y="263771"/>
                </a:lnTo>
                <a:lnTo>
                  <a:pt x="18693" y="269388"/>
                </a:lnTo>
                <a:lnTo>
                  <a:pt x="67798" y="286794"/>
                </a:lnTo>
                <a:lnTo>
                  <a:pt x="131464" y="296388"/>
                </a:lnTo>
                <a:lnTo>
                  <a:pt x="166687" y="297656"/>
                </a:lnTo>
                <a:lnTo>
                  <a:pt x="333375" y="297656"/>
                </a:lnTo>
                <a:lnTo>
                  <a:pt x="333375" y="321468"/>
                </a:lnTo>
                <a:lnTo>
                  <a:pt x="320274" y="344646"/>
                </a:lnTo>
                <a:lnTo>
                  <a:pt x="284550" y="363568"/>
                </a:lnTo>
                <a:lnTo>
                  <a:pt x="231566" y="376323"/>
                </a:lnTo>
                <a:lnTo>
                  <a:pt x="166687" y="381000"/>
                </a:lnTo>
                <a:close/>
              </a:path>
              <a:path w="333375" h="381000">
                <a:moveTo>
                  <a:pt x="333375" y="297656"/>
                </a:moveTo>
                <a:lnTo>
                  <a:pt x="166687" y="297656"/>
                </a:lnTo>
                <a:lnTo>
                  <a:pt x="201910" y="296388"/>
                </a:lnTo>
                <a:lnTo>
                  <a:pt x="235111" y="292707"/>
                </a:lnTo>
                <a:lnTo>
                  <a:pt x="292596" y="278829"/>
                </a:lnTo>
                <a:lnTo>
                  <a:pt x="333375" y="257547"/>
                </a:lnTo>
                <a:lnTo>
                  <a:pt x="333375" y="297656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582274" y="3929062"/>
            <a:ext cx="381000" cy="333375"/>
          </a:xfrm>
          <a:custGeom>
            <a:avLst/>
            <a:gdLst/>
            <a:ahLst/>
            <a:cxnLst/>
            <a:rect l="l" t="t" r="r" b="b"/>
            <a:pathLst>
              <a:path w="381000" h="333375">
                <a:moveTo>
                  <a:pt x="357187" y="333375"/>
                </a:moveTo>
                <a:lnTo>
                  <a:pt x="59531" y="333375"/>
                </a:lnTo>
                <a:lnTo>
                  <a:pt x="36353" y="328698"/>
                </a:lnTo>
                <a:lnTo>
                  <a:pt x="17431" y="315943"/>
                </a:lnTo>
                <a:lnTo>
                  <a:pt x="4676" y="297021"/>
                </a:lnTo>
                <a:lnTo>
                  <a:pt x="0" y="273843"/>
                </a:lnTo>
                <a:lnTo>
                  <a:pt x="0" y="23812"/>
                </a:lnTo>
                <a:lnTo>
                  <a:pt x="1868" y="14535"/>
                </a:lnTo>
                <a:lnTo>
                  <a:pt x="6967" y="6967"/>
                </a:lnTo>
                <a:lnTo>
                  <a:pt x="14535" y="1868"/>
                </a:lnTo>
                <a:lnTo>
                  <a:pt x="23812" y="0"/>
                </a:lnTo>
                <a:lnTo>
                  <a:pt x="33089" y="1868"/>
                </a:lnTo>
                <a:lnTo>
                  <a:pt x="40657" y="6967"/>
                </a:lnTo>
                <a:lnTo>
                  <a:pt x="45756" y="14535"/>
                </a:lnTo>
                <a:lnTo>
                  <a:pt x="47625" y="23812"/>
                </a:lnTo>
                <a:lnTo>
                  <a:pt x="47625" y="280392"/>
                </a:lnTo>
                <a:lnTo>
                  <a:pt x="52982" y="285750"/>
                </a:lnTo>
                <a:lnTo>
                  <a:pt x="357187" y="285750"/>
                </a:lnTo>
                <a:lnTo>
                  <a:pt x="366464" y="287618"/>
                </a:lnTo>
                <a:lnTo>
                  <a:pt x="374033" y="292717"/>
                </a:lnTo>
                <a:lnTo>
                  <a:pt x="379131" y="300285"/>
                </a:lnTo>
                <a:lnTo>
                  <a:pt x="381000" y="309562"/>
                </a:lnTo>
                <a:lnTo>
                  <a:pt x="379131" y="318839"/>
                </a:lnTo>
                <a:lnTo>
                  <a:pt x="374033" y="326408"/>
                </a:lnTo>
                <a:lnTo>
                  <a:pt x="366464" y="331506"/>
                </a:lnTo>
                <a:lnTo>
                  <a:pt x="357187" y="333375"/>
                </a:lnTo>
                <a:close/>
              </a:path>
              <a:path w="381000" h="333375">
                <a:moveTo>
                  <a:pt x="305618" y="132977"/>
                </a:moveTo>
                <a:lnTo>
                  <a:pt x="238125" y="132977"/>
                </a:lnTo>
                <a:lnTo>
                  <a:pt x="316483" y="54545"/>
                </a:lnTo>
                <a:lnTo>
                  <a:pt x="324366" y="49313"/>
                </a:lnTo>
                <a:lnTo>
                  <a:pt x="333337" y="47569"/>
                </a:lnTo>
                <a:lnTo>
                  <a:pt x="342309" y="49313"/>
                </a:lnTo>
                <a:lnTo>
                  <a:pt x="350192" y="54545"/>
                </a:lnTo>
                <a:lnTo>
                  <a:pt x="355424" y="62428"/>
                </a:lnTo>
                <a:lnTo>
                  <a:pt x="357168" y="71400"/>
                </a:lnTo>
                <a:lnTo>
                  <a:pt x="355424" y="80371"/>
                </a:lnTo>
                <a:lnTo>
                  <a:pt x="349898" y="88697"/>
                </a:lnTo>
                <a:lnTo>
                  <a:pt x="305618" y="132977"/>
                </a:lnTo>
                <a:close/>
              </a:path>
              <a:path w="381000" h="333375">
                <a:moveTo>
                  <a:pt x="95212" y="214293"/>
                </a:moveTo>
                <a:lnTo>
                  <a:pt x="86241" y="212549"/>
                </a:lnTo>
                <a:lnTo>
                  <a:pt x="78358" y="207317"/>
                </a:lnTo>
                <a:lnTo>
                  <a:pt x="73125" y="199434"/>
                </a:lnTo>
                <a:lnTo>
                  <a:pt x="71381" y="190462"/>
                </a:lnTo>
                <a:lnTo>
                  <a:pt x="73125" y="181491"/>
                </a:lnTo>
                <a:lnTo>
                  <a:pt x="78358" y="173608"/>
                </a:lnTo>
                <a:lnTo>
                  <a:pt x="161701" y="90264"/>
                </a:lnTo>
                <a:lnTo>
                  <a:pt x="169585" y="85032"/>
                </a:lnTo>
                <a:lnTo>
                  <a:pt x="178556" y="83287"/>
                </a:lnTo>
                <a:lnTo>
                  <a:pt x="187528" y="85032"/>
                </a:lnTo>
                <a:lnTo>
                  <a:pt x="195411" y="90264"/>
                </a:lnTo>
                <a:lnTo>
                  <a:pt x="238125" y="132977"/>
                </a:lnTo>
                <a:lnTo>
                  <a:pt x="305618" y="132977"/>
                </a:lnTo>
                <a:lnTo>
                  <a:pt x="297730" y="140865"/>
                </a:lnTo>
                <a:lnTo>
                  <a:pt x="178593" y="140865"/>
                </a:lnTo>
                <a:lnTo>
                  <a:pt x="112067" y="207317"/>
                </a:lnTo>
                <a:lnTo>
                  <a:pt x="104184" y="212549"/>
                </a:lnTo>
                <a:lnTo>
                  <a:pt x="95212" y="214293"/>
                </a:lnTo>
                <a:close/>
              </a:path>
              <a:path w="381000" h="333375">
                <a:moveTo>
                  <a:pt x="349898" y="88697"/>
                </a:moveTo>
                <a:lnTo>
                  <a:pt x="350181" y="88272"/>
                </a:lnTo>
                <a:lnTo>
                  <a:pt x="350324" y="88272"/>
                </a:lnTo>
                <a:lnTo>
                  <a:pt x="349898" y="88697"/>
                </a:lnTo>
                <a:close/>
              </a:path>
              <a:path w="381000" h="333375">
                <a:moveTo>
                  <a:pt x="238640" y="190462"/>
                </a:moveTo>
                <a:lnTo>
                  <a:pt x="237683" y="190462"/>
                </a:lnTo>
                <a:lnTo>
                  <a:pt x="229190" y="188811"/>
                </a:lnTo>
                <a:lnTo>
                  <a:pt x="221307" y="183579"/>
                </a:lnTo>
                <a:lnTo>
                  <a:pt x="178593" y="140865"/>
                </a:lnTo>
                <a:lnTo>
                  <a:pt x="297730" y="140865"/>
                </a:lnTo>
                <a:lnTo>
                  <a:pt x="255016" y="183579"/>
                </a:lnTo>
                <a:lnTo>
                  <a:pt x="247133" y="188811"/>
                </a:lnTo>
                <a:lnTo>
                  <a:pt x="238640" y="190462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06369" y="39052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09342" y="309562"/>
                </a:moveTo>
                <a:lnTo>
                  <a:pt x="23592" y="309562"/>
                </a:lnTo>
                <a:lnTo>
                  <a:pt x="16775" y="308568"/>
                </a:lnTo>
                <a:lnTo>
                  <a:pt x="10635" y="305739"/>
                </a:lnTo>
                <a:lnTo>
                  <a:pt x="5541" y="301306"/>
                </a:lnTo>
                <a:lnTo>
                  <a:pt x="1863" y="295498"/>
                </a:lnTo>
                <a:lnTo>
                  <a:pt x="0" y="288871"/>
                </a:lnTo>
                <a:lnTo>
                  <a:pt x="68" y="282113"/>
                </a:lnTo>
                <a:lnTo>
                  <a:pt x="2020" y="275647"/>
                </a:lnTo>
                <a:lnTo>
                  <a:pt x="5807" y="269899"/>
                </a:lnTo>
                <a:lnTo>
                  <a:pt x="11314" y="263723"/>
                </a:lnTo>
                <a:lnTo>
                  <a:pt x="26748" y="242754"/>
                </a:lnTo>
                <a:lnTo>
                  <a:pt x="38066" y="219540"/>
                </a:lnTo>
                <a:lnTo>
                  <a:pt x="45030" y="194678"/>
                </a:lnTo>
                <a:lnTo>
                  <a:pt x="47405" y="168771"/>
                </a:lnTo>
                <a:lnTo>
                  <a:pt x="47405" y="154781"/>
                </a:lnTo>
                <a:lnTo>
                  <a:pt x="54648" y="113800"/>
                </a:lnTo>
                <a:lnTo>
                  <a:pt x="74659" y="78971"/>
                </a:lnTo>
                <a:lnTo>
                  <a:pt x="104855" y="52878"/>
                </a:lnTo>
                <a:lnTo>
                  <a:pt x="142655" y="38099"/>
                </a:lnTo>
                <a:lnTo>
                  <a:pt x="142655" y="23812"/>
                </a:lnTo>
                <a:lnTo>
                  <a:pt x="144523" y="14535"/>
                </a:lnTo>
                <a:lnTo>
                  <a:pt x="149622" y="6967"/>
                </a:lnTo>
                <a:lnTo>
                  <a:pt x="157190" y="1868"/>
                </a:lnTo>
                <a:lnTo>
                  <a:pt x="166467" y="0"/>
                </a:lnTo>
                <a:lnTo>
                  <a:pt x="175745" y="1868"/>
                </a:lnTo>
                <a:lnTo>
                  <a:pt x="183313" y="6967"/>
                </a:lnTo>
                <a:lnTo>
                  <a:pt x="188411" y="14535"/>
                </a:lnTo>
                <a:lnTo>
                  <a:pt x="190280" y="23812"/>
                </a:lnTo>
                <a:lnTo>
                  <a:pt x="190280" y="38099"/>
                </a:lnTo>
                <a:lnTo>
                  <a:pt x="228080" y="52878"/>
                </a:lnTo>
                <a:lnTo>
                  <a:pt x="258276" y="78971"/>
                </a:lnTo>
                <a:lnTo>
                  <a:pt x="278286" y="113800"/>
                </a:lnTo>
                <a:lnTo>
                  <a:pt x="285530" y="154781"/>
                </a:lnTo>
                <a:lnTo>
                  <a:pt x="285530" y="168771"/>
                </a:lnTo>
                <a:lnTo>
                  <a:pt x="287901" y="194678"/>
                </a:lnTo>
                <a:lnTo>
                  <a:pt x="294861" y="219540"/>
                </a:lnTo>
                <a:lnTo>
                  <a:pt x="306182" y="242754"/>
                </a:lnTo>
                <a:lnTo>
                  <a:pt x="321621" y="263723"/>
                </a:lnTo>
                <a:lnTo>
                  <a:pt x="327127" y="269899"/>
                </a:lnTo>
                <a:lnTo>
                  <a:pt x="330925" y="275647"/>
                </a:lnTo>
                <a:lnTo>
                  <a:pt x="332894" y="282113"/>
                </a:lnTo>
                <a:lnTo>
                  <a:pt x="332966" y="288871"/>
                </a:lnTo>
                <a:lnTo>
                  <a:pt x="331071" y="295498"/>
                </a:lnTo>
                <a:lnTo>
                  <a:pt x="327362" y="301306"/>
                </a:lnTo>
                <a:lnTo>
                  <a:pt x="322272" y="305739"/>
                </a:lnTo>
                <a:lnTo>
                  <a:pt x="316149" y="308568"/>
                </a:lnTo>
                <a:lnTo>
                  <a:pt x="309342" y="309562"/>
                </a:lnTo>
                <a:close/>
              </a:path>
              <a:path w="333375" h="381000">
                <a:moveTo>
                  <a:pt x="166467" y="381000"/>
                </a:moveTo>
                <a:lnTo>
                  <a:pt x="126816" y="359829"/>
                </a:lnTo>
                <a:lnTo>
                  <a:pt x="118842" y="333375"/>
                </a:lnTo>
                <a:lnTo>
                  <a:pt x="214092" y="333375"/>
                </a:lnTo>
                <a:lnTo>
                  <a:pt x="192921" y="373026"/>
                </a:lnTo>
                <a:lnTo>
                  <a:pt x="166467" y="38100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837018" y="6426199"/>
            <a:ext cx="1062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8474" y="6438899"/>
            <a:ext cx="133349" cy="1333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7" name="object 7"/>
          <p:cNvSpPr/>
          <p:nvPr/>
        </p:nvSpPr>
        <p:spPr>
          <a:xfrm>
            <a:off x="457199" y="12953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0912" y="1339850"/>
            <a:ext cx="79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1311275"/>
            <a:ext cx="2499995" cy="276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Introduction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75900"/>
              </a:lnSpc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Understanding</a:t>
            </a:r>
            <a:r>
              <a:rPr sz="135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Growth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Need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Monitoring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Risks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Unchecked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Growth</a:t>
            </a:r>
            <a:endParaRPr sz="1350">
              <a:latin typeface="Segoe UI"/>
              <a:cs typeface="Segoe UI"/>
            </a:endParaRPr>
          </a:p>
          <a:p>
            <a:pPr marL="12700" marR="181610">
              <a:lnSpc>
                <a:spcPct val="175900"/>
              </a:lnSpc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5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4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Alert</a:t>
            </a:r>
            <a:r>
              <a:rPr sz="135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System Technical</a:t>
            </a:r>
            <a:r>
              <a:rPr sz="1350" spc="-5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Workflow</a:t>
            </a:r>
            <a:endParaRPr sz="1350">
              <a:latin typeface="Segoe UI"/>
              <a:cs typeface="Segoe UI"/>
            </a:endParaRPr>
          </a:p>
          <a:p>
            <a:pPr marL="12700" marR="563245">
              <a:lnSpc>
                <a:spcPct val="175900"/>
              </a:lnSpc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Architecture</a:t>
            </a:r>
            <a:r>
              <a:rPr sz="1350" spc="-7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Visualization 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Tools</a:t>
            </a:r>
            <a:r>
              <a:rPr sz="135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Utilized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" y="16573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0791" y="1701800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199" y="20192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791" y="2063750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7199" y="23812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9303" y="2425700"/>
            <a:ext cx="1022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199" y="27431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7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0791" y="2787650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199" y="31051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40494" y="3149600"/>
            <a:ext cx="1003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6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199" y="34670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5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1982" y="3511550"/>
            <a:ext cx="971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7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199" y="38290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0791" y="3873500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8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48399" y="12953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31693" y="1339850"/>
            <a:ext cx="1003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9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16700" y="1311275"/>
            <a:ext cx="2040889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GitHub Copilot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Integration</a:t>
            </a:r>
            <a:endParaRPr sz="1350">
              <a:latin typeface="Segoe UI"/>
              <a:cs typeface="Segoe UI"/>
            </a:endParaRPr>
          </a:p>
          <a:p>
            <a:pPr marL="12700" marR="259715">
              <a:lnSpc>
                <a:spcPct val="175900"/>
              </a:lnSpc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Implementation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Details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Best</a:t>
            </a:r>
            <a:r>
              <a:rPr sz="13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Practices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Benefits &amp; 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ROI</a:t>
            </a:r>
            <a:endParaRPr sz="1350">
              <a:latin typeface="Segoe UI"/>
              <a:cs typeface="Segoe UI"/>
            </a:endParaRPr>
          </a:p>
          <a:p>
            <a:pPr marL="12700" marR="265430">
              <a:lnSpc>
                <a:spcPct val="175900"/>
              </a:lnSpc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Challenges &amp;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Solutions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Future</a:t>
            </a:r>
            <a:r>
              <a:rPr sz="1350" spc="-4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Enhancements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Conclusion &amp;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Thanks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48399" y="16573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05202" y="1701800"/>
            <a:ext cx="153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10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48399" y="20192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315322" y="2063750"/>
            <a:ext cx="1327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11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48399" y="23812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3" y="244226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2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305202" y="2425700"/>
            <a:ext cx="153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12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48399" y="27431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7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05202" y="2787650"/>
            <a:ext cx="153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48399" y="31051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3" y="244226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2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303714" y="3149600"/>
            <a:ext cx="1562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248399" y="34670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3" y="244225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0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0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05202" y="3511550"/>
            <a:ext cx="153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Segoe UI Semibold"/>
                <a:cs typeface="Segoe UI Semibold"/>
              </a:rPr>
              <a:t>15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95624" y="4572000"/>
            <a:ext cx="250190" cy="285750"/>
          </a:xfrm>
          <a:custGeom>
            <a:avLst/>
            <a:gdLst/>
            <a:ahLst/>
            <a:cxnLst/>
            <a:rect l="l" t="t" r="r" b="b"/>
            <a:pathLst>
              <a:path w="250189" h="285750">
                <a:moveTo>
                  <a:pt x="125015" y="116085"/>
                </a:moveTo>
                <a:lnTo>
                  <a:pt x="76356" y="112578"/>
                </a:lnTo>
                <a:lnTo>
                  <a:pt x="36618" y="103012"/>
                </a:lnTo>
                <a:lnTo>
                  <a:pt x="9825" y="88820"/>
                </a:lnTo>
                <a:lnTo>
                  <a:pt x="0" y="71437"/>
                </a:lnTo>
                <a:lnTo>
                  <a:pt x="0" y="44648"/>
                </a:lnTo>
                <a:lnTo>
                  <a:pt x="9825" y="27265"/>
                </a:lnTo>
                <a:lnTo>
                  <a:pt x="36618" y="13073"/>
                </a:lnTo>
                <a:lnTo>
                  <a:pt x="76356" y="3507"/>
                </a:lnTo>
                <a:lnTo>
                  <a:pt x="125015" y="0"/>
                </a:lnTo>
                <a:lnTo>
                  <a:pt x="173674" y="3507"/>
                </a:lnTo>
                <a:lnTo>
                  <a:pt x="213412" y="13073"/>
                </a:lnTo>
                <a:lnTo>
                  <a:pt x="240205" y="27265"/>
                </a:lnTo>
                <a:lnTo>
                  <a:pt x="250031" y="44648"/>
                </a:lnTo>
                <a:lnTo>
                  <a:pt x="250031" y="71437"/>
                </a:lnTo>
                <a:lnTo>
                  <a:pt x="240205" y="88820"/>
                </a:lnTo>
                <a:lnTo>
                  <a:pt x="213412" y="103012"/>
                </a:lnTo>
                <a:lnTo>
                  <a:pt x="173674" y="112578"/>
                </a:lnTo>
                <a:lnTo>
                  <a:pt x="125015" y="116085"/>
                </a:lnTo>
                <a:close/>
              </a:path>
              <a:path w="250189" h="285750">
                <a:moveTo>
                  <a:pt x="125015" y="205382"/>
                </a:moveTo>
                <a:lnTo>
                  <a:pt x="76356" y="201875"/>
                </a:lnTo>
                <a:lnTo>
                  <a:pt x="36618" y="192309"/>
                </a:lnTo>
                <a:lnTo>
                  <a:pt x="9825" y="178117"/>
                </a:lnTo>
                <a:lnTo>
                  <a:pt x="0" y="160734"/>
                </a:lnTo>
                <a:lnTo>
                  <a:pt x="0" y="103863"/>
                </a:lnTo>
                <a:lnTo>
                  <a:pt x="6621" y="108531"/>
                </a:lnTo>
                <a:lnTo>
                  <a:pt x="14020" y="112744"/>
                </a:lnTo>
                <a:lnTo>
                  <a:pt x="50848" y="125798"/>
                </a:lnTo>
                <a:lnTo>
                  <a:pt x="98598" y="132994"/>
                </a:lnTo>
                <a:lnTo>
                  <a:pt x="125015" y="133945"/>
                </a:lnTo>
                <a:lnTo>
                  <a:pt x="250031" y="133945"/>
                </a:lnTo>
                <a:lnTo>
                  <a:pt x="250031" y="160734"/>
                </a:lnTo>
                <a:lnTo>
                  <a:pt x="240205" y="178117"/>
                </a:lnTo>
                <a:lnTo>
                  <a:pt x="213412" y="192309"/>
                </a:lnTo>
                <a:lnTo>
                  <a:pt x="173674" y="201875"/>
                </a:lnTo>
                <a:lnTo>
                  <a:pt x="125015" y="205382"/>
                </a:lnTo>
                <a:close/>
              </a:path>
              <a:path w="250189" h="285750">
                <a:moveTo>
                  <a:pt x="250031" y="133945"/>
                </a:moveTo>
                <a:lnTo>
                  <a:pt x="125015" y="133945"/>
                </a:lnTo>
                <a:lnTo>
                  <a:pt x="151433" y="132994"/>
                </a:lnTo>
                <a:lnTo>
                  <a:pt x="176333" y="130233"/>
                </a:lnTo>
                <a:lnTo>
                  <a:pt x="219447" y="119825"/>
                </a:lnTo>
                <a:lnTo>
                  <a:pt x="250031" y="103863"/>
                </a:lnTo>
                <a:lnTo>
                  <a:pt x="250031" y="133945"/>
                </a:lnTo>
                <a:close/>
              </a:path>
              <a:path w="250189" h="285750">
                <a:moveTo>
                  <a:pt x="125015" y="285750"/>
                </a:moveTo>
                <a:lnTo>
                  <a:pt x="76356" y="282242"/>
                </a:lnTo>
                <a:lnTo>
                  <a:pt x="36618" y="272676"/>
                </a:lnTo>
                <a:lnTo>
                  <a:pt x="9825" y="258484"/>
                </a:lnTo>
                <a:lnTo>
                  <a:pt x="0" y="241101"/>
                </a:lnTo>
                <a:lnTo>
                  <a:pt x="0" y="193160"/>
                </a:lnTo>
                <a:lnTo>
                  <a:pt x="6621" y="197828"/>
                </a:lnTo>
                <a:lnTo>
                  <a:pt x="14020" y="202041"/>
                </a:lnTo>
                <a:lnTo>
                  <a:pt x="50848" y="215095"/>
                </a:lnTo>
                <a:lnTo>
                  <a:pt x="98598" y="222291"/>
                </a:lnTo>
                <a:lnTo>
                  <a:pt x="125015" y="223242"/>
                </a:lnTo>
                <a:lnTo>
                  <a:pt x="250031" y="223242"/>
                </a:lnTo>
                <a:lnTo>
                  <a:pt x="250031" y="241101"/>
                </a:lnTo>
                <a:lnTo>
                  <a:pt x="240205" y="258484"/>
                </a:lnTo>
                <a:lnTo>
                  <a:pt x="213412" y="272676"/>
                </a:lnTo>
                <a:lnTo>
                  <a:pt x="173674" y="282242"/>
                </a:lnTo>
                <a:lnTo>
                  <a:pt x="125015" y="285750"/>
                </a:lnTo>
                <a:close/>
              </a:path>
              <a:path w="250189" h="285750">
                <a:moveTo>
                  <a:pt x="250031" y="223242"/>
                </a:moveTo>
                <a:lnTo>
                  <a:pt x="125015" y="223242"/>
                </a:lnTo>
                <a:lnTo>
                  <a:pt x="151433" y="222291"/>
                </a:lnTo>
                <a:lnTo>
                  <a:pt x="176333" y="219530"/>
                </a:lnTo>
                <a:lnTo>
                  <a:pt x="219447" y="209122"/>
                </a:lnTo>
                <a:lnTo>
                  <a:pt x="250031" y="193160"/>
                </a:lnTo>
                <a:lnTo>
                  <a:pt x="250031" y="223242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446363" y="4597400"/>
            <a:ext cx="1181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74050"/>
                </a:solidFill>
                <a:latin typeface="Segoe UI"/>
                <a:cs typeface="Segoe UI"/>
              </a:rPr>
              <a:t>Data</a:t>
            </a:r>
            <a:r>
              <a:rPr sz="1350" spc="-3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74050"/>
                </a:solidFill>
                <a:latin typeface="Segoe UI"/>
                <a:cs typeface="Segoe UI"/>
              </a:rPr>
              <a:t>Collection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991099" y="4589859"/>
            <a:ext cx="285750" cy="250190"/>
          </a:xfrm>
          <a:custGeom>
            <a:avLst/>
            <a:gdLst/>
            <a:ahLst/>
            <a:cxnLst/>
            <a:rect l="l" t="t" r="r" b="b"/>
            <a:pathLst>
              <a:path w="285750" h="250189">
                <a:moveTo>
                  <a:pt x="277769" y="250031"/>
                </a:moveTo>
                <a:lnTo>
                  <a:pt x="44648" y="250031"/>
                </a:lnTo>
                <a:lnTo>
                  <a:pt x="27265" y="246523"/>
                </a:lnTo>
                <a:lnTo>
                  <a:pt x="13073" y="236957"/>
                </a:lnTo>
                <a:lnTo>
                  <a:pt x="3507" y="222766"/>
                </a:lnTo>
                <a:lnTo>
                  <a:pt x="0" y="205382"/>
                </a:lnTo>
                <a:lnTo>
                  <a:pt x="0" y="7980"/>
                </a:lnTo>
                <a:lnTo>
                  <a:pt x="7980" y="0"/>
                </a:lnTo>
                <a:lnTo>
                  <a:pt x="27737" y="0"/>
                </a:lnTo>
                <a:lnTo>
                  <a:pt x="35718" y="7980"/>
                </a:lnTo>
                <a:lnTo>
                  <a:pt x="35718" y="210294"/>
                </a:lnTo>
                <a:lnTo>
                  <a:pt x="39737" y="214312"/>
                </a:lnTo>
                <a:lnTo>
                  <a:pt x="277769" y="214312"/>
                </a:lnTo>
                <a:lnTo>
                  <a:pt x="285750" y="222293"/>
                </a:lnTo>
                <a:lnTo>
                  <a:pt x="285750" y="242050"/>
                </a:lnTo>
                <a:lnTo>
                  <a:pt x="277769" y="250031"/>
                </a:lnTo>
                <a:close/>
              </a:path>
              <a:path w="285750" h="250189">
                <a:moveTo>
                  <a:pt x="229213" y="99733"/>
                </a:moveTo>
                <a:lnTo>
                  <a:pt x="178593" y="99733"/>
                </a:lnTo>
                <a:lnTo>
                  <a:pt x="237362" y="40909"/>
                </a:lnTo>
                <a:lnTo>
                  <a:pt x="243274" y="36984"/>
                </a:lnTo>
                <a:lnTo>
                  <a:pt x="250003" y="35676"/>
                </a:lnTo>
                <a:lnTo>
                  <a:pt x="256732" y="36984"/>
                </a:lnTo>
                <a:lnTo>
                  <a:pt x="262644" y="40909"/>
                </a:lnTo>
                <a:lnTo>
                  <a:pt x="266568" y="46821"/>
                </a:lnTo>
                <a:lnTo>
                  <a:pt x="267876" y="53550"/>
                </a:lnTo>
                <a:lnTo>
                  <a:pt x="266568" y="60278"/>
                </a:lnTo>
                <a:lnTo>
                  <a:pt x="262424" y="66523"/>
                </a:lnTo>
                <a:lnTo>
                  <a:pt x="229213" y="99733"/>
                </a:lnTo>
                <a:close/>
              </a:path>
              <a:path w="285750" h="250189">
                <a:moveTo>
                  <a:pt x="71409" y="160720"/>
                </a:moveTo>
                <a:lnTo>
                  <a:pt x="64680" y="159412"/>
                </a:lnTo>
                <a:lnTo>
                  <a:pt x="58768" y="155488"/>
                </a:lnTo>
                <a:lnTo>
                  <a:pt x="54844" y="149575"/>
                </a:lnTo>
                <a:lnTo>
                  <a:pt x="53536" y="142847"/>
                </a:lnTo>
                <a:lnTo>
                  <a:pt x="54844" y="136118"/>
                </a:lnTo>
                <a:lnTo>
                  <a:pt x="58768" y="130206"/>
                </a:lnTo>
                <a:lnTo>
                  <a:pt x="121276" y="67698"/>
                </a:lnTo>
                <a:lnTo>
                  <a:pt x="127188" y="63774"/>
                </a:lnTo>
                <a:lnTo>
                  <a:pt x="133917" y="62465"/>
                </a:lnTo>
                <a:lnTo>
                  <a:pt x="140646" y="63774"/>
                </a:lnTo>
                <a:lnTo>
                  <a:pt x="146558" y="67698"/>
                </a:lnTo>
                <a:lnTo>
                  <a:pt x="178593" y="99733"/>
                </a:lnTo>
                <a:lnTo>
                  <a:pt x="229213" y="99733"/>
                </a:lnTo>
                <a:lnTo>
                  <a:pt x="223297" y="105649"/>
                </a:lnTo>
                <a:lnTo>
                  <a:pt x="133945" y="105649"/>
                </a:lnTo>
                <a:lnTo>
                  <a:pt x="84050" y="155488"/>
                </a:lnTo>
                <a:lnTo>
                  <a:pt x="78138" y="159412"/>
                </a:lnTo>
                <a:lnTo>
                  <a:pt x="71409" y="160720"/>
                </a:lnTo>
                <a:close/>
              </a:path>
              <a:path w="285750" h="250189">
                <a:moveTo>
                  <a:pt x="178980" y="142847"/>
                </a:moveTo>
                <a:lnTo>
                  <a:pt x="178262" y="142847"/>
                </a:lnTo>
                <a:lnTo>
                  <a:pt x="171892" y="141608"/>
                </a:lnTo>
                <a:lnTo>
                  <a:pt x="165980" y="137684"/>
                </a:lnTo>
                <a:lnTo>
                  <a:pt x="133945" y="105649"/>
                </a:lnTo>
                <a:lnTo>
                  <a:pt x="223297" y="105649"/>
                </a:lnTo>
                <a:lnTo>
                  <a:pt x="191262" y="137684"/>
                </a:lnTo>
                <a:lnTo>
                  <a:pt x="185350" y="141608"/>
                </a:lnTo>
                <a:lnTo>
                  <a:pt x="178980" y="142847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382914" y="4597400"/>
            <a:ext cx="6318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374050"/>
                </a:solidFill>
                <a:latin typeface="Segoe UI"/>
                <a:cs typeface="Segoe UI"/>
              </a:rPr>
              <a:t>Analysis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380465" y="4572000"/>
            <a:ext cx="252729" cy="285750"/>
          </a:xfrm>
          <a:custGeom>
            <a:avLst/>
            <a:gdLst/>
            <a:ahLst/>
            <a:cxnLst/>
            <a:rect l="l" t="t" r="r" b="b"/>
            <a:pathLst>
              <a:path w="252729" h="285750">
                <a:moveTo>
                  <a:pt x="240487" y="232171"/>
                </a:moveTo>
                <a:lnTo>
                  <a:pt x="12110" y="232171"/>
                </a:lnTo>
                <a:lnTo>
                  <a:pt x="5692" y="228041"/>
                </a:lnTo>
                <a:lnTo>
                  <a:pt x="0" y="215205"/>
                </a:lnTo>
                <a:lnTo>
                  <a:pt x="1116" y="207671"/>
                </a:lnTo>
                <a:lnTo>
                  <a:pt x="9934" y="197792"/>
                </a:lnTo>
                <a:lnTo>
                  <a:pt x="21509" y="182066"/>
                </a:lnTo>
                <a:lnTo>
                  <a:pt x="29998" y="164655"/>
                </a:lnTo>
                <a:lnTo>
                  <a:pt x="35221" y="146009"/>
                </a:lnTo>
                <a:lnTo>
                  <a:pt x="37002" y="126578"/>
                </a:lnTo>
                <a:lnTo>
                  <a:pt x="37002" y="116085"/>
                </a:lnTo>
                <a:lnTo>
                  <a:pt x="42435" y="85350"/>
                </a:lnTo>
                <a:lnTo>
                  <a:pt x="57443" y="59228"/>
                </a:lnTo>
                <a:lnTo>
                  <a:pt x="80089" y="39658"/>
                </a:lnTo>
                <a:lnTo>
                  <a:pt x="108439" y="28574"/>
                </a:lnTo>
                <a:lnTo>
                  <a:pt x="108439" y="7980"/>
                </a:lnTo>
                <a:lnTo>
                  <a:pt x="116420" y="0"/>
                </a:lnTo>
                <a:lnTo>
                  <a:pt x="136177" y="0"/>
                </a:lnTo>
                <a:lnTo>
                  <a:pt x="144158" y="7980"/>
                </a:lnTo>
                <a:lnTo>
                  <a:pt x="144158" y="28574"/>
                </a:lnTo>
                <a:lnTo>
                  <a:pt x="172508" y="39658"/>
                </a:lnTo>
                <a:lnTo>
                  <a:pt x="195155" y="59228"/>
                </a:lnTo>
                <a:lnTo>
                  <a:pt x="210163" y="85350"/>
                </a:lnTo>
                <a:lnTo>
                  <a:pt x="215596" y="116085"/>
                </a:lnTo>
                <a:lnTo>
                  <a:pt x="215596" y="126578"/>
                </a:lnTo>
                <a:lnTo>
                  <a:pt x="217374" y="146009"/>
                </a:lnTo>
                <a:lnTo>
                  <a:pt x="222594" y="164655"/>
                </a:lnTo>
                <a:lnTo>
                  <a:pt x="231084" y="182066"/>
                </a:lnTo>
                <a:lnTo>
                  <a:pt x="242664" y="197792"/>
                </a:lnTo>
                <a:lnTo>
                  <a:pt x="251482" y="207671"/>
                </a:lnTo>
                <a:lnTo>
                  <a:pt x="252654" y="215205"/>
                </a:lnTo>
                <a:lnTo>
                  <a:pt x="246850" y="228041"/>
                </a:lnTo>
                <a:lnTo>
                  <a:pt x="240487" y="232171"/>
                </a:lnTo>
                <a:close/>
              </a:path>
              <a:path w="252729" h="285750">
                <a:moveTo>
                  <a:pt x="126299" y="285750"/>
                </a:moveTo>
                <a:lnTo>
                  <a:pt x="93287" y="263718"/>
                </a:lnTo>
                <a:lnTo>
                  <a:pt x="90580" y="250031"/>
                </a:lnTo>
                <a:lnTo>
                  <a:pt x="162018" y="250031"/>
                </a:lnTo>
                <a:lnTo>
                  <a:pt x="139986" y="283043"/>
                </a:lnTo>
                <a:lnTo>
                  <a:pt x="126299" y="285750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734720" y="4597400"/>
            <a:ext cx="6248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374050"/>
                </a:solidFill>
                <a:latin typeface="Segoe UI"/>
                <a:cs typeface="Segoe UI"/>
              </a:rPr>
              <a:t>Alerting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724775" y="4572000"/>
            <a:ext cx="357505" cy="285750"/>
          </a:xfrm>
          <a:custGeom>
            <a:avLst/>
            <a:gdLst/>
            <a:ahLst/>
            <a:cxnLst/>
            <a:rect l="l" t="t" r="r" b="b"/>
            <a:pathLst>
              <a:path w="357504" h="285750">
                <a:moveTo>
                  <a:pt x="196453" y="53578"/>
                </a:moveTo>
                <a:lnTo>
                  <a:pt x="160734" y="53578"/>
                </a:lnTo>
                <a:lnTo>
                  <a:pt x="160734" y="7980"/>
                </a:lnTo>
                <a:lnTo>
                  <a:pt x="168715" y="0"/>
                </a:lnTo>
                <a:lnTo>
                  <a:pt x="188472" y="0"/>
                </a:lnTo>
                <a:lnTo>
                  <a:pt x="196453" y="7980"/>
                </a:lnTo>
                <a:lnTo>
                  <a:pt x="196453" y="53578"/>
                </a:lnTo>
                <a:close/>
              </a:path>
              <a:path w="357504" h="285750">
                <a:moveTo>
                  <a:pt x="263425" y="285750"/>
                </a:moveTo>
                <a:lnTo>
                  <a:pt x="93761" y="285750"/>
                </a:lnTo>
                <a:lnTo>
                  <a:pt x="78112" y="282594"/>
                </a:lnTo>
                <a:lnTo>
                  <a:pt x="65340" y="273987"/>
                </a:lnTo>
                <a:lnTo>
                  <a:pt x="56733" y="261216"/>
                </a:lnTo>
                <a:lnTo>
                  <a:pt x="53578" y="245566"/>
                </a:lnTo>
                <a:lnTo>
                  <a:pt x="53578" y="93761"/>
                </a:lnTo>
                <a:lnTo>
                  <a:pt x="56733" y="78112"/>
                </a:lnTo>
                <a:lnTo>
                  <a:pt x="65340" y="65340"/>
                </a:lnTo>
                <a:lnTo>
                  <a:pt x="78112" y="56733"/>
                </a:lnTo>
                <a:lnTo>
                  <a:pt x="93761" y="53578"/>
                </a:lnTo>
                <a:lnTo>
                  <a:pt x="263425" y="53578"/>
                </a:lnTo>
                <a:lnTo>
                  <a:pt x="279075" y="56733"/>
                </a:lnTo>
                <a:lnTo>
                  <a:pt x="291847" y="65340"/>
                </a:lnTo>
                <a:lnTo>
                  <a:pt x="300454" y="78112"/>
                </a:lnTo>
                <a:lnTo>
                  <a:pt x="303609" y="93761"/>
                </a:lnTo>
                <a:lnTo>
                  <a:pt x="303609" y="120550"/>
                </a:lnTo>
                <a:lnTo>
                  <a:pt x="122055" y="120550"/>
                </a:lnTo>
                <a:lnTo>
                  <a:pt x="119207" y="121117"/>
                </a:lnTo>
                <a:lnTo>
                  <a:pt x="102691" y="139914"/>
                </a:lnTo>
                <a:lnTo>
                  <a:pt x="102691" y="145835"/>
                </a:lnTo>
                <a:lnTo>
                  <a:pt x="122055" y="165199"/>
                </a:lnTo>
                <a:lnTo>
                  <a:pt x="303609" y="165199"/>
                </a:lnTo>
                <a:lnTo>
                  <a:pt x="303609" y="214312"/>
                </a:lnTo>
                <a:lnTo>
                  <a:pt x="111174" y="214312"/>
                </a:lnTo>
                <a:lnTo>
                  <a:pt x="107156" y="218330"/>
                </a:lnTo>
                <a:lnTo>
                  <a:pt x="107156" y="228153"/>
                </a:lnTo>
                <a:lnTo>
                  <a:pt x="111174" y="232171"/>
                </a:lnTo>
                <a:lnTo>
                  <a:pt x="303609" y="232171"/>
                </a:lnTo>
                <a:lnTo>
                  <a:pt x="303609" y="245566"/>
                </a:lnTo>
                <a:lnTo>
                  <a:pt x="300454" y="261216"/>
                </a:lnTo>
                <a:lnTo>
                  <a:pt x="291847" y="273987"/>
                </a:lnTo>
                <a:lnTo>
                  <a:pt x="279075" y="282594"/>
                </a:lnTo>
                <a:lnTo>
                  <a:pt x="263425" y="285750"/>
                </a:lnTo>
                <a:close/>
              </a:path>
              <a:path w="357504" h="285750">
                <a:moveTo>
                  <a:pt x="229211" y="165199"/>
                </a:moveTo>
                <a:lnTo>
                  <a:pt x="127975" y="165199"/>
                </a:lnTo>
                <a:lnTo>
                  <a:pt x="130823" y="164632"/>
                </a:lnTo>
                <a:lnTo>
                  <a:pt x="136293" y="162366"/>
                </a:lnTo>
                <a:lnTo>
                  <a:pt x="147339" y="145835"/>
                </a:lnTo>
                <a:lnTo>
                  <a:pt x="147339" y="139914"/>
                </a:lnTo>
                <a:lnTo>
                  <a:pt x="127975" y="120550"/>
                </a:lnTo>
                <a:lnTo>
                  <a:pt x="229211" y="120550"/>
                </a:lnTo>
                <a:lnTo>
                  <a:pt x="209847" y="139914"/>
                </a:lnTo>
                <a:lnTo>
                  <a:pt x="209847" y="145835"/>
                </a:lnTo>
                <a:lnTo>
                  <a:pt x="226363" y="164632"/>
                </a:lnTo>
                <a:lnTo>
                  <a:pt x="229211" y="165199"/>
                </a:lnTo>
                <a:close/>
              </a:path>
              <a:path w="357504" h="285750">
                <a:moveTo>
                  <a:pt x="303609" y="165199"/>
                </a:moveTo>
                <a:lnTo>
                  <a:pt x="235132" y="165199"/>
                </a:lnTo>
                <a:lnTo>
                  <a:pt x="237979" y="164632"/>
                </a:lnTo>
                <a:lnTo>
                  <a:pt x="243449" y="162366"/>
                </a:lnTo>
                <a:lnTo>
                  <a:pt x="254496" y="145835"/>
                </a:lnTo>
                <a:lnTo>
                  <a:pt x="254496" y="139914"/>
                </a:lnTo>
                <a:lnTo>
                  <a:pt x="235132" y="120550"/>
                </a:lnTo>
                <a:lnTo>
                  <a:pt x="303609" y="120550"/>
                </a:lnTo>
                <a:lnTo>
                  <a:pt x="303609" y="165199"/>
                </a:lnTo>
                <a:close/>
              </a:path>
              <a:path w="357504" h="285750">
                <a:moveTo>
                  <a:pt x="164752" y="232171"/>
                </a:moveTo>
                <a:lnTo>
                  <a:pt x="138856" y="232171"/>
                </a:lnTo>
                <a:lnTo>
                  <a:pt x="142875" y="228153"/>
                </a:lnTo>
                <a:lnTo>
                  <a:pt x="142875" y="218330"/>
                </a:lnTo>
                <a:lnTo>
                  <a:pt x="138856" y="214312"/>
                </a:lnTo>
                <a:lnTo>
                  <a:pt x="164752" y="214312"/>
                </a:lnTo>
                <a:lnTo>
                  <a:pt x="160734" y="218330"/>
                </a:lnTo>
                <a:lnTo>
                  <a:pt x="160734" y="228153"/>
                </a:lnTo>
                <a:lnTo>
                  <a:pt x="164752" y="232171"/>
                </a:lnTo>
                <a:close/>
              </a:path>
              <a:path w="357504" h="285750">
                <a:moveTo>
                  <a:pt x="218330" y="232171"/>
                </a:moveTo>
                <a:lnTo>
                  <a:pt x="192434" y="232171"/>
                </a:lnTo>
                <a:lnTo>
                  <a:pt x="196453" y="228153"/>
                </a:lnTo>
                <a:lnTo>
                  <a:pt x="196453" y="218330"/>
                </a:lnTo>
                <a:lnTo>
                  <a:pt x="192434" y="214312"/>
                </a:lnTo>
                <a:lnTo>
                  <a:pt x="218330" y="214312"/>
                </a:lnTo>
                <a:lnTo>
                  <a:pt x="214312" y="218330"/>
                </a:lnTo>
                <a:lnTo>
                  <a:pt x="214312" y="228153"/>
                </a:lnTo>
                <a:lnTo>
                  <a:pt x="218330" y="232171"/>
                </a:lnTo>
                <a:close/>
              </a:path>
              <a:path w="357504" h="285750">
                <a:moveTo>
                  <a:pt x="303609" y="232171"/>
                </a:moveTo>
                <a:lnTo>
                  <a:pt x="246012" y="232171"/>
                </a:lnTo>
                <a:lnTo>
                  <a:pt x="250031" y="228153"/>
                </a:lnTo>
                <a:lnTo>
                  <a:pt x="250031" y="218330"/>
                </a:lnTo>
                <a:lnTo>
                  <a:pt x="246012" y="214312"/>
                </a:lnTo>
                <a:lnTo>
                  <a:pt x="303609" y="214312"/>
                </a:lnTo>
                <a:lnTo>
                  <a:pt x="303609" y="232171"/>
                </a:lnTo>
                <a:close/>
              </a:path>
              <a:path w="357504" h="285750">
                <a:moveTo>
                  <a:pt x="35718" y="232171"/>
                </a:moveTo>
                <a:lnTo>
                  <a:pt x="26789" y="232171"/>
                </a:lnTo>
                <a:lnTo>
                  <a:pt x="16363" y="230065"/>
                </a:lnTo>
                <a:lnTo>
                  <a:pt x="7848" y="224323"/>
                </a:lnTo>
                <a:lnTo>
                  <a:pt x="2105" y="215808"/>
                </a:lnTo>
                <a:lnTo>
                  <a:pt x="0" y="205382"/>
                </a:lnTo>
                <a:lnTo>
                  <a:pt x="0" y="151804"/>
                </a:lnTo>
                <a:lnTo>
                  <a:pt x="2105" y="141379"/>
                </a:lnTo>
                <a:lnTo>
                  <a:pt x="7848" y="132863"/>
                </a:lnTo>
                <a:lnTo>
                  <a:pt x="16363" y="127121"/>
                </a:lnTo>
                <a:lnTo>
                  <a:pt x="26789" y="125015"/>
                </a:lnTo>
                <a:lnTo>
                  <a:pt x="35718" y="125015"/>
                </a:lnTo>
                <a:lnTo>
                  <a:pt x="35718" y="232171"/>
                </a:lnTo>
                <a:close/>
              </a:path>
              <a:path w="357504" h="285750">
                <a:moveTo>
                  <a:pt x="330398" y="232171"/>
                </a:moveTo>
                <a:lnTo>
                  <a:pt x="321468" y="232171"/>
                </a:lnTo>
                <a:lnTo>
                  <a:pt x="321468" y="125015"/>
                </a:lnTo>
                <a:lnTo>
                  <a:pt x="330398" y="125015"/>
                </a:lnTo>
                <a:lnTo>
                  <a:pt x="340823" y="127121"/>
                </a:lnTo>
                <a:lnTo>
                  <a:pt x="349339" y="132863"/>
                </a:lnTo>
                <a:lnTo>
                  <a:pt x="355081" y="141379"/>
                </a:lnTo>
                <a:lnTo>
                  <a:pt x="357187" y="151804"/>
                </a:lnTo>
                <a:lnTo>
                  <a:pt x="357187" y="205382"/>
                </a:lnTo>
                <a:lnTo>
                  <a:pt x="355081" y="215808"/>
                </a:lnTo>
                <a:lnTo>
                  <a:pt x="349339" y="224323"/>
                </a:lnTo>
                <a:lnTo>
                  <a:pt x="340823" y="230065"/>
                </a:lnTo>
                <a:lnTo>
                  <a:pt x="330398" y="232171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186241" y="4597400"/>
            <a:ext cx="9239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374050"/>
                </a:solidFill>
                <a:latin typeface="Segoe UI"/>
                <a:cs typeface="Segoe UI"/>
              </a:rPr>
              <a:t>Automation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xfrm>
            <a:off x="10837018" y="6417158"/>
            <a:ext cx="1215657" cy="16414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575" spc="-75" baseline="-42328" smtClean="0"/>
              <a:t>2</a:t>
            </a:fld>
            <a:endParaRPr sz="1575" baseline="-42328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0"/>
            <a:ext cx="11734800" cy="6858000"/>
            <a:chOff x="457199" y="0"/>
            <a:chExt cx="11734800" cy="6858000"/>
          </a:xfrm>
        </p:grpSpPr>
        <p:sp>
          <p:nvSpPr>
            <p:cNvPr id="3" name="object 3"/>
            <p:cNvSpPr/>
            <p:nvPr/>
          </p:nvSpPr>
          <p:spPr>
            <a:xfrm>
              <a:off x="476249" y="6019799"/>
              <a:ext cx="11258550" cy="838200"/>
            </a:xfrm>
            <a:custGeom>
              <a:avLst/>
              <a:gdLst/>
              <a:ahLst/>
              <a:cxnLst/>
              <a:rect l="l" t="t" r="r" b="b"/>
              <a:pathLst>
                <a:path w="11258550" h="838200">
                  <a:moveTo>
                    <a:pt x="11187352" y="838199"/>
                  </a:moveTo>
                  <a:lnTo>
                    <a:pt x="53397" y="838199"/>
                  </a:lnTo>
                  <a:lnTo>
                    <a:pt x="49681" y="837711"/>
                  </a:lnTo>
                  <a:lnTo>
                    <a:pt x="14085" y="812342"/>
                  </a:lnTo>
                  <a:lnTo>
                    <a:pt x="366" y="771958"/>
                  </a:lnTo>
                  <a:lnTo>
                    <a:pt x="0" y="767003"/>
                  </a:lnTo>
                  <a:lnTo>
                    <a:pt x="0" y="7619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11187352" y="0"/>
                  </a:lnTo>
                  <a:lnTo>
                    <a:pt x="11228841" y="15620"/>
                  </a:lnTo>
                  <a:lnTo>
                    <a:pt x="11254662" y="51660"/>
                  </a:lnTo>
                  <a:lnTo>
                    <a:pt x="11258549" y="71196"/>
                  </a:lnTo>
                  <a:lnTo>
                    <a:pt x="11258549" y="767003"/>
                  </a:lnTo>
                  <a:lnTo>
                    <a:pt x="11242925" y="808493"/>
                  </a:lnTo>
                  <a:lnTo>
                    <a:pt x="11206886" y="834313"/>
                  </a:lnTo>
                  <a:lnTo>
                    <a:pt x="11192307" y="837711"/>
                  </a:lnTo>
                  <a:lnTo>
                    <a:pt x="11187352" y="8381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199" y="6020077"/>
              <a:ext cx="70485" cy="838200"/>
            </a:xfrm>
            <a:custGeom>
              <a:avLst/>
              <a:gdLst/>
              <a:ahLst/>
              <a:cxnLst/>
              <a:rect l="l" t="t" r="r" b="b"/>
              <a:pathLst>
                <a:path w="70484" h="838200">
                  <a:moveTo>
                    <a:pt x="70450" y="837644"/>
                  </a:moveTo>
                  <a:lnTo>
                    <a:pt x="33857" y="825091"/>
                  </a:lnTo>
                  <a:lnTo>
                    <a:pt x="5800" y="790881"/>
                  </a:lnTo>
                  <a:lnTo>
                    <a:pt x="0" y="7617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761722"/>
                  </a:lnTo>
                  <a:lnTo>
                    <a:pt x="44515" y="804063"/>
                  </a:lnTo>
                  <a:lnTo>
                    <a:pt x="66287" y="835987"/>
                  </a:lnTo>
                  <a:lnTo>
                    <a:pt x="70450" y="8376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99" y="2057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74" y="2172890"/>
              <a:ext cx="171449" cy="15001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4500" y="1263650"/>
            <a:ext cx="6937375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885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In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today's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complex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enterprise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environments,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automated</a:t>
            </a:r>
            <a:r>
              <a:rPr sz="1500" spc="-4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5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has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become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critical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necessity</a:t>
            </a:r>
            <a:r>
              <a:rPr sz="1500" b="1" spc="-1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rather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than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 luxury.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00">
              <a:latin typeface="Segoe UI"/>
              <a:cs typeface="Segoe UI"/>
            </a:endParaRPr>
          </a:p>
          <a:p>
            <a:pPr marL="545465">
              <a:lnSpc>
                <a:spcPct val="100000"/>
              </a:lnSpc>
              <a:spcBef>
                <a:spcPts val="5"/>
              </a:spcBef>
            </a:pP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Growing</a:t>
            </a:r>
            <a:r>
              <a:rPr sz="1350" b="1" spc="-1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Complexity</a:t>
            </a:r>
            <a:endParaRPr sz="1350">
              <a:latin typeface="Segoe UI Semibold"/>
              <a:cs typeface="Segoe UI Semibold"/>
            </a:endParaRPr>
          </a:p>
          <a:p>
            <a:pPr marL="545465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Modern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SQL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environments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manage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hundreds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databases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across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multiple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servers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varying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workloads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requirements.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199" y="2057400"/>
            <a:ext cx="9877425" cy="3124200"/>
            <a:chOff x="457199" y="2057400"/>
            <a:chExt cx="9877425" cy="3124200"/>
          </a:xfrm>
        </p:grpSpPr>
        <p:sp>
          <p:nvSpPr>
            <p:cNvPr id="11" name="object 11"/>
            <p:cNvSpPr/>
            <p:nvPr/>
          </p:nvSpPr>
          <p:spPr>
            <a:xfrm>
              <a:off x="457199" y="29717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74" y="3087290"/>
              <a:ext cx="171449" cy="1500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199" y="3886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74" y="3990975"/>
              <a:ext cx="171449" cy="1714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199" y="4800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434" y="4905374"/>
              <a:ext cx="98550" cy="1714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534524" y="2057400"/>
              <a:ext cx="800100" cy="914400"/>
            </a:xfrm>
            <a:custGeom>
              <a:avLst/>
              <a:gdLst/>
              <a:ahLst/>
              <a:cxnLst/>
              <a:rect l="l" t="t" r="r" b="b"/>
              <a:pathLst>
                <a:path w="800100" h="914400">
                  <a:moveTo>
                    <a:pt x="400050" y="371475"/>
                  </a:moveTo>
                  <a:lnTo>
                    <a:pt x="335164" y="369605"/>
                  </a:lnTo>
                  <a:lnTo>
                    <a:pt x="273611" y="364194"/>
                  </a:lnTo>
                  <a:lnTo>
                    <a:pt x="216213" y="355533"/>
                  </a:lnTo>
                  <a:lnTo>
                    <a:pt x="163794" y="343917"/>
                  </a:lnTo>
                  <a:lnTo>
                    <a:pt x="117179" y="329639"/>
                  </a:lnTo>
                  <a:lnTo>
                    <a:pt x="77192" y="312993"/>
                  </a:lnTo>
                  <a:lnTo>
                    <a:pt x="20396" y="273771"/>
                  </a:lnTo>
                  <a:lnTo>
                    <a:pt x="0" y="228600"/>
                  </a:lnTo>
                  <a:lnTo>
                    <a:pt x="0" y="142875"/>
                  </a:lnTo>
                  <a:lnTo>
                    <a:pt x="20396" y="97703"/>
                  </a:lnTo>
                  <a:lnTo>
                    <a:pt x="77192" y="58481"/>
                  </a:lnTo>
                  <a:lnTo>
                    <a:pt x="117179" y="41835"/>
                  </a:lnTo>
                  <a:lnTo>
                    <a:pt x="163794" y="27557"/>
                  </a:lnTo>
                  <a:lnTo>
                    <a:pt x="216213" y="15941"/>
                  </a:lnTo>
                  <a:lnTo>
                    <a:pt x="273611" y="7280"/>
                  </a:lnTo>
                  <a:lnTo>
                    <a:pt x="335164" y="1869"/>
                  </a:lnTo>
                  <a:lnTo>
                    <a:pt x="400050" y="0"/>
                  </a:lnTo>
                  <a:lnTo>
                    <a:pt x="464935" y="1869"/>
                  </a:lnTo>
                  <a:lnTo>
                    <a:pt x="526488" y="7280"/>
                  </a:lnTo>
                  <a:lnTo>
                    <a:pt x="583886" y="15941"/>
                  </a:lnTo>
                  <a:lnTo>
                    <a:pt x="636305" y="27557"/>
                  </a:lnTo>
                  <a:lnTo>
                    <a:pt x="682920" y="41835"/>
                  </a:lnTo>
                  <a:lnTo>
                    <a:pt x="722907" y="58481"/>
                  </a:lnTo>
                  <a:lnTo>
                    <a:pt x="779703" y="97703"/>
                  </a:lnTo>
                  <a:lnTo>
                    <a:pt x="800100" y="142875"/>
                  </a:lnTo>
                  <a:lnTo>
                    <a:pt x="800100" y="228600"/>
                  </a:lnTo>
                  <a:lnTo>
                    <a:pt x="779703" y="273771"/>
                  </a:lnTo>
                  <a:lnTo>
                    <a:pt x="722907" y="312993"/>
                  </a:lnTo>
                  <a:lnTo>
                    <a:pt x="682920" y="329639"/>
                  </a:lnTo>
                  <a:lnTo>
                    <a:pt x="636305" y="343917"/>
                  </a:lnTo>
                  <a:lnTo>
                    <a:pt x="583886" y="355533"/>
                  </a:lnTo>
                  <a:lnTo>
                    <a:pt x="526488" y="364194"/>
                  </a:lnTo>
                  <a:lnTo>
                    <a:pt x="464935" y="369605"/>
                  </a:lnTo>
                  <a:lnTo>
                    <a:pt x="400050" y="371475"/>
                  </a:lnTo>
                  <a:close/>
                </a:path>
                <a:path w="800100" h="914400">
                  <a:moveTo>
                    <a:pt x="400050" y="657225"/>
                  </a:moveTo>
                  <a:lnTo>
                    <a:pt x="335164" y="655355"/>
                  </a:lnTo>
                  <a:lnTo>
                    <a:pt x="273611" y="649944"/>
                  </a:lnTo>
                  <a:lnTo>
                    <a:pt x="216213" y="641283"/>
                  </a:lnTo>
                  <a:lnTo>
                    <a:pt x="163794" y="629667"/>
                  </a:lnTo>
                  <a:lnTo>
                    <a:pt x="117179" y="615389"/>
                  </a:lnTo>
                  <a:lnTo>
                    <a:pt x="77192" y="598743"/>
                  </a:lnTo>
                  <a:lnTo>
                    <a:pt x="20396" y="559521"/>
                  </a:lnTo>
                  <a:lnTo>
                    <a:pt x="0" y="514350"/>
                  </a:lnTo>
                  <a:lnTo>
                    <a:pt x="0" y="332362"/>
                  </a:lnTo>
                  <a:lnTo>
                    <a:pt x="21187" y="347300"/>
                  </a:lnTo>
                  <a:lnTo>
                    <a:pt x="44865" y="360781"/>
                  </a:lnTo>
                  <a:lnTo>
                    <a:pt x="97869" y="383440"/>
                  </a:lnTo>
                  <a:lnTo>
                    <a:pt x="140096" y="396709"/>
                  </a:lnTo>
                  <a:lnTo>
                    <a:pt x="186253" y="407855"/>
                  </a:lnTo>
                  <a:lnTo>
                    <a:pt x="235833" y="416748"/>
                  </a:lnTo>
                  <a:lnTo>
                    <a:pt x="288329" y="423260"/>
                  </a:lnTo>
                  <a:lnTo>
                    <a:pt x="343237" y="427262"/>
                  </a:lnTo>
                  <a:lnTo>
                    <a:pt x="400050" y="428625"/>
                  </a:lnTo>
                  <a:lnTo>
                    <a:pt x="800100" y="428625"/>
                  </a:lnTo>
                  <a:lnTo>
                    <a:pt x="800100" y="514350"/>
                  </a:lnTo>
                  <a:lnTo>
                    <a:pt x="779703" y="559521"/>
                  </a:lnTo>
                  <a:lnTo>
                    <a:pt x="722907" y="598743"/>
                  </a:lnTo>
                  <a:lnTo>
                    <a:pt x="682920" y="615389"/>
                  </a:lnTo>
                  <a:lnTo>
                    <a:pt x="636305" y="629667"/>
                  </a:lnTo>
                  <a:lnTo>
                    <a:pt x="583886" y="641283"/>
                  </a:lnTo>
                  <a:lnTo>
                    <a:pt x="526488" y="649944"/>
                  </a:lnTo>
                  <a:lnTo>
                    <a:pt x="464935" y="655355"/>
                  </a:lnTo>
                  <a:lnTo>
                    <a:pt x="400050" y="657225"/>
                  </a:lnTo>
                  <a:close/>
                </a:path>
                <a:path w="800100" h="914400">
                  <a:moveTo>
                    <a:pt x="800100" y="428625"/>
                  </a:moveTo>
                  <a:lnTo>
                    <a:pt x="400050" y="428625"/>
                  </a:lnTo>
                  <a:lnTo>
                    <a:pt x="456862" y="427262"/>
                  </a:lnTo>
                  <a:lnTo>
                    <a:pt x="511770" y="423260"/>
                  </a:lnTo>
                  <a:lnTo>
                    <a:pt x="564266" y="416748"/>
                  </a:lnTo>
                  <a:lnTo>
                    <a:pt x="613846" y="407855"/>
                  </a:lnTo>
                  <a:lnTo>
                    <a:pt x="660003" y="396709"/>
                  </a:lnTo>
                  <a:lnTo>
                    <a:pt x="702230" y="383440"/>
                  </a:lnTo>
                  <a:lnTo>
                    <a:pt x="755116" y="360781"/>
                  </a:lnTo>
                  <a:lnTo>
                    <a:pt x="800100" y="332362"/>
                  </a:lnTo>
                  <a:lnTo>
                    <a:pt x="800100" y="428625"/>
                  </a:lnTo>
                  <a:close/>
                </a:path>
                <a:path w="800100" h="914400">
                  <a:moveTo>
                    <a:pt x="400050" y="914400"/>
                  </a:moveTo>
                  <a:lnTo>
                    <a:pt x="335164" y="912530"/>
                  </a:lnTo>
                  <a:lnTo>
                    <a:pt x="273611" y="907119"/>
                  </a:lnTo>
                  <a:lnTo>
                    <a:pt x="216213" y="898458"/>
                  </a:lnTo>
                  <a:lnTo>
                    <a:pt x="163794" y="886842"/>
                  </a:lnTo>
                  <a:lnTo>
                    <a:pt x="117179" y="872564"/>
                  </a:lnTo>
                  <a:lnTo>
                    <a:pt x="77192" y="855918"/>
                  </a:lnTo>
                  <a:lnTo>
                    <a:pt x="20396" y="816696"/>
                  </a:lnTo>
                  <a:lnTo>
                    <a:pt x="0" y="771525"/>
                  </a:lnTo>
                  <a:lnTo>
                    <a:pt x="0" y="618112"/>
                  </a:lnTo>
                  <a:lnTo>
                    <a:pt x="21187" y="633050"/>
                  </a:lnTo>
                  <a:lnTo>
                    <a:pt x="44865" y="646531"/>
                  </a:lnTo>
                  <a:lnTo>
                    <a:pt x="97869" y="669190"/>
                  </a:lnTo>
                  <a:lnTo>
                    <a:pt x="140096" y="682459"/>
                  </a:lnTo>
                  <a:lnTo>
                    <a:pt x="186253" y="693605"/>
                  </a:lnTo>
                  <a:lnTo>
                    <a:pt x="235833" y="702498"/>
                  </a:lnTo>
                  <a:lnTo>
                    <a:pt x="288329" y="709010"/>
                  </a:lnTo>
                  <a:lnTo>
                    <a:pt x="343237" y="713012"/>
                  </a:lnTo>
                  <a:lnTo>
                    <a:pt x="400050" y="714375"/>
                  </a:lnTo>
                  <a:lnTo>
                    <a:pt x="800100" y="714375"/>
                  </a:lnTo>
                  <a:lnTo>
                    <a:pt x="800100" y="771525"/>
                  </a:lnTo>
                  <a:lnTo>
                    <a:pt x="779703" y="816696"/>
                  </a:lnTo>
                  <a:lnTo>
                    <a:pt x="722907" y="855918"/>
                  </a:lnTo>
                  <a:lnTo>
                    <a:pt x="682920" y="872564"/>
                  </a:lnTo>
                  <a:lnTo>
                    <a:pt x="636305" y="886842"/>
                  </a:lnTo>
                  <a:lnTo>
                    <a:pt x="583886" y="898458"/>
                  </a:lnTo>
                  <a:lnTo>
                    <a:pt x="526488" y="907119"/>
                  </a:lnTo>
                  <a:lnTo>
                    <a:pt x="464935" y="912530"/>
                  </a:lnTo>
                  <a:lnTo>
                    <a:pt x="400050" y="914400"/>
                  </a:lnTo>
                  <a:close/>
                </a:path>
                <a:path w="800100" h="914400">
                  <a:moveTo>
                    <a:pt x="800100" y="714375"/>
                  </a:moveTo>
                  <a:lnTo>
                    <a:pt x="400050" y="714375"/>
                  </a:lnTo>
                  <a:lnTo>
                    <a:pt x="456862" y="713012"/>
                  </a:lnTo>
                  <a:lnTo>
                    <a:pt x="511770" y="709010"/>
                  </a:lnTo>
                  <a:lnTo>
                    <a:pt x="564266" y="702498"/>
                  </a:lnTo>
                  <a:lnTo>
                    <a:pt x="613846" y="693605"/>
                  </a:lnTo>
                  <a:lnTo>
                    <a:pt x="660003" y="682459"/>
                  </a:lnTo>
                  <a:lnTo>
                    <a:pt x="702230" y="669190"/>
                  </a:lnTo>
                  <a:lnTo>
                    <a:pt x="755116" y="646531"/>
                  </a:lnTo>
                  <a:lnTo>
                    <a:pt x="800100" y="618112"/>
                  </a:lnTo>
                  <a:lnTo>
                    <a:pt x="800100" y="71437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53574" y="3240881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4">
                  <a:moveTo>
                    <a:pt x="316085" y="300037"/>
                  </a:moveTo>
                  <a:lnTo>
                    <a:pt x="26763" y="300037"/>
                  </a:lnTo>
                  <a:lnTo>
                    <a:pt x="19761" y="299101"/>
                  </a:lnTo>
                  <a:lnTo>
                    <a:pt x="0" y="273122"/>
                  </a:lnTo>
                  <a:lnTo>
                    <a:pt x="934" y="266223"/>
                  </a:lnTo>
                  <a:lnTo>
                    <a:pt x="148319" y="13260"/>
                  </a:lnTo>
                  <a:lnTo>
                    <a:pt x="171424" y="0"/>
                  </a:lnTo>
                  <a:lnTo>
                    <a:pt x="178369" y="913"/>
                  </a:lnTo>
                  <a:lnTo>
                    <a:pt x="237063" y="85724"/>
                  </a:lnTo>
                  <a:lnTo>
                    <a:pt x="162517" y="85724"/>
                  </a:lnTo>
                  <a:lnTo>
                    <a:pt x="155351" y="92891"/>
                  </a:lnTo>
                  <a:lnTo>
                    <a:pt x="155351" y="185715"/>
                  </a:lnTo>
                  <a:lnTo>
                    <a:pt x="162517" y="192881"/>
                  </a:lnTo>
                  <a:lnTo>
                    <a:pt x="299959" y="192881"/>
                  </a:lnTo>
                  <a:lnTo>
                    <a:pt x="312539" y="214312"/>
                  </a:lnTo>
                  <a:lnTo>
                    <a:pt x="168582" y="214312"/>
                  </a:lnTo>
                  <a:lnTo>
                    <a:pt x="149993" y="232901"/>
                  </a:lnTo>
                  <a:lnTo>
                    <a:pt x="149993" y="238585"/>
                  </a:lnTo>
                  <a:lnTo>
                    <a:pt x="168582" y="257174"/>
                  </a:lnTo>
                  <a:lnTo>
                    <a:pt x="337697" y="257174"/>
                  </a:lnTo>
                  <a:lnTo>
                    <a:pt x="339191" y="259719"/>
                  </a:lnTo>
                  <a:lnTo>
                    <a:pt x="341931" y="266223"/>
                  </a:lnTo>
                  <a:lnTo>
                    <a:pt x="342871" y="273122"/>
                  </a:lnTo>
                  <a:lnTo>
                    <a:pt x="341999" y="280034"/>
                  </a:lnTo>
                  <a:lnTo>
                    <a:pt x="339325" y="286575"/>
                  </a:lnTo>
                  <a:lnTo>
                    <a:pt x="335034" y="292182"/>
                  </a:lnTo>
                  <a:lnTo>
                    <a:pt x="329513" y="296420"/>
                  </a:lnTo>
                  <a:lnTo>
                    <a:pt x="323088" y="299101"/>
                  </a:lnTo>
                  <a:lnTo>
                    <a:pt x="316085" y="300037"/>
                  </a:lnTo>
                  <a:close/>
                </a:path>
                <a:path w="342900" h="300354">
                  <a:moveTo>
                    <a:pt x="299959" y="192881"/>
                  </a:moveTo>
                  <a:lnTo>
                    <a:pt x="180332" y="192881"/>
                  </a:lnTo>
                  <a:lnTo>
                    <a:pt x="187498" y="185715"/>
                  </a:lnTo>
                  <a:lnTo>
                    <a:pt x="187498" y="92891"/>
                  </a:lnTo>
                  <a:lnTo>
                    <a:pt x="180332" y="85724"/>
                  </a:lnTo>
                  <a:lnTo>
                    <a:pt x="237063" y="85724"/>
                  </a:lnTo>
                  <a:lnTo>
                    <a:pt x="299959" y="192881"/>
                  </a:lnTo>
                  <a:close/>
                </a:path>
                <a:path w="342900" h="300354">
                  <a:moveTo>
                    <a:pt x="337697" y="257174"/>
                  </a:moveTo>
                  <a:lnTo>
                    <a:pt x="174266" y="257174"/>
                  </a:lnTo>
                  <a:lnTo>
                    <a:pt x="177000" y="256631"/>
                  </a:lnTo>
                  <a:lnTo>
                    <a:pt x="182251" y="254456"/>
                  </a:lnTo>
                  <a:lnTo>
                    <a:pt x="192856" y="238585"/>
                  </a:lnTo>
                  <a:lnTo>
                    <a:pt x="192856" y="232901"/>
                  </a:lnTo>
                  <a:lnTo>
                    <a:pt x="174266" y="214312"/>
                  </a:lnTo>
                  <a:lnTo>
                    <a:pt x="312539" y="214312"/>
                  </a:lnTo>
                  <a:lnTo>
                    <a:pt x="337697" y="257174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77900" y="2929810"/>
            <a:ext cx="6263005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Expanding</a:t>
            </a:r>
            <a:r>
              <a:rPr sz="135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Data</a:t>
            </a:r>
            <a:r>
              <a:rPr sz="135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 Volumes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Organizations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face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exponential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growth,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databases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expanding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50-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100%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annually,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straining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existing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infrastructure.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7900" y="3844210"/>
            <a:ext cx="5962650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Performance</a:t>
            </a:r>
            <a:r>
              <a:rPr sz="1350" b="1" spc="-2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Demands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Critical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applications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require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24/7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availability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optimal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performance,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making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proactive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monitoring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essential.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7900" y="4758610"/>
            <a:ext cx="6559550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Cost </a:t>
            </a:r>
            <a:r>
              <a:rPr sz="135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Implications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Unmanaged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leads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higher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costs,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extended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maintenance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windows,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and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potential service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disruptions.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08875" y="3011011"/>
            <a:ext cx="3244850" cy="109029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456565" algn="ctr">
              <a:lnSpc>
                <a:spcPct val="100000"/>
              </a:lnSpc>
              <a:spcBef>
                <a:spcPts val="1415"/>
              </a:spcBef>
            </a:pPr>
            <a:r>
              <a:rPr sz="2700" b="1" spc="-25" dirty="0">
                <a:solidFill>
                  <a:srgbClr val="0F6EBE"/>
                </a:solidFill>
                <a:latin typeface="Segoe UI"/>
                <a:cs typeface="Segoe UI"/>
              </a:rPr>
              <a:t>61%</a:t>
            </a:r>
            <a:endParaRPr sz="2700">
              <a:latin typeface="Segoe UI"/>
              <a:cs typeface="Segoe UI"/>
            </a:endParaRPr>
          </a:p>
          <a:p>
            <a:pPr marL="12700" marR="5080" indent="75565">
              <a:lnSpc>
                <a:spcPct val="125000"/>
              </a:lnSpc>
              <a:spcBef>
                <a:spcPts val="22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of organizations experienced critical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database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issues due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to unmonitored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24824" y="4343399"/>
            <a:ext cx="3609975" cy="609600"/>
          </a:xfrm>
          <a:custGeom>
            <a:avLst/>
            <a:gdLst/>
            <a:ahLst/>
            <a:cxnLst/>
            <a:rect l="l" t="t" r="r" b="b"/>
            <a:pathLst>
              <a:path w="3609975" h="609600">
                <a:moveTo>
                  <a:pt x="3538777" y="609599"/>
                </a:moveTo>
                <a:lnTo>
                  <a:pt x="71196" y="609599"/>
                </a:lnTo>
                <a:lnTo>
                  <a:pt x="66240" y="609111"/>
                </a:lnTo>
                <a:lnTo>
                  <a:pt x="29703" y="593977"/>
                </a:lnTo>
                <a:lnTo>
                  <a:pt x="3884" y="557937"/>
                </a:lnTo>
                <a:lnTo>
                  <a:pt x="0" y="538403"/>
                </a:lnTo>
                <a:lnTo>
                  <a:pt x="0" y="533399"/>
                </a:lnTo>
                <a:lnTo>
                  <a:pt x="0" y="71196"/>
                </a:lnTo>
                <a:lnTo>
                  <a:pt x="15621" y="29704"/>
                </a:lnTo>
                <a:lnTo>
                  <a:pt x="51660" y="3885"/>
                </a:lnTo>
                <a:lnTo>
                  <a:pt x="71196" y="0"/>
                </a:lnTo>
                <a:lnTo>
                  <a:pt x="3538777" y="0"/>
                </a:lnTo>
                <a:lnTo>
                  <a:pt x="3580267" y="15621"/>
                </a:lnTo>
                <a:lnTo>
                  <a:pt x="3606087" y="51661"/>
                </a:lnTo>
                <a:lnTo>
                  <a:pt x="3609974" y="71196"/>
                </a:lnTo>
                <a:lnTo>
                  <a:pt x="3609974" y="538403"/>
                </a:lnTo>
                <a:lnTo>
                  <a:pt x="3594351" y="579894"/>
                </a:lnTo>
                <a:lnTo>
                  <a:pt x="3558311" y="605713"/>
                </a:lnTo>
                <a:lnTo>
                  <a:pt x="3543733" y="609111"/>
                </a:lnTo>
                <a:lnTo>
                  <a:pt x="3538777" y="609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92666" y="4425950"/>
            <a:ext cx="3077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Automation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reduces monitoring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workload 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by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69921" y="4654550"/>
            <a:ext cx="323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078D4"/>
                </a:solidFill>
                <a:latin typeface="Segoe UI Semibold"/>
                <a:cs typeface="Segoe UI Semibold"/>
              </a:rPr>
              <a:t>85%</a:t>
            </a:r>
            <a:endParaRPr sz="1200">
              <a:latin typeface="Segoe UI Semibold"/>
              <a:cs typeface="Segoe UI Semibol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4999" y="6127114"/>
            <a:ext cx="109137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Our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Automated</a:t>
            </a:r>
            <a:r>
              <a:rPr sz="135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Database</a:t>
            </a:r>
            <a:r>
              <a:rPr sz="135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Growth</a:t>
            </a:r>
            <a:r>
              <a:rPr sz="1350" b="1" spc="-2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Alert</a:t>
            </a:r>
            <a:r>
              <a:rPr sz="135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078D4"/>
                </a:solidFill>
                <a:latin typeface="Segoe UI Semibold"/>
                <a:cs typeface="Segoe UI Semibold"/>
              </a:rPr>
              <a:t>System</a:t>
            </a:r>
            <a:r>
              <a:rPr sz="1350" b="1" spc="-2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addresses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these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challenges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by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continuously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patterns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across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multiple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SQL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MI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servers,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enabling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proactive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management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optimization.</a:t>
            </a:r>
            <a:endParaRPr sz="1350" dirty="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837018" y="6874358"/>
            <a:ext cx="1215390" cy="16414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6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fld id="{81D60167-4931-47E6-BA6A-407CBD079E47}" type="slidenum">
              <a:rPr sz="1575" spc="-75" baseline="-44973" dirty="0">
                <a:solidFill>
                  <a:srgbClr val="6A7280"/>
                </a:solidFill>
                <a:latin typeface="Segoe UI"/>
                <a:cs typeface="Segoe UI"/>
              </a:rPr>
              <a:t>3</a:t>
            </a:fld>
            <a:endParaRPr sz="1575" baseline="-44973" dirty="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7799" y="6958576"/>
            <a:ext cx="251015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Automated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Database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Segoe UI"/>
                <a:cs typeface="Segoe UI"/>
              </a:rPr>
              <a:t>System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Database</a:t>
            </a:r>
            <a:r>
              <a:rPr spc="-10" dirty="0"/>
              <a:t> Growth?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158875"/>
            <a:ext cx="1084199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100"/>
              </a:spcBef>
            </a:pP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refers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increase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in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size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over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time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as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is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added,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modified,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accumulated.</a:t>
            </a:r>
            <a:r>
              <a:rPr sz="15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This</a:t>
            </a:r>
            <a:r>
              <a:rPr sz="15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includes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expansion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tables,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indexes,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logs,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other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objects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that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collectively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consume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5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202020"/>
                </a:solidFill>
                <a:latin typeface="Segoe UI"/>
                <a:cs typeface="Segoe UI"/>
              </a:rPr>
              <a:t>space.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99" y="2524124"/>
            <a:ext cx="381000" cy="381000"/>
            <a:chOff x="457199" y="2524124"/>
            <a:chExt cx="381000" cy="381000"/>
          </a:xfrm>
        </p:grpSpPr>
        <p:sp>
          <p:nvSpPr>
            <p:cNvPr id="6" name="object 6"/>
            <p:cNvSpPr/>
            <p:nvPr/>
          </p:nvSpPr>
          <p:spPr>
            <a:xfrm>
              <a:off x="457199" y="25241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49" y="2631281"/>
              <a:ext cx="190499" cy="1666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4500" y="2073275"/>
            <a:ext cx="4919345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Common</a:t>
            </a:r>
            <a:r>
              <a:rPr sz="1800" b="1" spc="-8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Causes</a:t>
            </a:r>
            <a:endParaRPr sz="1800">
              <a:latin typeface="Segoe UI Semibold"/>
              <a:cs typeface="Segoe UI Semibold"/>
            </a:endParaRPr>
          </a:p>
          <a:p>
            <a:pPr marL="545465">
              <a:lnSpc>
                <a:spcPct val="100000"/>
              </a:lnSpc>
              <a:spcBef>
                <a:spcPts val="151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User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Accumulation</a:t>
            </a:r>
            <a:endParaRPr sz="1350">
              <a:latin typeface="Segoe UI Semibold"/>
              <a:cs typeface="Segoe UI Semibold"/>
            </a:endParaRPr>
          </a:p>
          <a:p>
            <a:pPr marL="545465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Continuous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addition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transactional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data,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customer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records,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and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operational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information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199" y="3400424"/>
            <a:ext cx="381000" cy="381000"/>
            <a:chOff x="457199" y="3400424"/>
            <a:chExt cx="381000" cy="381000"/>
          </a:xfrm>
        </p:grpSpPr>
        <p:sp>
          <p:nvSpPr>
            <p:cNvPr id="10" name="object 10"/>
            <p:cNvSpPr/>
            <p:nvPr/>
          </p:nvSpPr>
          <p:spPr>
            <a:xfrm>
              <a:off x="457199" y="34004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449" y="3495674"/>
              <a:ext cx="190499" cy="1904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77900" y="3358435"/>
            <a:ext cx="4566920" cy="16287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Log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Files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Transaction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logs,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audit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trails,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logs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that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track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all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database activities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Indexes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&amp;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Metadata</a:t>
            </a:r>
            <a:endParaRPr sz="1350">
              <a:latin typeface="Segoe UI Semibold"/>
              <a:cs typeface="Segoe UI Semibold"/>
            </a:endParaRPr>
          </a:p>
          <a:p>
            <a:pPr marL="12700" marR="3606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Creation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additional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indexes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metadata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improve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query performance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199" y="4276724"/>
            <a:ext cx="381000" cy="381000"/>
            <a:chOff x="457199" y="4276724"/>
            <a:chExt cx="381000" cy="381000"/>
          </a:xfrm>
        </p:grpSpPr>
        <p:sp>
          <p:nvSpPr>
            <p:cNvPr id="14" name="object 14"/>
            <p:cNvSpPr/>
            <p:nvPr/>
          </p:nvSpPr>
          <p:spPr>
            <a:xfrm>
              <a:off x="457199" y="42767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924" y="4383881"/>
              <a:ext cx="214312" cy="16668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77900" y="5111035"/>
            <a:ext cx="4345940" cy="5238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Historical</a:t>
            </a:r>
            <a:r>
              <a:rPr sz="1350" b="1" spc="-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</a:t>
            </a:r>
            <a:r>
              <a:rPr sz="1350" b="1" spc="-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Retention</a:t>
            </a:r>
            <a:endParaRPr sz="13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Long-term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historical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compliance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analysis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199" y="2524124"/>
            <a:ext cx="5562600" cy="4629150"/>
            <a:chOff x="6172199" y="2524124"/>
            <a:chExt cx="5562600" cy="4629150"/>
          </a:xfrm>
        </p:grpSpPr>
        <p:sp>
          <p:nvSpPr>
            <p:cNvPr id="18" name="object 18"/>
            <p:cNvSpPr/>
            <p:nvPr/>
          </p:nvSpPr>
          <p:spPr>
            <a:xfrm>
              <a:off x="6248399" y="2524124"/>
              <a:ext cx="5486400" cy="2686050"/>
            </a:xfrm>
            <a:custGeom>
              <a:avLst/>
              <a:gdLst/>
              <a:ahLst/>
              <a:cxnLst/>
              <a:rect l="l" t="t" r="r" b="b"/>
              <a:pathLst>
                <a:path w="5486400" h="2686050">
                  <a:moveTo>
                    <a:pt x="5415203" y="2686049"/>
                  </a:moveTo>
                  <a:lnTo>
                    <a:pt x="71196" y="2686049"/>
                  </a:lnTo>
                  <a:lnTo>
                    <a:pt x="66241" y="2685561"/>
                  </a:lnTo>
                  <a:lnTo>
                    <a:pt x="29705" y="2670426"/>
                  </a:lnTo>
                  <a:lnTo>
                    <a:pt x="3885" y="2634386"/>
                  </a:lnTo>
                  <a:lnTo>
                    <a:pt x="0" y="2614852"/>
                  </a:lnTo>
                  <a:lnTo>
                    <a:pt x="0" y="26098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3" y="0"/>
                  </a:lnTo>
                  <a:lnTo>
                    <a:pt x="5456692" y="15621"/>
                  </a:lnTo>
                  <a:lnTo>
                    <a:pt x="5482513" y="51661"/>
                  </a:lnTo>
                  <a:lnTo>
                    <a:pt x="5486400" y="71196"/>
                  </a:lnTo>
                  <a:lnTo>
                    <a:pt x="5486400" y="2614852"/>
                  </a:lnTo>
                  <a:lnTo>
                    <a:pt x="5470776" y="2656344"/>
                  </a:lnTo>
                  <a:lnTo>
                    <a:pt x="5434737" y="2682163"/>
                  </a:lnTo>
                  <a:lnTo>
                    <a:pt x="5420158" y="2685561"/>
                  </a:lnTo>
                  <a:lnTo>
                    <a:pt x="5415203" y="26860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799" y="2676524"/>
              <a:ext cx="5181599" cy="23812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6105524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2595802" y="1047749"/>
                  </a:moveTo>
                  <a:lnTo>
                    <a:pt x="71196" y="1047749"/>
                  </a:lnTo>
                  <a:lnTo>
                    <a:pt x="66241" y="1047260"/>
                  </a:lnTo>
                  <a:lnTo>
                    <a:pt x="29705" y="1032127"/>
                  </a:lnTo>
                  <a:lnTo>
                    <a:pt x="3885" y="996086"/>
                  </a:lnTo>
                  <a:lnTo>
                    <a:pt x="0" y="976553"/>
                  </a:lnTo>
                  <a:lnTo>
                    <a:pt x="0" y="971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2" y="0"/>
                  </a:lnTo>
                  <a:lnTo>
                    <a:pt x="2637294" y="15621"/>
                  </a:lnTo>
                  <a:lnTo>
                    <a:pt x="2663112" y="51661"/>
                  </a:lnTo>
                  <a:lnTo>
                    <a:pt x="2666999" y="71196"/>
                  </a:lnTo>
                  <a:lnTo>
                    <a:pt x="2666999" y="976553"/>
                  </a:lnTo>
                  <a:lnTo>
                    <a:pt x="2651376" y="1018043"/>
                  </a:lnTo>
                  <a:lnTo>
                    <a:pt x="2615336" y="1043863"/>
                  </a:lnTo>
                  <a:lnTo>
                    <a:pt x="2600757" y="1047260"/>
                  </a:lnTo>
                  <a:lnTo>
                    <a:pt x="2595802" y="1047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62824" y="6237684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50031" y="250031"/>
                  </a:moveTo>
                  <a:lnTo>
                    <a:pt x="35718" y="250031"/>
                  </a:lnTo>
                  <a:lnTo>
                    <a:pt x="21826" y="247220"/>
                  </a:lnTo>
                  <a:lnTo>
                    <a:pt x="10471" y="239559"/>
                  </a:lnTo>
                  <a:lnTo>
                    <a:pt x="2810" y="228204"/>
                  </a:lnTo>
                  <a:lnTo>
                    <a:pt x="0" y="214312"/>
                  </a:lnTo>
                  <a:lnTo>
                    <a:pt x="0" y="35718"/>
                  </a:lnTo>
                  <a:lnTo>
                    <a:pt x="2810" y="21826"/>
                  </a:lnTo>
                  <a:lnTo>
                    <a:pt x="10471" y="10471"/>
                  </a:lnTo>
                  <a:lnTo>
                    <a:pt x="21826" y="2810"/>
                  </a:lnTo>
                  <a:lnTo>
                    <a:pt x="35718" y="0"/>
                  </a:lnTo>
                  <a:lnTo>
                    <a:pt x="250031" y="0"/>
                  </a:lnTo>
                  <a:lnTo>
                    <a:pt x="263923" y="2810"/>
                  </a:lnTo>
                  <a:lnTo>
                    <a:pt x="275278" y="10471"/>
                  </a:lnTo>
                  <a:lnTo>
                    <a:pt x="282939" y="21826"/>
                  </a:lnTo>
                  <a:lnTo>
                    <a:pt x="285750" y="35718"/>
                  </a:lnTo>
                  <a:lnTo>
                    <a:pt x="285750" y="71437"/>
                  </a:lnTo>
                  <a:lnTo>
                    <a:pt x="35718" y="71437"/>
                  </a:lnTo>
                  <a:lnTo>
                    <a:pt x="35718" y="125015"/>
                  </a:lnTo>
                  <a:lnTo>
                    <a:pt x="285750" y="125015"/>
                  </a:lnTo>
                  <a:lnTo>
                    <a:pt x="285750" y="160734"/>
                  </a:lnTo>
                  <a:lnTo>
                    <a:pt x="35718" y="160734"/>
                  </a:lnTo>
                  <a:lnTo>
                    <a:pt x="35718" y="214312"/>
                  </a:lnTo>
                  <a:lnTo>
                    <a:pt x="285750" y="214312"/>
                  </a:lnTo>
                  <a:lnTo>
                    <a:pt x="282939" y="228204"/>
                  </a:lnTo>
                  <a:lnTo>
                    <a:pt x="275278" y="239559"/>
                  </a:lnTo>
                  <a:lnTo>
                    <a:pt x="263923" y="247220"/>
                  </a:lnTo>
                  <a:lnTo>
                    <a:pt x="250031" y="250031"/>
                  </a:lnTo>
                  <a:close/>
                </a:path>
                <a:path w="285750" h="250189">
                  <a:moveTo>
                    <a:pt x="160734" y="125015"/>
                  </a:moveTo>
                  <a:lnTo>
                    <a:pt x="125015" y="125015"/>
                  </a:lnTo>
                  <a:lnTo>
                    <a:pt x="125015" y="71437"/>
                  </a:lnTo>
                  <a:lnTo>
                    <a:pt x="160734" y="71437"/>
                  </a:lnTo>
                  <a:lnTo>
                    <a:pt x="160734" y="125015"/>
                  </a:lnTo>
                  <a:close/>
                </a:path>
                <a:path w="285750" h="250189">
                  <a:moveTo>
                    <a:pt x="285750" y="125015"/>
                  </a:moveTo>
                  <a:lnTo>
                    <a:pt x="250031" y="125015"/>
                  </a:lnTo>
                  <a:lnTo>
                    <a:pt x="250031" y="71437"/>
                  </a:lnTo>
                  <a:lnTo>
                    <a:pt x="285750" y="71437"/>
                  </a:lnTo>
                  <a:lnTo>
                    <a:pt x="285750" y="125015"/>
                  </a:lnTo>
                  <a:close/>
                </a:path>
                <a:path w="285750" h="250189">
                  <a:moveTo>
                    <a:pt x="160734" y="214312"/>
                  </a:moveTo>
                  <a:lnTo>
                    <a:pt x="125015" y="214312"/>
                  </a:lnTo>
                  <a:lnTo>
                    <a:pt x="125015" y="160734"/>
                  </a:lnTo>
                  <a:lnTo>
                    <a:pt x="160734" y="160734"/>
                  </a:lnTo>
                  <a:lnTo>
                    <a:pt x="160734" y="214312"/>
                  </a:lnTo>
                  <a:close/>
                </a:path>
                <a:path w="285750" h="250189">
                  <a:moveTo>
                    <a:pt x="285750" y="214312"/>
                  </a:moveTo>
                  <a:lnTo>
                    <a:pt x="250031" y="214312"/>
                  </a:lnTo>
                  <a:lnTo>
                    <a:pt x="250031" y="160734"/>
                  </a:lnTo>
                  <a:lnTo>
                    <a:pt x="285750" y="160734"/>
                  </a:lnTo>
                  <a:lnTo>
                    <a:pt x="285750" y="214312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35699" y="2073275"/>
            <a:ext cx="217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Growth</a:t>
            </a:r>
            <a:r>
              <a:rPr sz="1800" b="1" spc="-6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Visualization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35699" y="5355295"/>
            <a:ext cx="51504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i="1" spc="-10" dirty="0">
                <a:solidFill>
                  <a:srgbClr val="4A5462"/>
                </a:solidFill>
                <a:latin typeface="Segoe UI"/>
                <a:cs typeface="Segoe UI"/>
              </a:rPr>
              <a:t>Typical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database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050" i="1" spc="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patterns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show</a:t>
            </a:r>
            <a:r>
              <a:rPr sz="1050" i="1" spc="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accelerated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expansion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over</a:t>
            </a:r>
            <a:r>
              <a:rPr sz="1050" i="1" spc="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time</a:t>
            </a:r>
            <a:r>
              <a:rPr sz="1050" i="1" spc="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as</a:t>
            </a:r>
            <a:r>
              <a:rPr sz="1050" i="1" spc="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spc="-10" dirty="0">
                <a:solidFill>
                  <a:srgbClr val="4A5462"/>
                </a:solidFill>
                <a:latin typeface="Segoe UI"/>
                <a:cs typeface="Segoe UI"/>
              </a:rPr>
              <a:t>applications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5699" y="5545795"/>
            <a:ext cx="1793239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mature</a:t>
            </a:r>
            <a:r>
              <a:rPr sz="1050" i="1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and</a:t>
            </a:r>
            <a:r>
              <a:rPr sz="1050" i="1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4A5462"/>
                </a:solidFill>
                <a:latin typeface="Segoe UI"/>
                <a:cs typeface="Segoe UI"/>
              </a:rPr>
              <a:t>data</a:t>
            </a:r>
            <a:r>
              <a:rPr sz="1050" i="1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i="1" spc="-10" dirty="0">
                <a:solidFill>
                  <a:srgbClr val="4A5462"/>
                </a:solidFill>
                <a:latin typeface="Segoe UI"/>
                <a:cs typeface="Segoe UI"/>
              </a:rPr>
              <a:t>accumulates.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3399" y="6105524"/>
            <a:ext cx="2667000" cy="1047750"/>
            <a:chOff x="533399" y="6105524"/>
            <a:chExt cx="2667000" cy="1047750"/>
          </a:xfrm>
        </p:grpSpPr>
        <p:sp>
          <p:nvSpPr>
            <p:cNvPr id="26" name="object 26"/>
            <p:cNvSpPr/>
            <p:nvPr/>
          </p:nvSpPr>
          <p:spPr>
            <a:xfrm>
              <a:off x="533399" y="6105524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2595803" y="1047749"/>
                  </a:moveTo>
                  <a:lnTo>
                    <a:pt x="71196" y="1047749"/>
                  </a:lnTo>
                  <a:lnTo>
                    <a:pt x="66241" y="1047260"/>
                  </a:lnTo>
                  <a:lnTo>
                    <a:pt x="29705" y="1032127"/>
                  </a:lnTo>
                  <a:lnTo>
                    <a:pt x="3885" y="996086"/>
                  </a:lnTo>
                  <a:lnTo>
                    <a:pt x="0" y="976553"/>
                  </a:lnTo>
                  <a:lnTo>
                    <a:pt x="0" y="971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3" y="0"/>
                  </a:lnTo>
                  <a:lnTo>
                    <a:pt x="2637293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976553"/>
                  </a:lnTo>
                  <a:lnTo>
                    <a:pt x="2651377" y="1018043"/>
                  </a:lnTo>
                  <a:lnTo>
                    <a:pt x="2615337" y="1043863"/>
                  </a:lnTo>
                  <a:lnTo>
                    <a:pt x="2600758" y="1047260"/>
                  </a:lnTo>
                  <a:lnTo>
                    <a:pt x="2595803" y="1047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43074" y="6219824"/>
              <a:ext cx="250190" cy="285750"/>
            </a:xfrm>
            <a:custGeom>
              <a:avLst/>
              <a:gdLst/>
              <a:ahLst/>
              <a:cxnLst/>
              <a:rect l="l" t="t" r="r" b="b"/>
              <a:pathLst>
                <a:path w="250189" h="285750">
                  <a:moveTo>
                    <a:pt x="125015" y="116085"/>
                  </a:moveTo>
                  <a:lnTo>
                    <a:pt x="76356" y="112578"/>
                  </a:lnTo>
                  <a:lnTo>
                    <a:pt x="36618" y="103012"/>
                  </a:lnTo>
                  <a:lnTo>
                    <a:pt x="9825" y="88820"/>
                  </a:lnTo>
                  <a:lnTo>
                    <a:pt x="0" y="71437"/>
                  </a:lnTo>
                  <a:lnTo>
                    <a:pt x="0" y="44648"/>
                  </a:lnTo>
                  <a:lnTo>
                    <a:pt x="9825" y="27265"/>
                  </a:lnTo>
                  <a:lnTo>
                    <a:pt x="36618" y="13073"/>
                  </a:lnTo>
                  <a:lnTo>
                    <a:pt x="76356" y="3507"/>
                  </a:lnTo>
                  <a:lnTo>
                    <a:pt x="125015" y="0"/>
                  </a:lnTo>
                  <a:lnTo>
                    <a:pt x="173674" y="3507"/>
                  </a:lnTo>
                  <a:lnTo>
                    <a:pt x="213412" y="13073"/>
                  </a:lnTo>
                  <a:lnTo>
                    <a:pt x="240205" y="27265"/>
                  </a:lnTo>
                  <a:lnTo>
                    <a:pt x="250031" y="44648"/>
                  </a:lnTo>
                  <a:lnTo>
                    <a:pt x="250031" y="71437"/>
                  </a:lnTo>
                  <a:lnTo>
                    <a:pt x="240205" y="88820"/>
                  </a:lnTo>
                  <a:lnTo>
                    <a:pt x="213412" y="103012"/>
                  </a:lnTo>
                  <a:lnTo>
                    <a:pt x="173674" y="112578"/>
                  </a:lnTo>
                  <a:lnTo>
                    <a:pt x="125015" y="116085"/>
                  </a:lnTo>
                  <a:close/>
                </a:path>
                <a:path w="250189" h="285750">
                  <a:moveTo>
                    <a:pt x="125015" y="205382"/>
                  </a:moveTo>
                  <a:lnTo>
                    <a:pt x="76356" y="201875"/>
                  </a:lnTo>
                  <a:lnTo>
                    <a:pt x="36618" y="192309"/>
                  </a:lnTo>
                  <a:lnTo>
                    <a:pt x="9825" y="178117"/>
                  </a:lnTo>
                  <a:lnTo>
                    <a:pt x="0" y="160734"/>
                  </a:lnTo>
                  <a:lnTo>
                    <a:pt x="0" y="103863"/>
                  </a:lnTo>
                  <a:lnTo>
                    <a:pt x="6621" y="108531"/>
                  </a:lnTo>
                  <a:lnTo>
                    <a:pt x="14020" y="112744"/>
                  </a:lnTo>
                  <a:lnTo>
                    <a:pt x="50848" y="125798"/>
                  </a:lnTo>
                  <a:lnTo>
                    <a:pt x="98598" y="132994"/>
                  </a:lnTo>
                  <a:lnTo>
                    <a:pt x="125015" y="133945"/>
                  </a:lnTo>
                  <a:lnTo>
                    <a:pt x="250031" y="133945"/>
                  </a:lnTo>
                  <a:lnTo>
                    <a:pt x="250031" y="160734"/>
                  </a:lnTo>
                  <a:lnTo>
                    <a:pt x="240205" y="178117"/>
                  </a:lnTo>
                  <a:lnTo>
                    <a:pt x="213412" y="192309"/>
                  </a:lnTo>
                  <a:lnTo>
                    <a:pt x="173674" y="201875"/>
                  </a:lnTo>
                  <a:lnTo>
                    <a:pt x="125015" y="205382"/>
                  </a:lnTo>
                  <a:close/>
                </a:path>
                <a:path w="250189" h="285750">
                  <a:moveTo>
                    <a:pt x="250031" y="133945"/>
                  </a:moveTo>
                  <a:lnTo>
                    <a:pt x="125015" y="133945"/>
                  </a:lnTo>
                  <a:lnTo>
                    <a:pt x="151433" y="132994"/>
                  </a:lnTo>
                  <a:lnTo>
                    <a:pt x="176333" y="130233"/>
                  </a:lnTo>
                  <a:lnTo>
                    <a:pt x="219447" y="119825"/>
                  </a:lnTo>
                  <a:lnTo>
                    <a:pt x="250031" y="103863"/>
                  </a:lnTo>
                  <a:lnTo>
                    <a:pt x="250031" y="133945"/>
                  </a:lnTo>
                  <a:close/>
                </a:path>
                <a:path w="250189" h="285750">
                  <a:moveTo>
                    <a:pt x="125015" y="285750"/>
                  </a:moveTo>
                  <a:lnTo>
                    <a:pt x="76356" y="282242"/>
                  </a:lnTo>
                  <a:lnTo>
                    <a:pt x="36618" y="272676"/>
                  </a:lnTo>
                  <a:lnTo>
                    <a:pt x="9825" y="258484"/>
                  </a:lnTo>
                  <a:lnTo>
                    <a:pt x="0" y="241101"/>
                  </a:lnTo>
                  <a:lnTo>
                    <a:pt x="0" y="193160"/>
                  </a:lnTo>
                  <a:lnTo>
                    <a:pt x="6621" y="197828"/>
                  </a:lnTo>
                  <a:lnTo>
                    <a:pt x="14020" y="202041"/>
                  </a:lnTo>
                  <a:lnTo>
                    <a:pt x="50848" y="215095"/>
                  </a:lnTo>
                  <a:lnTo>
                    <a:pt x="98598" y="222291"/>
                  </a:lnTo>
                  <a:lnTo>
                    <a:pt x="125015" y="223242"/>
                  </a:lnTo>
                  <a:lnTo>
                    <a:pt x="250031" y="223242"/>
                  </a:lnTo>
                  <a:lnTo>
                    <a:pt x="250031" y="241101"/>
                  </a:lnTo>
                  <a:lnTo>
                    <a:pt x="240205" y="258484"/>
                  </a:lnTo>
                  <a:lnTo>
                    <a:pt x="213412" y="272676"/>
                  </a:lnTo>
                  <a:lnTo>
                    <a:pt x="173674" y="282242"/>
                  </a:lnTo>
                  <a:lnTo>
                    <a:pt x="125015" y="285750"/>
                  </a:lnTo>
                  <a:close/>
                </a:path>
                <a:path w="250189" h="285750">
                  <a:moveTo>
                    <a:pt x="250031" y="223242"/>
                  </a:moveTo>
                  <a:lnTo>
                    <a:pt x="125015" y="223242"/>
                  </a:lnTo>
                  <a:lnTo>
                    <a:pt x="151433" y="222291"/>
                  </a:lnTo>
                  <a:lnTo>
                    <a:pt x="176333" y="219530"/>
                  </a:lnTo>
                  <a:lnTo>
                    <a:pt x="219447" y="209122"/>
                  </a:lnTo>
                  <a:lnTo>
                    <a:pt x="250031" y="193160"/>
                  </a:lnTo>
                  <a:lnTo>
                    <a:pt x="250031" y="223242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03051" y="6543765"/>
            <a:ext cx="172783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Database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Size</a:t>
            </a:r>
            <a:endParaRPr sz="135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Total</a:t>
            </a:r>
            <a:r>
              <a:rPr sz="10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0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space</a:t>
            </a:r>
            <a:r>
              <a:rPr sz="10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occupied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52799" y="6105524"/>
            <a:ext cx="2667000" cy="1047750"/>
            <a:chOff x="3352799" y="6105524"/>
            <a:chExt cx="2667000" cy="1047750"/>
          </a:xfrm>
        </p:grpSpPr>
        <p:sp>
          <p:nvSpPr>
            <p:cNvPr id="30" name="object 30"/>
            <p:cNvSpPr/>
            <p:nvPr/>
          </p:nvSpPr>
          <p:spPr>
            <a:xfrm>
              <a:off x="3352799" y="6105524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2595803" y="1047749"/>
                  </a:moveTo>
                  <a:lnTo>
                    <a:pt x="71196" y="1047749"/>
                  </a:lnTo>
                  <a:lnTo>
                    <a:pt x="66241" y="1047260"/>
                  </a:lnTo>
                  <a:lnTo>
                    <a:pt x="29705" y="1032127"/>
                  </a:lnTo>
                  <a:lnTo>
                    <a:pt x="3885" y="996086"/>
                  </a:lnTo>
                  <a:lnTo>
                    <a:pt x="0" y="976553"/>
                  </a:lnTo>
                  <a:lnTo>
                    <a:pt x="0" y="971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3" y="0"/>
                  </a:lnTo>
                  <a:lnTo>
                    <a:pt x="2637293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976553"/>
                  </a:lnTo>
                  <a:lnTo>
                    <a:pt x="2651377" y="1018043"/>
                  </a:lnTo>
                  <a:lnTo>
                    <a:pt x="2615336" y="1043863"/>
                  </a:lnTo>
                  <a:lnTo>
                    <a:pt x="2600758" y="1047260"/>
                  </a:lnTo>
                  <a:lnTo>
                    <a:pt x="2595803" y="1047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43425" y="6237684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77769" y="250031"/>
                  </a:moveTo>
                  <a:lnTo>
                    <a:pt x="44648" y="250031"/>
                  </a:lnTo>
                  <a:lnTo>
                    <a:pt x="27265" y="246523"/>
                  </a:lnTo>
                  <a:lnTo>
                    <a:pt x="13073" y="236957"/>
                  </a:lnTo>
                  <a:lnTo>
                    <a:pt x="3507" y="222766"/>
                  </a:lnTo>
                  <a:lnTo>
                    <a:pt x="0" y="205382"/>
                  </a:lnTo>
                  <a:lnTo>
                    <a:pt x="0" y="7980"/>
                  </a:lnTo>
                  <a:lnTo>
                    <a:pt x="7980" y="0"/>
                  </a:lnTo>
                  <a:lnTo>
                    <a:pt x="27737" y="0"/>
                  </a:lnTo>
                  <a:lnTo>
                    <a:pt x="35718" y="7980"/>
                  </a:lnTo>
                  <a:lnTo>
                    <a:pt x="35718" y="210294"/>
                  </a:lnTo>
                  <a:lnTo>
                    <a:pt x="39737" y="214312"/>
                  </a:lnTo>
                  <a:lnTo>
                    <a:pt x="277769" y="214312"/>
                  </a:lnTo>
                  <a:lnTo>
                    <a:pt x="285750" y="222293"/>
                  </a:lnTo>
                  <a:lnTo>
                    <a:pt x="285750" y="242050"/>
                  </a:lnTo>
                  <a:lnTo>
                    <a:pt x="277769" y="250031"/>
                  </a:lnTo>
                  <a:close/>
                </a:path>
                <a:path w="285750" h="250189">
                  <a:moveTo>
                    <a:pt x="229213" y="99733"/>
                  </a:moveTo>
                  <a:lnTo>
                    <a:pt x="178593" y="99733"/>
                  </a:lnTo>
                  <a:lnTo>
                    <a:pt x="237362" y="40909"/>
                  </a:lnTo>
                  <a:lnTo>
                    <a:pt x="243274" y="36984"/>
                  </a:lnTo>
                  <a:lnTo>
                    <a:pt x="250003" y="35676"/>
                  </a:lnTo>
                  <a:lnTo>
                    <a:pt x="256732" y="36984"/>
                  </a:lnTo>
                  <a:lnTo>
                    <a:pt x="262644" y="40909"/>
                  </a:lnTo>
                  <a:lnTo>
                    <a:pt x="266568" y="46821"/>
                  </a:lnTo>
                  <a:lnTo>
                    <a:pt x="267876" y="53550"/>
                  </a:lnTo>
                  <a:lnTo>
                    <a:pt x="266568" y="60278"/>
                  </a:lnTo>
                  <a:lnTo>
                    <a:pt x="262424" y="66523"/>
                  </a:lnTo>
                  <a:lnTo>
                    <a:pt x="229213" y="99733"/>
                  </a:lnTo>
                  <a:close/>
                </a:path>
                <a:path w="285750" h="250189">
                  <a:moveTo>
                    <a:pt x="71409" y="160720"/>
                  </a:moveTo>
                  <a:lnTo>
                    <a:pt x="64680" y="159412"/>
                  </a:lnTo>
                  <a:lnTo>
                    <a:pt x="58768" y="155488"/>
                  </a:lnTo>
                  <a:lnTo>
                    <a:pt x="54844" y="149575"/>
                  </a:lnTo>
                  <a:lnTo>
                    <a:pt x="53536" y="142847"/>
                  </a:lnTo>
                  <a:lnTo>
                    <a:pt x="54844" y="136118"/>
                  </a:lnTo>
                  <a:lnTo>
                    <a:pt x="58768" y="130206"/>
                  </a:lnTo>
                  <a:lnTo>
                    <a:pt x="121276" y="67698"/>
                  </a:lnTo>
                  <a:lnTo>
                    <a:pt x="127188" y="63774"/>
                  </a:lnTo>
                  <a:lnTo>
                    <a:pt x="133917" y="62465"/>
                  </a:lnTo>
                  <a:lnTo>
                    <a:pt x="140646" y="63774"/>
                  </a:lnTo>
                  <a:lnTo>
                    <a:pt x="146558" y="67698"/>
                  </a:lnTo>
                  <a:lnTo>
                    <a:pt x="178593" y="99733"/>
                  </a:lnTo>
                  <a:lnTo>
                    <a:pt x="229213" y="99733"/>
                  </a:lnTo>
                  <a:lnTo>
                    <a:pt x="223297" y="105649"/>
                  </a:lnTo>
                  <a:lnTo>
                    <a:pt x="133945" y="105649"/>
                  </a:lnTo>
                  <a:lnTo>
                    <a:pt x="84050" y="155488"/>
                  </a:lnTo>
                  <a:lnTo>
                    <a:pt x="78138" y="159412"/>
                  </a:lnTo>
                  <a:lnTo>
                    <a:pt x="71409" y="160720"/>
                  </a:lnTo>
                  <a:close/>
                </a:path>
                <a:path w="285750" h="250189">
                  <a:moveTo>
                    <a:pt x="178980" y="142847"/>
                  </a:moveTo>
                  <a:lnTo>
                    <a:pt x="178262" y="142847"/>
                  </a:lnTo>
                  <a:lnTo>
                    <a:pt x="171892" y="141608"/>
                  </a:lnTo>
                  <a:lnTo>
                    <a:pt x="165980" y="137684"/>
                  </a:lnTo>
                  <a:lnTo>
                    <a:pt x="133945" y="105649"/>
                  </a:lnTo>
                  <a:lnTo>
                    <a:pt x="223297" y="105649"/>
                  </a:lnTo>
                  <a:lnTo>
                    <a:pt x="191262" y="137684"/>
                  </a:lnTo>
                  <a:lnTo>
                    <a:pt x="185350" y="141608"/>
                  </a:lnTo>
                  <a:lnTo>
                    <a:pt x="178980" y="14284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791942" y="6543765"/>
            <a:ext cx="178879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Growth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Rate</a:t>
            </a:r>
            <a:endParaRPr sz="135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Percentage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increase</a:t>
            </a:r>
            <a:r>
              <a:rPr sz="10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over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202020"/>
                </a:solidFill>
                <a:latin typeface="Segoe UI"/>
                <a:cs typeface="Segoe UI"/>
              </a:rPr>
              <a:t>time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70860" y="6543765"/>
            <a:ext cx="187007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Table</a:t>
            </a:r>
            <a:r>
              <a:rPr sz="1350" b="1" spc="-4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Size</a:t>
            </a:r>
            <a:endParaRPr sz="135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Individual table storage 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metrics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991599" y="6105524"/>
            <a:ext cx="2667000" cy="1047750"/>
            <a:chOff x="8991599" y="6105524"/>
            <a:chExt cx="2667000" cy="1047750"/>
          </a:xfrm>
        </p:grpSpPr>
        <p:sp>
          <p:nvSpPr>
            <p:cNvPr id="35" name="object 35"/>
            <p:cNvSpPr/>
            <p:nvPr/>
          </p:nvSpPr>
          <p:spPr>
            <a:xfrm>
              <a:off x="8991599" y="6105524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2595802" y="1047749"/>
                  </a:moveTo>
                  <a:lnTo>
                    <a:pt x="71196" y="1047749"/>
                  </a:lnTo>
                  <a:lnTo>
                    <a:pt x="66240" y="1047260"/>
                  </a:lnTo>
                  <a:lnTo>
                    <a:pt x="29703" y="1032127"/>
                  </a:lnTo>
                  <a:lnTo>
                    <a:pt x="3885" y="996086"/>
                  </a:lnTo>
                  <a:lnTo>
                    <a:pt x="0" y="976553"/>
                  </a:lnTo>
                  <a:lnTo>
                    <a:pt x="0" y="971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2595802" y="0"/>
                  </a:lnTo>
                  <a:lnTo>
                    <a:pt x="2637293" y="15621"/>
                  </a:lnTo>
                  <a:lnTo>
                    <a:pt x="2663111" y="51661"/>
                  </a:lnTo>
                  <a:lnTo>
                    <a:pt x="2666998" y="71196"/>
                  </a:lnTo>
                  <a:lnTo>
                    <a:pt x="2666998" y="976553"/>
                  </a:lnTo>
                  <a:lnTo>
                    <a:pt x="2651376" y="1018043"/>
                  </a:lnTo>
                  <a:lnTo>
                    <a:pt x="2615336" y="1043863"/>
                  </a:lnTo>
                  <a:lnTo>
                    <a:pt x="2600757" y="1047260"/>
                  </a:lnTo>
                  <a:lnTo>
                    <a:pt x="2595802" y="1047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20324" y="6219824"/>
              <a:ext cx="214629" cy="285750"/>
            </a:xfrm>
            <a:custGeom>
              <a:avLst/>
              <a:gdLst/>
              <a:ahLst/>
              <a:cxnLst/>
              <a:rect l="l" t="t" r="r" b="b"/>
              <a:pathLst>
                <a:path w="214629" h="285750">
                  <a:moveTo>
                    <a:pt x="178593" y="285750"/>
                  </a:moveTo>
                  <a:lnTo>
                    <a:pt x="35718" y="285750"/>
                  </a:lnTo>
                  <a:lnTo>
                    <a:pt x="21826" y="282939"/>
                  </a:lnTo>
                  <a:lnTo>
                    <a:pt x="10471" y="275278"/>
                  </a:lnTo>
                  <a:lnTo>
                    <a:pt x="2810" y="263923"/>
                  </a:lnTo>
                  <a:lnTo>
                    <a:pt x="0" y="250031"/>
                  </a:lnTo>
                  <a:lnTo>
                    <a:pt x="0" y="35718"/>
                  </a:lnTo>
                  <a:lnTo>
                    <a:pt x="2810" y="21826"/>
                  </a:lnTo>
                  <a:lnTo>
                    <a:pt x="10471" y="10471"/>
                  </a:lnTo>
                  <a:lnTo>
                    <a:pt x="21826" y="2810"/>
                  </a:lnTo>
                  <a:lnTo>
                    <a:pt x="35718" y="0"/>
                  </a:lnTo>
                  <a:lnTo>
                    <a:pt x="125015" y="0"/>
                  </a:lnTo>
                  <a:lnTo>
                    <a:pt x="125015" y="81315"/>
                  </a:lnTo>
                  <a:lnTo>
                    <a:pt x="132996" y="89296"/>
                  </a:lnTo>
                  <a:lnTo>
                    <a:pt x="214312" y="89296"/>
                  </a:lnTo>
                  <a:lnTo>
                    <a:pt x="214312" y="142875"/>
                  </a:lnTo>
                  <a:lnTo>
                    <a:pt x="57596" y="142875"/>
                  </a:lnTo>
                  <a:lnTo>
                    <a:pt x="53578" y="146893"/>
                  </a:lnTo>
                  <a:lnTo>
                    <a:pt x="53578" y="156716"/>
                  </a:lnTo>
                  <a:lnTo>
                    <a:pt x="57596" y="160734"/>
                  </a:lnTo>
                  <a:lnTo>
                    <a:pt x="214312" y="160734"/>
                  </a:lnTo>
                  <a:lnTo>
                    <a:pt x="214312" y="178593"/>
                  </a:lnTo>
                  <a:lnTo>
                    <a:pt x="57596" y="178593"/>
                  </a:lnTo>
                  <a:lnTo>
                    <a:pt x="53578" y="182612"/>
                  </a:lnTo>
                  <a:lnTo>
                    <a:pt x="53578" y="192434"/>
                  </a:lnTo>
                  <a:lnTo>
                    <a:pt x="57596" y="196453"/>
                  </a:lnTo>
                  <a:lnTo>
                    <a:pt x="214312" y="196453"/>
                  </a:lnTo>
                  <a:lnTo>
                    <a:pt x="214312" y="214312"/>
                  </a:lnTo>
                  <a:lnTo>
                    <a:pt x="57596" y="214312"/>
                  </a:lnTo>
                  <a:lnTo>
                    <a:pt x="53578" y="218330"/>
                  </a:lnTo>
                  <a:lnTo>
                    <a:pt x="53578" y="228153"/>
                  </a:lnTo>
                  <a:lnTo>
                    <a:pt x="57596" y="232171"/>
                  </a:lnTo>
                  <a:lnTo>
                    <a:pt x="214312" y="232171"/>
                  </a:lnTo>
                  <a:lnTo>
                    <a:pt x="214312" y="250031"/>
                  </a:lnTo>
                  <a:lnTo>
                    <a:pt x="211501" y="263923"/>
                  </a:lnTo>
                  <a:lnTo>
                    <a:pt x="203841" y="275278"/>
                  </a:lnTo>
                  <a:lnTo>
                    <a:pt x="192486" y="282939"/>
                  </a:lnTo>
                  <a:lnTo>
                    <a:pt x="178593" y="285750"/>
                  </a:lnTo>
                  <a:close/>
                </a:path>
                <a:path w="214629" h="285750">
                  <a:moveTo>
                    <a:pt x="214312" y="71437"/>
                  </a:moveTo>
                  <a:lnTo>
                    <a:pt x="142875" y="71437"/>
                  </a:lnTo>
                  <a:lnTo>
                    <a:pt x="142875" y="0"/>
                  </a:lnTo>
                  <a:lnTo>
                    <a:pt x="214312" y="71437"/>
                  </a:lnTo>
                  <a:close/>
                </a:path>
                <a:path w="214629" h="285750">
                  <a:moveTo>
                    <a:pt x="214312" y="160734"/>
                  </a:moveTo>
                  <a:lnTo>
                    <a:pt x="156716" y="160734"/>
                  </a:lnTo>
                  <a:lnTo>
                    <a:pt x="160734" y="156716"/>
                  </a:lnTo>
                  <a:lnTo>
                    <a:pt x="160734" y="146893"/>
                  </a:lnTo>
                  <a:lnTo>
                    <a:pt x="156716" y="142875"/>
                  </a:lnTo>
                  <a:lnTo>
                    <a:pt x="214312" y="142875"/>
                  </a:lnTo>
                  <a:lnTo>
                    <a:pt x="214312" y="160734"/>
                  </a:lnTo>
                  <a:close/>
                </a:path>
                <a:path w="214629" h="285750">
                  <a:moveTo>
                    <a:pt x="214312" y="196453"/>
                  </a:moveTo>
                  <a:lnTo>
                    <a:pt x="156716" y="196453"/>
                  </a:lnTo>
                  <a:lnTo>
                    <a:pt x="160734" y="192434"/>
                  </a:lnTo>
                  <a:lnTo>
                    <a:pt x="160734" y="182612"/>
                  </a:lnTo>
                  <a:lnTo>
                    <a:pt x="156716" y="178593"/>
                  </a:lnTo>
                  <a:lnTo>
                    <a:pt x="214312" y="178593"/>
                  </a:lnTo>
                  <a:lnTo>
                    <a:pt x="214312" y="196453"/>
                  </a:lnTo>
                  <a:close/>
                </a:path>
                <a:path w="214629" h="285750">
                  <a:moveTo>
                    <a:pt x="214312" y="232171"/>
                  </a:moveTo>
                  <a:lnTo>
                    <a:pt x="156716" y="232171"/>
                  </a:lnTo>
                  <a:lnTo>
                    <a:pt x="160734" y="228153"/>
                  </a:lnTo>
                  <a:lnTo>
                    <a:pt x="160734" y="218330"/>
                  </a:lnTo>
                  <a:lnTo>
                    <a:pt x="156716" y="214312"/>
                  </a:lnTo>
                  <a:lnTo>
                    <a:pt x="214312" y="214312"/>
                  </a:lnTo>
                  <a:lnTo>
                    <a:pt x="214312" y="232171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418389" y="6543765"/>
            <a:ext cx="1813560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Log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Growth</a:t>
            </a:r>
            <a:endParaRPr sz="135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Transaction</a:t>
            </a:r>
            <a:r>
              <a:rPr sz="10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log</a:t>
            </a:r>
            <a:r>
              <a:rPr sz="10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expansion</a:t>
            </a:r>
            <a:r>
              <a:rPr sz="10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202020"/>
                </a:solidFill>
                <a:latin typeface="Segoe UI"/>
                <a:cs typeface="Segoe UI"/>
              </a:rPr>
              <a:t>rate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7799" y="7253851"/>
            <a:ext cx="251015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Automated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Database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Segoe UI"/>
                <a:cs typeface="Segoe UI"/>
              </a:rPr>
              <a:t>System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0"/>
            <a:ext cx="11734800" cy="6858000"/>
            <a:chOff x="457199" y="0"/>
            <a:chExt cx="11734800" cy="6858000"/>
          </a:xfrm>
        </p:grpSpPr>
        <p:sp>
          <p:nvSpPr>
            <p:cNvPr id="3" name="object 3"/>
            <p:cNvSpPr/>
            <p:nvPr/>
          </p:nvSpPr>
          <p:spPr>
            <a:xfrm>
              <a:off x="457199" y="6095999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112775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277599" y="0"/>
                  </a:lnTo>
                  <a:lnTo>
                    <a:pt x="11277599" y="952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187" y="1295411"/>
              <a:ext cx="28575" cy="4286250"/>
            </a:xfrm>
            <a:custGeom>
              <a:avLst/>
              <a:gdLst/>
              <a:ahLst/>
              <a:cxnLst/>
              <a:rect l="l" t="t" r="r" b="b"/>
              <a:pathLst>
                <a:path w="28575" h="4286250">
                  <a:moveTo>
                    <a:pt x="28575" y="3371850"/>
                  </a:moveTo>
                  <a:lnTo>
                    <a:pt x="0" y="3371850"/>
                  </a:lnTo>
                  <a:lnTo>
                    <a:pt x="0" y="4286250"/>
                  </a:lnTo>
                  <a:lnTo>
                    <a:pt x="28575" y="4286250"/>
                  </a:lnTo>
                  <a:lnTo>
                    <a:pt x="28575" y="3371850"/>
                  </a:lnTo>
                  <a:close/>
                </a:path>
                <a:path w="28575" h="4286250">
                  <a:moveTo>
                    <a:pt x="28575" y="2247900"/>
                  </a:moveTo>
                  <a:lnTo>
                    <a:pt x="0" y="2247900"/>
                  </a:lnTo>
                  <a:lnTo>
                    <a:pt x="0" y="3162300"/>
                  </a:lnTo>
                  <a:lnTo>
                    <a:pt x="28575" y="3162300"/>
                  </a:lnTo>
                  <a:lnTo>
                    <a:pt x="28575" y="2247900"/>
                  </a:lnTo>
                  <a:close/>
                </a:path>
                <a:path w="28575" h="4286250">
                  <a:moveTo>
                    <a:pt x="28575" y="1123950"/>
                  </a:moveTo>
                  <a:lnTo>
                    <a:pt x="0" y="1123950"/>
                  </a:lnTo>
                  <a:lnTo>
                    <a:pt x="0" y="2038350"/>
                  </a:lnTo>
                  <a:lnTo>
                    <a:pt x="28575" y="2038350"/>
                  </a:lnTo>
                  <a:lnTo>
                    <a:pt x="28575" y="1123950"/>
                  </a:lnTo>
                  <a:close/>
                </a:path>
                <a:path w="28575" h="4286250">
                  <a:moveTo>
                    <a:pt x="2857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8575" y="9144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15424" y="1885949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514349" y="1028699"/>
                  </a:moveTo>
                  <a:lnTo>
                    <a:pt x="463934" y="1026223"/>
                  </a:lnTo>
                  <a:lnTo>
                    <a:pt x="414004" y="1018816"/>
                  </a:lnTo>
                  <a:lnTo>
                    <a:pt x="365041" y="1006552"/>
                  </a:lnTo>
                  <a:lnTo>
                    <a:pt x="317515" y="989547"/>
                  </a:lnTo>
                  <a:lnTo>
                    <a:pt x="271886" y="967965"/>
                  </a:lnTo>
                  <a:lnTo>
                    <a:pt x="228591" y="942015"/>
                  </a:lnTo>
                  <a:lnTo>
                    <a:pt x="188049" y="911947"/>
                  </a:lnTo>
                  <a:lnTo>
                    <a:pt x="150648" y="878050"/>
                  </a:lnTo>
                  <a:lnTo>
                    <a:pt x="116751" y="840649"/>
                  </a:lnTo>
                  <a:lnTo>
                    <a:pt x="86682" y="800107"/>
                  </a:lnTo>
                  <a:lnTo>
                    <a:pt x="60733" y="756812"/>
                  </a:lnTo>
                  <a:lnTo>
                    <a:pt x="39151" y="711182"/>
                  </a:lnTo>
                  <a:lnTo>
                    <a:pt x="22147" y="663657"/>
                  </a:lnTo>
                  <a:lnTo>
                    <a:pt x="9882" y="614694"/>
                  </a:lnTo>
                  <a:lnTo>
                    <a:pt x="2477" y="564764"/>
                  </a:lnTo>
                  <a:lnTo>
                    <a:pt x="0" y="514349"/>
                  </a:lnTo>
                  <a:lnTo>
                    <a:pt x="155" y="501723"/>
                  </a:lnTo>
                  <a:lnTo>
                    <a:pt x="3868" y="451384"/>
                  </a:lnTo>
                  <a:lnTo>
                    <a:pt x="12497" y="401651"/>
                  </a:lnTo>
                  <a:lnTo>
                    <a:pt x="25961" y="353003"/>
                  </a:lnTo>
                  <a:lnTo>
                    <a:pt x="44127" y="305910"/>
                  </a:lnTo>
                  <a:lnTo>
                    <a:pt x="66821" y="260824"/>
                  </a:lnTo>
                  <a:lnTo>
                    <a:pt x="93826" y="218179"/>
                  </a:lnTo>
                  <a:lnTo>
                    <a:pt x="124881" y="178387"/>
                  </a:lnTo>
                  <a:lnTo>
                    <a:pt x="159686" y="141830"/>
                  </a:lnTo>
                  <a:lnTo>
                    <a:pt x="197907" y="108861"/>
                  </a:lnTo>
                  <a:lnTo>
                    <a:pt x="239175" y="79797"/>
                  </a:lnTo>
                  <a:lnTo>
                    <a:pt x="283095" y="54918"/>
                  </a:lnTo>
                  <a:lnTo>
                    <a:pt x="329240" y="34463"/>
                  </a:lnTo>
                  <a:lnTo>
                    <a:pt x="377169" y="18630"/>
                  </a:lnTo>
                  <a:lnTo>
                    <a:pt x="426418" y="7571"/>
                  </a:lnTo>
                  <a:lnTo>
                    <a:pt x="476516" y="1393"/>
                  </a:lnTo>
                  <a:lnTo>
                    <a:pt x="514349" y="0"/>
                  </a:lnTo>
                  <a:lnTo>
                    <a:pt x="526976" y="154"/>
                  </a:lnTo>
                  <a:lnTo>
                    <a:pt x="577314" y="3868"/>
                  </a:lnTo>
                  <a:lnTo>
                    <a:pt x="627046" y="12498"/>
                  </a:lnTo>
                  <a:lnTo>
                    <a:pt x="675694" y="25961"/>
                  </a:lnTo>
                  <a:lnTo>
                    <a:pt x="722787" y="44127"/>
                  </a:lnTo>
                  <a:lnTo>
                    <a:pt x="767873" y="66822"/>
                  </a:lnTo>
                  <a:lnTo>
                    <a:pt x="810518" y="93827"/>
                  </a:lnTo>
                  <a:lnTo>
                    <a:pt x="850311" y="124882"/>
                  </a:lnTo>
                  <a:lnTo>
                    <a:pt x="886868" y="159687"/>
                  </a:lnTo>
                  <a:lnTo>
                    <a:pt x="919837" y="197908"/>
                  </a:lnTo>
                  <a:lnTo>
                    <a:pt x="948900" y="239176"/>
                  </a:lnTo>
                  <a:lnTo>
                    <a:pt x="973779" y="283095"/>
                  </a:lnTo>
                  <a:lnTo>
                    <a:pt x="994234" y="329241"/>
                  </a:lnTo>
                  <a:lnTo>
                    <a:pt x="1010067" y="377169"/>
                  </a:lnTo>
                  <a:lnTo>
                    <a:pt x="1021127" y="426419"/>
                  </a:lnTo>
                  <a:lnTo>
                    <a:pt x="1027306" y="476515"/>
                  </a:lnTo>
                  <a:lnTo>
                    <a:pt x="1028699" y="514349"/>
                  </a:lnTo>
                  <a:lnTo>
                    <a:pt x="1028545" y="526976"/>
                  </a:lnTo>
                  <a:lnTo>
                    <a:pt x="1024831" y="577315"/>
                  </a:lnTo>
                  <a:lnTo>
                    <a:pt x="1016200" y="627047"/>
                  </a:lnTo>
                  <a:lnTo>
                    <a:pt x="1002738" y="675695"/>
                  </a:lnTo>
                  <a:lnTo>
                    <a:pt x="984570" y="722788"/>
                  </a:lnTo>
                  <a:lnTo>
                    <a:pt x="961875" y="767875"/>
                  </a:lnTo>
                  <a:lnTo>
                    <a:pt x="934871" y="810519"/>
                  </a:lnTo>
                  <a:lnTo>
                    <a:pt x="903816" y="850312"/>
                  </a:lnTo>
                  <a:lnTo>
                    <a:pt x="869011" y="886869"/>
                  </a:lnTo>
                  <a:lnTo>
                    <a:pt x="830790" y="919838"/>
                  </a:lnTo>
                  <a:lnTo>
                    <a:pt x="789520" y="948902"/>
                  </a:lnTo>
                  <a:lnTo>
                    <a:pt x="745602" y="973781"/>
                  </a:lnTo>
                  <a:lnTo>
                    <a:pt x="699456" y="994236"/>
                  </a:lnTo>
                  <a:lnTo>
                    <a:pt x="651529" y="1010069"/>
                  </a:lnTo>
                  <a:lnTo>
                    <a:pt x="602279" y="1021128"/>
                  </a:lnTo>
                  <a:lnTo>
                    <a:pt x="552183" y="1027306"/>
                  </a:lnTo>
                  <a:lnTo>
                    <a:pt x="514349" y="1028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44024" y="2150268"/>
              <a:ext cx="571500" cy="500380"/>
            </a:xfrm>
            <a:custGeom>
              <a:avLst/>
              <a:gdLst/>
              <a:ahLst/>
              <a:cxnLst/>
              <a:rect l="l" t="t" r="r" b="b"/>
              <a:pathLst>
                <a:path w="571500" h="500380">
                  <a:moveTo>
                    <a:pt x="535781" y="500062"/>
                  </a:moveTo>
                  <a:lnTo>
                    <a:pt x="89296" y="500062"/>
                  </a:lnTo>
                  <a:lnTo>
                    <a:pt x="54530" y="493047"/>
                  </a:lnTo>
                  <a:lnTo>
                    <a:pt x="26147" y="473915"/>
                  </a:lnTo>
                  <a:lnTo>
                    <a:pt x="7014" y="445532"/>
                  </a:lnTo>
                  <a:lnTo>
                    <a:pt x="0" y="410765"/>
                  </a:lnTo>
                  <a:lnTo>
                    <a:pt x="0" y="35718"/>
                  </a:lnTo>
                  <a:lnTo>
                    <a:pt x="2802" y="21802"/>
                  </a:lnTo>
                  <a:lnTo>
                    <a:pt x="10450" y="10450"/>
                  </a:lnTo>
                  <a:lnTo>
                    <a:pt x="21802" y="2802"/>
                  </a:lnTo>
                  <a:lnTo>
                    <a:pt x="35718" y="0"/>
                  </a:lnTo>
                  <a:lnTo>
                    <a:pt x="49634" y="2802"/>
                  </a:lnTo>
                  <a:lnTo>
                    <a:pt x="60986" y="10450"/>
                  </a:lnTo>
                  <a:lnTo>
                    <a:pt x="68634" y="21802"/>
                  </a:lnTo>
                  <a:lnTo>
                    <a:pt x="71437" y="35718"/>
                  </a:lnTo>
                  <a:lnTo>
                    <a:pt x="71437" y="420588"/>
                  </a:lnTo>
                  <a:lnTo>
                    <a:pt x="79474" y="428625"/>
                  </a:lnTo>
                  <a:lnTo>
                    <a:pt x="535781" y="428625"/>
                  </a:lnTo>
                  <a:lnTo>
                    <a:pt x="549697" y="431427"/>
                  </a:lnTo>
                  <a:lnTo>
                    <a:pt x="561049" y="439075"/>
                  </a:lnTo>
                  <a:lnTo>
                    <a:pt x="568697" y="450427"/>
                  </a:lnTo>
                  <a:lnTo>
                    <a:pt x="571500" y="464343"/>
                  </a:lnTo>
                  <a:lnTo>
                    <a:pt x="568697" y="478259"/>
                  </a:lnTo>
                  <a:lnTo>
                    <a:pt x="561049" y="489611"/>
                  </a:lnTo>
                  <a:lnTo>
                    <a:pt x="549697" y="497259"/>
                  </a:lnTo>
                  <a:lnTo>
                    <a:pt x="535781" y="500062"/>
                  </a:lnTo>
                  <a:close/>
                </a:path>
                <a:path w="571500" h="500380">
                  <a:moveTo>
                    <a:pt x="458427" y="199466"/>
                  </a:moveTo>
                  <a:lnTo>
                    <a:pt x="357187" y="199466"/>
                  </a:lnTo>
                  <a:lnTo>
                    <a:pt x="474724" y="81818"/>
                  </a:lnTo>
                  <a:lnTo>
                    <a:pt x="486549" y="73969"/>
                  </a:lnTo>
                  <a:lnTo>
                    <a:pt x="500006" y="71353"/>
                  </a:lnTo>
                  <a:lnTo>
                    <a:pt x="513464" y="73969"/>
                  </a:lnTo>
                  <a:lnTo>
                    <a:pt x="525288" y="81818"/>
                  </a:lnTo>
                  <a:lnTo>
                    <a:pt x="533137" y="93643"/>
                  </a:lnTo>
                  <a:lnTo>
                    <a:pt x="535753" y="107100"/>
                  </a:lnTo>
                  <a:lnTo>
                    <a:pt x="533137" y="120557"/>
                  </a:lnTo>
                  <a:lnTo>
                    <a:pt x="524848" y="133046"/>
                  </a:lnTo>
                  <a:lnTo>
                    <a:pt x="458427" y="199466"/>
                  </a:lnTo>
                  <a:close/>
                </a:path>
                <a:path w="571500" h="500380">
                  <a:moveTo>
                    <a:pt x="142819" y="321440"/>
                  </a:moveTo>
                  <a:lnTo>
                    <a:pt x="109688" y="299151"/>
                  </a:lnTo>
                  <a:lnTo>
                    <a:pt x="107072" y="285694"/>
                  </a:lnTo>
                  <a:lnTo>
                    <a:pt x="109688" y="272236"/>
                  </a:lnTo>
                  <a:lnTo>
                    <a:pt x="117537" y="260412"/>
                  </a:lnTo>
                  <a:lnTo>
                    <a:pt x="242552" y="135396"/>
                  </a:lnTo>
                  <a:lnTo>
                    <a:pt x="254377" y="127548"/>
                  </a:lnTo>
                  <a:lnTo>
                    <a:pt x="267834" y="124931"/>
                  </a:lnTo>
                  <a:lnTo>
                    <a:pt x="281292" y="127548"/>
                  </a:lnTo>
                  <a:lnTo>
                    <a:pt x="293117" y="135396"/>
                  </a:lnTo>
                  <a:lnTo>
                    <a:pt x="357187" y="199466"/>
                  </a:lnTo>
                  <a:lnTo>
                    <a:pt x="458427" y="199466"/>
                  </a:lnTo>
                  <a:lnTo>
                    <a:pt x="446595" y="211298"/>
                  </a:lnTo>
                  <a:lnTo>
                    <a:pt x="267890" y="211298"/>
                  </a:lnTo>
                  <a:lnTo>
                    <a:pt x="168101" y="310976"/>
                  </a:lnTo>
                  <a:lnTo>
                    <a:pt x="156276" y="318824"/>
                  </a:lnTo>
                  <a:lnTo>
                    <a:pt x="142819" y="321440"/>
                  </a:lnTo>
                  <a:close/>
                </a:path>
                <a:path w="571500" h="500380">
                  <a:moveTo>
                    <a:pt x="357243" y="285833"/>
                  </a:moveTo>
                  <a:lnTo>
                    <a:pt x="343785" y="283217"/>
                  </a:lnTo>
                  <a:lnTo>
                    <a:pt x="331961" y="275369"/>
                  </a:lnTo>
                  <a:lnTo>
                    <a:pt x="267890" y="211298"/>
                  </a:lnTo>
                  <a:lnTo>
                    <a:pt x="446595" y="211298"/>
                  </a:lnTo>
                  <a:lnTo>
                    <a:pt x="382525" y="275369"/>
                  </a:lnTo>
                  <a:lnTo>
                    <a:pt x="370700" y="283217"/>
                  </a:lnTo>
                  <a:lnTo>
                    <a:pt x="357243" y="285833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24749" y="3638550"/>
              <a:ext cx="4210050" cy="1562100"/>
            </a:xfrm>
            <a:custGeom>
              <a:avLst/>
              <a:gdLst/>
              <a:ahLst/>
              <a:cxnLst/>
              <a:rect l="l" t="t" r="r" b="b"/>
              <a:pathLst>
                <a:path w="4210050" h="1562100">
                  <a:moveTo>
                    <a:pt x="4138853" y="1562099"/>
                  </a:moveTo>
                  <a:lnTo>
                    <a:pt x="71196" y="1562099"/>
                  </a:lnTo>
                  <a:lnTo>
                    <a:pt x="66241" y="1561611"/>
                  </a:lnTo>
                  <a:lnTo>
                    <a:pt x="29704" y="1546477"/>
                  </a:lnTo>
                  <a:lnTo>
                    <a:pt x="3885" y="1510437"/>
                  </a:lnTo>
                  <a:lnTo>
                    <a:pt x="0" y="1490902"/>
                  </a:lnTo>
                  <a:lnTo>
                    <a:pt x="0" y="148589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4138853" y="0"/>
                  </a:lnTo>
                  <a:lnTo>
                    <a:pt x="4180342" y="15621"/>
                  </a:lnTo>
                  <a:lnTo>
                    <a:pt x="4206163" y="51661"/>
                  </a:lnTo>
                  <a:lnTo>
                    <a:pt x="4210050" y="71196"/>
                  </a:lnTo>
                  <a:lnTo>
                    <a:pt x="4210050" y="1490902"/>
                  </a:lnTo>
                  <a:lnTo>
                    <a:pt x="4194426" y="1532393"/>
                  </a:lnTo>
                  <a:lnTo>
                    <a:pt x="4158387" y="1558213"/>
                  </a:lnTo>
                  <a:lnTo>
                    <a:pt x="4143808" y="1561611"/>
                  </a:lnTo>
                  <a:lnTo>
                    <a:pt x="4138853" y="15620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4713" y="4219575"/>
              <a:ext cx="153471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49" y="4514850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8702" y="4819649"/>
              <a:ext cx="87600" cy="152399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Monitor</a:t>
            </a:r>
            <a:r>
              <a:rPr spc="-40" dirty="0"/>
              <a:t> </a:t>
            </a:r>
            <a:r>
              <a:rPr dirty="0"/>
              <a:t>Database</a:t>
            </a:r>
            <a:r>
              <a:rPr spc="-40" dirty="0"/>
              <a:t> </a:t>
            </a:r>
            <a:r>
              <a:rPr spc="-10" dirty="0"/>
              <a:t>Growth?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5474" y="1146810"/>
            <a:ext cx="6051550" cy="10433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Performance</a:t>
            </a:r>
            <a:r>
              <a:rPr sz="1800" b="1" spc="-12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Optimization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29600"/>
              </a:lnSpc>
              <a:spcBef>
                <a:spcPts val="434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Uncontrolled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leads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degradation,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longer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query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execution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times,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reduced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application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responsiveness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474" y="2270760"/>
            <a:ext cx="5825490" cy="10433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Cost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Management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29600"/>
              </a:lnSpc>
              <a:spcBef>
                <a:spcPts val="434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Proactive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helps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optimize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utilization,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reduce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infrastructure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costs,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plan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capacity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effectively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474" y="3394710"/>
            <a:ext cx="5287010" cy="10433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Compliance</a:t>
            </a:r>
            <a:r>
              <a:rPr sz="1800" b="1" spc="-5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&amp;</a:t>
            </a:r>
            <a:r>
              <a:rPr sz="1800" b="1" spc="-5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Governance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29600"/>
              </a:lnSpc>
              <a:spcBef>
                <a:spcPts val="434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Meet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regulatory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requirements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retention,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ensure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lifecycle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management,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maintain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audit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trails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474" y="4518659"/>
            <a:ext cx="5685790" cy="10433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Risk</a:t>
            </a:r>
            <a:r>
              <a:rPr sz="1800" b="1" spc="-3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Mitigation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29600"/>
              </a:lnSpc>
              <a:spcBef>
                <a:spcPts val="434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Prevent</a:t>
            </a:r>
            <a:r>
              <a:rPr sz="13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3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outages, reduce</a:t>
            </a:r>
            <a:r>
              <a:rPr sz="13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backup/restore times,</a:t>
            </a:r>
            <a:r>
              <a:rPr sz="13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 ensure</a:t>
            </a:r>
            <a:r>
              <a:rPr sz="135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business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continuity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through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predictable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patterns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5796" y="3082925"/>
            <a:ext cx="14319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Real-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World</a:t>
            </a:r>
            <a:r>
              <a:rPr sz="1350" spc="-8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Impact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7720" y="3835400"/>
            <a:ext cx="3369310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344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Database</a:t>
            </a:r>
            <a:r>
              <a:rPr sz="1200" b="1" spc="-5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Growth</a:t>
            </a:r>
            <a:r>
              <a:rPr sz="1200" b="1" spc="-5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Patterns</a:t>
            </a:r>
            <a:endParaRPr sz="1200">
              <a:latin typeface="Segoe UI Semibold"/>
              <a:cs typeface="Segoe UI Semibold"/>
            </a:endParaRPr>
          </a:p>
          <a:p>
            <a:pPr marL="69215" marR="5080">
              <a:lnSpc>
                <a:spcPct val="166700"/>
              </a:lnSpc>
              <a:spcBef>
                <a:spcPts val="3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Unmonitored: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30-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50%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unexpected growth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spikes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Monitored: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Predictable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10-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15%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25%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reduction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in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costs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when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monitored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7454" y="6353187"/>
            <a:ext cx="9211945" cy="266700"/>
          </a:xfrm>
          <a:custGeom>
            <a:avLst/>
            <a:gdLst/>
            <a:ahLst/>
            <a:cxnLst/>
            <a:rect l="l" t="t" r="r" b="b"/>
            <a:pathLst>
              <a:path w="9211945" h="266700">
                <a:moveTo>
                  <a:pt x="266179" y="124460"/>
                </a:moveTo>
                <a:lnTo>
                  <a:pt x="265798" y="119380"/>
                </a:lnTo>
                <a:lnTo>
                  <a:pt x="265315" y="115570"/>
                </a:lnTo>
                <a:lnTo>
                  <a:pt x="264998" y="113030"/>
                </a:lnTo>
                <a:lnTo>
                  <a:pt x="253631" y="76200"/>
                </a:lnTo>
                <a:lnTo>
                  <a:pt x="250698" y="69850"/>
                </a:lnTo>
                <a:lnTo>
                  <a:pt x="247472" y="64770"/>
                </a:lnTo>
                <a:lnTo>
                  <a:pt x="243967" y="58420"/>
                </a:lnTo>
                <a:lnTo>
                  <a:pt x="240195" y="53340"/>
                </a:lnTo>
                <a:lnTo>
                  <a:pt x="236169" y="48260"/>
                </a:lnTo>
                <a:lnTo>
                  <a:pt x="233095" y="44602"/>
                </a:lnTo>
                <a:lnTo>
                  <a:pt x="233095" y="130810"/>
                </a:lnTo>
                <a:lnTo>
                  <a:pt x="233095" y="134620"/>
                </a:lnTo>
                <a:lnTo>
                  <a:pt x="220764" y="148590"/>
                </a:lnTo>
                <a:lnTo>
                  <a:pt x="218643" y="149860"/>
                </a:lnTo>
                <a:lnTo>
                  <a:pt x="214223" y="149860"/>
                </a:lnTo>
                <a:lnTo>
                  <a:pt x="212102" y="148590"/>
                </a:lnTo>
                <a:lnTo>
                  <a:pt x="208013" y="147320"/>
                </a:lnTo>
                <a:lnTo>
                  <a:pt x="199758" y="134620"/>
                </a:lnTo>
                <a:lnTo>
                  <a:pt x="199758" y="130810"/>
                </a:lnTo>
                <a:lnTo>
                  <a:pt x="212102" y="116840"/>
                </a:lnTo>
                <a:lnTo>
                  <a:pt x="214223" y="115570"/>
                </a:lnTo>
                <a:lnTo>
                  <a:pt x="218643" y="115570"/>
                </a:lnTo>
                <a:lnTo>
                  <a:pt x="220764" y="116840"/>
                </a:lnTo>
                <a:lnTo>
                  <a:pt x="224853" y="118110"/>
                </a:lnTo>
                <a:lnTo>
                  <a:pt x="233095" y="130810"/>
                </a:lnTo>
                <a:lnTo>
                  <a:pt x="233095" y="44602"/>
                </a:lnTo>
                <a:lnTo>
                  <a:pt x="231902" y="43180"/>
                </a:lnTo>
                <a:lnTo>
                  <a:pt x="227380" y="38100"/>
                </a:lnTo>
                <a:lnTo>
                  <a:pt x="222631" y="34290"/>
                </a:lnTo>
                <a:lnTo>
                  <a:pt x="221399" y="33020"/>
                </a:lnTo>
                <a:lnTo>
                  <a:pt x="193154" y="14033"/>
                </a:lnTo>
                <a:lnTo>
                  <a:pt x="193154" y="77470"/>
                </a:lnTo>
                <a:lnTo>
                  <a:pt x="156997" y="160020"/>
                </a:lnTo>
                <a:lnTo>
                  <a:pt x="162826" y="165100"/>
                </a:lnTo>
                <a:lnTo>
                  <a:pt x="166420" y="173990"/>
                </a:lnTo>
                <a:lnTo>
                  <a:pt x="166420" y="182880"/>
                </a:lnTo>
                <a:lnTo>
                  <a:pt x="163804" y="195580"/>
                </a:lnTo>
                <a:lnTo>
                  <a:pt x="156654" y="205740"/>
                </a:lnTo>
                <a:lnTo>
                  <a:pt x="146050" y="213360"/>
                </a:lnTo>
                <a:lnTo>
                  <a:pt x="133083" y="215900"/>
                </a:lnTo>
                <a:lnTo>
                  <a:pt x="120129" y="213360"/>
                </a:lnTo>
                <a:lnTo>
                  <a:pt x="109524" y="205740"/>
                </a:lnTo>
                <a:lnTo>
                  <a:pt x="102374" y="195580"/>
                </a:lnTo>
                <a:lnTo>
                  <a:pt x="99745" y="182880"/>
                </a:lnTo>
                <a:lnTo>
                  <a:pt x="102374" y="170180"/>
                </a:lnTo>
                <a:lnTo>
                  <a:pt x="109524" y="158750"/>
                </a:lnTo>
                <a:lnTo>
                  <a:pt x="120129" y="152400"/>
                </a:lnTo>
                <a:lnTo>
                  <a:pt x="133083" y="149860"/>
                </a:lnTo>
                <a:lnTo>
                  <a:pt x="134073" y="149860"/>
                </a:lnTo>
                <a:lnTo>
                  <a:pt x="149123" y="115570"/>
                </a:lnTo>
                <a:lnTo>
                  <a:pt x="159715" y="91440"/>
                </a:lnTo>
                <a:lnTo>
                  <a:pt x="167525" y="73660"/>
                </a:lnTo>
                <a:lnTo>
                  <a:pt x="170281" y="67310"/>
                </a:lnTo>
                <a:lnTo>
                  <a:pt x="173977" y="66040"/>
                </a:lnTo>
                <a:lnTo>
                  <a:pt x="177673" y="64770"/>
                </a:lnTo>
                <a:lnTo>
                  <a:pt x="190284" y="69850"/>
                </a:lnTo>
                <a:lnTo>
                  <a:pt x="193154" y="77470"/>
                </a:lnTo>
                <a:lnTo>
                  <a:pt x="193154" y="14033"/>
                </a:lnTo>
                <a:lnTo>
                  <a:pt x="190106" y="12700"/>
                </a:lnTo>
                <a:lnTo>
                  <a:pt x="184124" y="8890"/>
                </a:lnTo>
                <a:lnTo>
                  <a:pt x="178003" y="7620"/>
                </a:lnTo>
                <a:lnTo>
                  <a:pt x="171805" y="5080"/>
                </a:lnTo>
                <a:lnTo>
                  <a:pt x="149758" y="723"/>
                </a:lnTo>
                <a:lnTo>
                  <a:pt x="149758" y="46990"/>
                </a:lnTo>
                <a:lnTo>
                  <a:pt x="149758" y="52070"/>
                </a:lnTo>
                <a:lnTo>
                  <a:pt x="147637" y="58420"/>
                </a:lnTo>
                <a:lnTo>
                  <a:pt x="146443" y="59690"/>
                </a:lnTo>
                <a:lnTo>
                  <a:pt x="143319" y="62230"/>
                </a:lnTo>
                <a:lnTo>
                  <a:pt x="141516" y="63500"/>
                </a:lnTo>
                <a:lnTo>
                  <a:pt x="137426" y="66040"/>
                </a:lnTo>
                <a:lnTo>
                  <a:pt x="128752" y="66040"/>
                </a:lnTo>
                <a:lnTo>
                  <a:pt x="116420" y="52070"/>
                </a:lnTo>
                <a:lnTo>
                  <a:pt x="116420" y="46990"/>
                </a:lnTo>
                <a:lnTo>
                  <a:pt x="116840" y="44450"/>
                </a:lnTo>
                <a:lnTo>
                  <a:pt x="118541" y="40640"/>
                </a:lnTo>
                <a:lnTo>
                  <a:pt x="119735" y="39370"/>
                </a:lnTo>
                <a:lnTo>
                  <a:pt x="122859" y="35560"/>
                </a:lnTo>
                <a:lnTo>
                  <a:pt x="124663" y="34290"/>
                </a:lnTo>
                <a:lnTo>
                  <a:pt x="128752" y="33020"/>
                </a:lnTo>
                <a:lnTo>
                  <a:pt x="137426" y="33020"/>
                </a:lnTo>
                <a:lnTo>
                  <a:pt x="141516" y="34290"/>
                </a:lnTo>
                <a:lnTo>
                  <a:pt x="143319" y="35560"/>
                </a:lnTo>
                <a:lnTo>
                  <a:pt x="146443" y="39370"/>
                </a:lnTo>
                <a:lnTo>
                  <a:pt x="147637" y="40640"/>
                </a:lnTo>
                <a:lnTo>
                  <a:pt x="149339" y="44450"/>
                </a:lnTo>
                <a:lnTo>
                  <a:pt x="149758" y="46990"/>
                </a:lnTo>
                <a:lnTo>
                  <a:pt x="149758" y="723"/>
                </a:lnTo>
                <a:lnTo>
                  <a:pt x="146164" y="0"/>
                </a:lnTo>
                <a:lnTo>
                  <a:pt x="120015" y="0"/>
                </a:lnTo>
                <a:lnTo>
                  <a:pt x="94373" y="5080"/>
                </a:lnTo>
                <a:lnTo>
                  <a:pt x="91414" y="6299"/>
                </a:lnTo>
                <a:lnTo>
                  <a:pt x="91414" y="72390"/>
                </a:lnTo>
                <a:lnTo>
                  <a:pt x="91414" y="76200"/>
                </a:lnTo>
                <a:lnTo>
                  <a:pt x="79082" y="90170"/>
                </a:lnTo>
                <a:lnTo>
                  <a:pt x="76962" y="91440"/>
                </a:lnTo>
                <a:lnTo>
                  <a:pt x="72542" y="91440"/>
                </a:lnTo>
                <a:lnTo>
                  <a:pt x="70408" y="90170"/>
                </a:lnTo>
                <a:lnTo>
                  <a:pt x="66408" y="88925"/>
                </a:lnTo>
                <a:lnTo>
                  <a:pt x="66408" y="130810"/>
                </a:lnTo>
                <a:lnTo>
                  <a:pt x="66408" y="134620"/>
                </a:lnTo>
                <a:lnTo>
                  <a:pt x="65989" y="137160"/>
                </a:lnTo>
                <a:lnTo>
                  <a:pt x="54076" y="148590"/>
                </a:lnTo>
                <a:lnTo>
                  <a:pt x="51955" y="149860"/>
                </a:lnTo>
                <a:lnTo>
                  <a:pt x="47536" y="149860"/>
                </a:lnTo>
                <a:lnTo>
                  <a:pt x="45415" y="148590"/>
                </a:lnTo>
                <a:lnTo>
                  <a:pt x="41325" y="147320"/>
                </a:lnTo>
                <a:lnTo>
                  <a:pt x="33070" y="134620"/>
                </a:lnTo>
                <a:lnTo>
                  <a:pt x="33070" y="130810"/>
                </a:lnTo>
                <a:lnTo>
                  <a:pt x="45415" y="116840"/>
                </a:lnTo>
                <a:lnTo>
                  <a:pt x="47536" y="115570"/>
                </a:lnTo>
                <a:lnTo>
                  <a:pt x="51955" y="115570"/>
                </a:lnTo>
                <a:lnTo>
                  <a:pt x="54076" y="116840"/>
                </a:lnTo>
                <a:lnTo>
                  <a:pt x="58166" y="118110"/>
                </a:lnTo>
                <a:lnTo>
                  <a:pt x="66408" y="130810"/>
                </a:lnTo>
                <a:lnTo>
                  <a:pt x="66408" y="88925"/>
                </a:lnTo>
                <a:lnTo>
                  <a:pt x="58077" y="76200"/>
                </a:lnTo>
                <a:lnTo>
                  <a:pt x="58077" y="72390"/>
                </a:lnTo>
                <a:lnTo>
                  <a:pt x="58508" y="69850"/>
                </a:lnTo>
                <a:lnTo>
                  <a:pt x="60198" y="66040"/>
                </a:lnTo>
                <a:lnTo>
                  <a:pt x="61404" y="64770"/>
                </a:lnTo>
                <a:lnTo>
                  <a:pt x="64528" y="60960"/>
                </a:lnTo>
                <a:lnTo>
                  <a:pt x="66332" y="59690"/>
                </a:lnTo>
                <a:lnTo>
                  <a:pt x="70408" y="58420"/>
                </a:lnTo>
                <a:lnTo>
                  <a:pt x="72542" y="57150"/>
                </a:lnTo>
                <a:lnTo>
                  <a:pt x="76962" y="57150"/>
                </a:lnTo>
                <a:lnTo>
                  <a:pt x="79082" y="58420"/>
                </a:lnTo>
                <a:lnTo>
                  <a:pt x="83172" y="59690"/>
                </a:lnTo>
                <a:lnTo>
                  <a:pt x="84975" y="60960"/>
                </a:lnTo>
                <a:lnTo>
                  <a:pt x="88099" y="64770"/>
                </a:lnTo>
                <a:lnTo>
                  <a:pt x="89306" y="66040"/>
                </a:lnTo>
                <a:lnTo>
                  <a:pt x="90995" y="69850"/>
                </a:lnTo>
                <a:lnTo>
                  <a:pt x="91414" y="72390"/>
                </a:lnTo>
                <a:lnTo>
                  <a:pt x="91414" y="6299"/>
                </a:lnTo>
                <a:lnTo>
                  <a:pt x="88176" y="7620"/>
                </a:lnTo>
                <a:lnTo>
                  <a:pt x="82054" y="8890"/>
                </a:lnTo>
                <a:lnTo>
                  <a:pt x="76073" y="12700"/>
                </a:lnTo>
                <a:lnTo>
                  <a:pt x="43548" y="34290"/>
                </a:lnTo>
                <a:lnTo>
                  <a:pt x="38798" y="38100"/>
                </a:lnTo>
                <a:lnTo>
                  <a:pt x="18707" y="64770"/>
                </a:lnTo>
                <a:lnTo>
                  <a:pt x="15481" y="69850"/>
                </a:lnTo>
                <a:lnTo>
                  <a:pt x="12547" y="76200"/>
                </a:lnTo>
                <a:lnTo>
                  <a:pt x="9893" y="81280"/>
                </a:lnTo>
                <a:lnTo>
                  <a:pt x="7531" y="87630"/>
                </a:lnTo>
                <a:lnTo>
                  <a:pt x="0" y="124460"/>
                </a:lnTo>
                <a:lnTo>
                  <a:pt x="0" y="140970"/>
                </a:lnTo>
                <a:lnTo>
                  <a:pt x="9893" y="184150"/>
                </a:lnTo>
                <a:lnTo>
                  <a:pt x="12547" y="189230"/>
                </a:lnTo>
                <a:lnTo>
                  <a:pt x="15481" y="195580"/>
                </a:lnTo>
                <a:lnTo>
                  <a:pt x="18707" y="200660"/>
                </a:lnTo>
                <a:lnTo>
                  <a:pt x="22212" y="207010"/>
                </a:lnTo>
                <a:lnTo>
                  <a:pt x="25984" y="212090"/>
                </a:lnTo>
                <a:lnTo>
                  <a:pt x="30010" y="217170"/>
                </a:lnTo>
                <a:lnTo>
                  <a:pt x="34277" y="222250"/>
                </a:lnTo>
                <a:lnTo>
                  <a:pt x="38798" y="227330"/>
                </a:lnTo>
                <a:lnTo>
                  <a:pt x="43548" y="231140"/>
                </a:lnTo>
                <a:lnTo>
                  <a:pt x="48488" y="236220"/>
                </a:lnTo>
                <a:lnTo>
                  <a:pt x="76073" y="252730"/>
                </a:lnTo>
                <a:lnTo>
                  <a:pt x="82054" y="256540"/>
                </a:lnTo>
                <a:lnTo>
                  <a:pt x="88176" y="257810"/>
                </a:lnTo>
                <a:lnTo>
                  <a:pt x="94373" y="260350"/>
                </a:lnTo>
                <a:lnTo>
                  <a:pt x="120015" y="265430"/>
                </a:lnTo>
                <a:lnTo>
                  <a:pt x="126542" y="265430"/>
                </a:lnTo>
                <a:lnTo>
                  <a:pt x="133083" y="266700"/>
                </a:lnTo>
                <a:lnTo>
                  <a:pt x="139636" y="265430"/>
                </a:lnTo>
                <a:lnTo>
                  <a:pt x="146164" y="265430"/>
                </a:lnTo>
                <a:lnTo>
                  <a:pt x="171805" y="260350"/>
                </a:lnTo>
                <a:lnTo>
                  <a:pt x="178003" y="257810"/>
                </a:lnTo>
                <a:lnTo>
                  <a:pt x="184124" y="256540"/>
                </a:lnTo>
                <a:lnTo>
                  <a:pt x="190106" y="252730"/>
                </a:lnTo>
                <a:lnTo>
                  <a:pt x="195948" y="250190"/>
                </a:lnTo>
                <a:lnTo>
                  <a:pt x="201637" y="247650"/>
                </a:lnTo>
                <a:lnTo>
                  <a:pt x="207175" y="243840"/>
                </a:lnTo>
                <a:lnTo>
                  <a:pt x="212534" y="240030"/>
                </a:lnTo>
                <a:lnTo>
                  <a:pt x="217690" y="236220"/>
                </a:lnTo>
                <a:lnTo>
                  <a:pt x="222631" y="231140"/>
                </a:lnTo>
                <a:lnTo>
                  <a:pt x="227380" y="227330"/>
                </a:lnTo>
                <a:lnTo>
                  <a:pt x="231902" y="222250"/>
                </a:lnTo>
                <a:lnTo>
                  <a:pt x="236169" y="217170"/>
                </a:lnTo>
                <a:lnTo>
                  <a:pt x="237172" y="215900"/>
                </a:lnTo>
                <a:lnTo>
                  <a:pt x="240195" y="212090"/>
                </a:lnTo>
                <a:lnTo>
                  <a:pt x="243967" y="207010"/>
                </a:lnTo>
                <a:lnTo>
                  <a:pt x="247472" y="200660"/>
                </a:lnTo>
                <a:lnTo>
                  <a:pt x="250698" y="195580"/>
                </a:lnTo>
                <a:lnTo>
                  <a:pt x="253631" y="189230"/>
                </a:lnTo>
                <a:lnTo>
                  <a:pt x="256286" y="184150"/>
                </a:lnTo>
                <a:lnTo>
                  <a:pt x="258648" y="177800"/>
                </a:lnTo>
                <a:lnTo>
                  <a:pt x="265315" y="149860"/>
                </a:lnTo>
                <a:lnTo>
                  <a:pt x="265798" y="146050"/>
                </a:lnTo>
                <a:lnTo>
                  <a:pt x="266179" y="140970"/>
                </a:lnTo>
                <a:lnTo>
                  <a:pt x="266179" y="124460"/>
                </a:lnTo>
                <a:close/>
              </a:path>
              <a:path w="9211945" h="266700">
                <a:moveTo>
                  <a:pt x="4809693" y="126682"/>
                </a:moveTo>
                <a:lnTo>
                  <a:pt x="4802073" y="88430"/>
                </a:lnTo>
                <a:lnTo>
                  <a:pt x="4783620" y="53898"/>
                </a:lnTo>
                <a:lnTo>
                  <a:pt x="4780572" y="49999"/>
                </a:lnTo>
                <a:lnTo>
                  <a:pt x="4779594" y="48742"/>
                </a:lnTo>
                <a:lnTo>
                  <a:pt x="4750600" y="22466"/>
                </a:lnTo>
                <a:lnTo>
                  <a:pt x="4740795" y="16548"/>
                </a:lnTo>
                <a:lnTo>
                  <a:pt x="4740795" y="167830"/>
                </a:lnTo>
                <a:lnTo>
                  <a:pt x="4733087" y="179387"/>
                </a:lnTo>
                <a:lnTo>
                  <a:pt x="4725327" y="180949"/>
                </a:lnTo>
                <a:lnTo>
                  <a:pt x="4666094" y="141414"/>
                </a:lnTo>
                <a:lnTo>
                  <a:pt x="4664011" y="137515"/>
                </a:lnTo>
                <a:lnTo>
                  <a:pt x="4664011" y="55575"/>
                </a:lnTo>
                <a:lnTo>
                  <a:pt x="4669587" y="49999"/>
                </a:lnTo>
                <a:lnTo>
                  <a:pt x="4683442" y="49999"/>
                </a:lnTo>
                <a:lnTo>
                  <a:pt x="4689018" y="55575"/>
                </a:lnTo>
                <a:lnTo>
                  <a:pt x="4689018" y="126682"/>
                </a:lnTo>
                <a:lnTo>
                  <a:pt x="4739233" y="160121"/>
                </a:lnTo>
                <a:lnTo>
                  <a:pt x="4740795" y="167830"/>
                </a:lnTo>
                <a:lnTo>
                  <a:pt x="4740795" y="16548"/>
                </a:lnTo>
                <a:lnTo>
                  <a:pt x="4702530" y="2552"/>
                </a:lnTo>
                <a:lnTo>
                  <a:pt x="4676508" y="0"/>
                </a:lnTo>
                <a:lnTo>
                  <a:pt x="4669968" y="152"/>
                </a:lnTo>
                <a:lnTo>
                  <a:pt x="4631601" y="7785"/>
                </a:lnTo>
                <a:lnTo>
                  <a:pt x="4597070" y="26238"/>
                </a:lnTo>
                <a:lnTo>
                  <a:pt x="4569409" y="53898"/>
                </a:lnTo>
                <a:lnTo>
                  <a:pt x="4550956" y="88430"/>
                </a:lnTo>
                <a:lnTo>
                  <a:pt x="4543336" y="126682"/>
                </a:lnTo>
                <a:lnTo>
                  <a:pt x="4543158" y="133350"/>
                </a:lnTo>
                <a:lnTo>
                  <a:pt x="4543272" y="137515"/>
                </a:lnTo>
                <a:lnTo>
                  <a:pt x="4543323" y="139890"/>
                </a:lnTo>
                <a:lnTo>
                  <a:pt x="4543437" y="141414"/>
                </a:lnTo>
                <a:lnTo>
                  <a:pt x="4543806" y="146418"/>
                </a:lnTo>
                <a:lnTo>
                  <a:pt x="4544606" y="152908"/>
                </a:lnTo>
                <a:lnTo>
                  <a:pt x="4555972" y="190360"/>
                </a:lnTo>
                <a:lnTo>
                  <a:pt x="4577702" y="222885"/>
                </a:lnTo>
                <a:lnTo>
                  <a:pt x="4607966" y="247726"/>
                </a:lnTo>
                <a:lnTo>
                  <a:pt x="4644110" y="262699"/>
                </a:lnTo>
                <a:lnTo>
                  <a:pt x="4676508" y="266700"/>
                </a:lnTo>
                <a:lnTo>
                  <a:pt x="4683061" y="266534"/>
                </a:lnTo>
                <a:lnTo>
                  <a:pt x="4721428" y="258902"/>
                </a:lnTo>
                <a:lnTo>
                  <a:pt x="4755959" y="240449"/>
                </a:lnTo>
                <a:lnTo>
                  <a:pt x="4783620" y="212788"/>
                </a:lnTo>
                <a:lnTo>
                  <a:pt x="4801032" y="180949"/>
                </a:lnTo>
                <a:lnTo>
                  <a:pt x="4802073" y="178257"/>
                </a:lnTo>
                <a:lnTo>
                  <a:pt x="4809591" y="141414"/>
                </a:lnTo>
                <a:lnTo>
                  <a:pt x="4809693" y="126682"/>
                </a:lnTo>
                <a:close/>
              </a:path>
              <a:path w="9211945" h="266700">
                <a:moveTo>
                  <a:pt x="9211602" y="72923"/>
                </a:moveTo>
                <a:lnTo>
                  <a:pt x="9178265" y="37452"/>
                </a:lnTo>
                <a:lnTo>
                  <a:pt x="9178265" y="73647"/>
                </a:lnTo>
                <a:lnTo>
                  <a:pt x="9173858" y="112941"/>
                </a:lnTo>
                <a:lnTo>
                  <a:pt x="9159215" y="156946"/>
                </a:lnTo>
                <a:lnTo>
                  <a:pt x="9131173" y="198818"/>
                </a:lnTo>
                <a:lnTo>
                  <a:pt x="9086583" y="231686"/>
                </a:lnTo>
                <a:lnTo>
                  <a:pt x="9086583" y="34785"/>
                </a:lnTo>
                <a:lnTo>
                  <a:pt x="9178265" y="73647"/>
                </a:lnTo>
                <a:lnTo>
                  <a:pt x="9178265" y="37452"/>
                </a:lnTo>
                <a:lnTo>
                  <a:pt x="9172016" y="34785"/>
                </a:lnTo>
                <a:lnTo>
                  <a:pt x="9093568" y="1498"/>
                </a:lnTo>
                <a:lnTo>
                  <a:pt x="9091384" y="520"/>
                </a:lnTo>
                <a:lnTo>
                  <a:pt x="9088984" y="0"/>
                </a:lnTo>
                <a:lnTo>
                  <a:pt x="9084196" y="0"/>
                </a:lnTo>
                <a:lnTo>
                  <a:pt x="9081795" y="520"/>
                </a:lnTo>
                <a:lnTo>
                  <a:pt x="9079662" y="1498"/>
                </a:lnTo>
                <a:lnTo>
                  <a:pt x="8981529" y="43129"/>
                </a:lnTo>
                <a:lnTo>
                  <a:pt x="8973566" y="47904"/>
                </a:lnTo>
                <a:lnTo>
                  <a:pt x="8967229" y="54724"/>
                </a:lnTo>
                <a:lnTo>
                  <a:pt x="8963063" y="63182"/>
                </a:lnTo>
                <a:lnTo>
                  <a:pt x="8961577" y="72923"/>
                </a:lnTo>
                <a:lnTo>
                  <a:pt x="8961641" y="73647"/>
                </a:lnTo>
                <a:lnTo>
                  <a:pt x="8964625" y="108318"/>
                </a:lnTo>
                <a:lnTo>
                  <a:pt x="8975001" y="149466"/>
                </a:lnTo>
                <a:lnTo>
                  <a:pt x="8994978" y="191833"/>
                </a:lnTo>
                <a:lnTo>
                  <a:pt x="9026830" y="230898"/>
                </a:lnTo>
                <a:lnTo>
                  <a:pt x="9072842" y="262115"/>
                </a:lnTo>
                <a:lnTo>
                  <a:pt x="9086583" y="265239"/>
                </a:lnTo>
                <a:lnTo>
                  <a:pt x="9093594" y="264452"/>
                </a:lnTo>
                <a:lnTo>
                  <a:pt x="9100337" y="262115"/>
                </a:lnTo>
                <a:lnTo>
                  <a:pt x="9145181" y="231686"/>
                </a:lnTo>
                <a:lnTo>
                  <a:pt x="9146349" y="230898"/>
                </a:lnTo>
                <a:lnTo>
                  <a:pt x="9178201" y="191833"/>
                </a:lnTo>
                <a:lnTo>
                  <a:pt x="9198178" y="149466"/>
                </a:lnTo>
                <a:lnTo>
                  <a:pt x="9208554" y="108318"/>
                </a:lnTo>
                <a:lnTo>
                  <a:pt x="9211602" y="72923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3600" y="6219915"/>
            <a:ext cx="251142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Maintain</a:t>
            </a:r>
            <a:r>
              <a:rPr sz="13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Peak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Ensure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optimal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application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response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times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08066" y="6219915"/>
            <a:ext cx="237172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Early</a:t>
            </a:r>
            <a:r>
              <a:rPr sz="13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Detection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Address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issues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before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they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impact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users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12932" y="6219915"/>
            <a:ext cx="1934845" cy="487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Proactive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Management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Stay</a:t>
            </a:r>
            <a:r>
              <a:rPr sz="1050" spc="-2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ahead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challenges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7799" y="6815701"/>
            <a:ext cx="251015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Automated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Database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Segoe UI"/>
                <a:cs typeface="Segoe UI"/>
              </a:rPr>
              <a:t>System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99"/>
            <a:ext cx="11277600" cy="1295400"/>
          </a:xfrm>
          <a:custGeom>
            <a:avLst/>
            <a:gdLst/>
            <a:ahLst/>
            <a:cxnLst/>
            <a:rect l="l" t="t" r="r" b="b"/>
            <a:pathLst>
              <a:path w="11277600" h="1295400">
                <a:moveTo>
                  <a:pt x="11206402" y="1295399"/>
                </a:moveTo>
                <a:lnTo>
                  <a:pt x="71196" y="1295399"/>
                </a:lnTo>
                <a:lnTo>
                  <a:pt x="66241" y="1294911"/>
                </a:lnTo>
                <a:lnTo>
                  <a:pt x="29705" y="1279776"/>
                </a:lnTo>
                <a:lnTo>
                  <a:pt x="3885" y="1243737"/>
                </a:lnTo>
                <a:lnTo>
                  <a:pt x="0" y="1224203"/>
                </a:lnTo>
                <a:lnTo>
                  <a:pt x="0" y="12191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1206402" y="0"/>
                </a:lnTo>
                <a:lnTo>
                  <a:pt x="11247891" y="15621"/>
                </a:lnTo>
                <a:lnTo>
                  <a:pt x="11273712" y="51661"/>
                </a:lnTo>
                <a:lnTo>
                  <a:pt x="11277599" y="71196"/>
                </a:lnTo>
                <a:lnTo>
                  <a:pt x="11277599" y="1224203"/>
                </a:lnTo>
                <a:lnTo>
                  <a:pt x="11261975" y="1265693"/>
                </a:lnTo>
                <a:lnTo>
                  <a:pt x="11225936" y="1291513"/>
                </a:lnTo>
                <a:lnTo>
                  <a:pt x="11211357" y="1294911"/>
                </a:lnTo>
                <a:lnTo>
                  <a:pt x="11206402" y="12953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199" y="1295399"/>
            <a:ext cx="28575" cy="914400"/>
          </a:xfrm>
          <a:custGeom>
            <a:avLst/>
            <a:gdLst/>
            <a:ahLst/>
            <a:cxnLst/>
            <a:rect l="l" t="t" r="r" b="b"/>
            <a:pathLst>
              <a:path w="28575" h="914400">
                <a:moveTo>
                  <a:pt x="28574" y="914399"/>
                </a:moveTo>
                <a:lnTo>
                  <a:pt x="0" y="914399"/>
                </a:lnTo>
                <a:lnTo>
                  <a:pt x="0" y="0"/>
                </a:lnTo>
                <a:lnTo>
                  <a:pt x="28574" y="0"/>
                </a:lnTo>
                <a:lnTo>
                  <a:pt x="28574" y="9143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35" dirty="0"/>
              <a:t> </a:t>
            </a:r>
            <a:r>
              <a:rPr dirty="0"/>
              <a:t>Growth</a:t>
            </a:r>
            <a:r>
              <a:rPr spc="-35" dirty="0"/>
              <a:t> </a:t>
            </a:r>
            <a:r>
              <a:rPr dirty="0"/>
              <a:t>Alert</a:t>
            </a:r>
            <a:r>
              <a:rPr spc="-30" dirty="0"/>
              <a:t> </a:t>
            </a:r>
            <a:r>
              <a:rPr dirty="0"/>
              <a:t>System:</a:t>
            </a:r>
            <a:r>
              <a:rPr spc="-3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00" y="1146810"/>
            <a:ext cx="11208385" cy="167386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What</a:t>
            </a:r>
            <a:r>
              <a:rPr sz="18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is</a:t>
            </a:r>
            <a:r>
              <a:rPr sz="18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a</a:t>
            </a:r>
            <a:r>
              <a:rPr sz="1800" b="1" spc="-1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Database</a:t>
            </a:r>
            <a:r>
              <a:rPr sz="18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Growth</a:t>
            </a:r>
            <a:r>
              <a:rPr sz="18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Alert</a:t>
            </a:r>
            <a:r>
              <a:rPr sz="1800" b="1" spc="-1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System?</a:t>
            </a:r>
            <a:endParaRPr sz="1800">
              <a:latin typeface="Segoe UI Semibold"/>
              <a:cs typeface="Segoe UI Semibold"/>
            </a:endParaRPr>
          </a:p>
          <a:p>
            <a:pPr marL="183515" marR="5080">
              <a:lnSpc>
                <a:spcPct val="129600"/>
              </a:lnSpc>
              <a:spcBef>
                <a:spcPts val="434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</a:t>
            </a:r>
            <a:r>
              <a:rPr sz="13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automated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solution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that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tracks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size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changes,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identifies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unusual</a:t>
            </a:r>
            <a:r>
              <a:rPr sz="135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patterns,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alerts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stakeholders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when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predefined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thresholds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are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exceeded.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provides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actionable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insights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through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detailed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analysis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trends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specific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elements.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Key</a:t>
            </a:r>
            <a:r>
              <a:rPr sz="1800" b="1" spc="-5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Goals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199" y="2971799"/>
            <a:ext cx="3609975" cy="1295400"/>
            <a:chOff x="457199" y="2971799"/>
            <a:chExt cx="3609975" cy="1295400"/>
          </a:xfrm>
        </p:grpSpPr>
        <p:sp>
          <p:nvSpPr>
            <p:cNvPr id="8" name="object 8"/>
            <p:cNvSpPr/>
            <p:nvPr/>
          </p:nvSpPr>
          <p:spPr>
            <a:xfrm>
              <a:off x="457199" y="2971799"/>
              <a:ext cx="3609975" cy="1295400"/>
            </a:xfrm>
            <a:custGeom>
              <a:avLst/>
              <a:gdLst/>
              <a:ahLst/>
              <a:cxnLst/>
              <a:rect l="l" t="t" r="r" b="b"/>
              <a:pathLst>
                <a:path w="3609975" h="1295400">
                  <a:moveTo>
                    <a:pt x="3538778" y="1295399"/>
                  </a:moveTo>
                  <a:lnTo>
                    <a:pt x="71196" y="1295399"/>
                  </a:lnTo>
                  <a:lnTo>
                    <a:pt x="66241" y="1294911"/>
                  </a:lnTo>
                  <a:lnTo>
                    <a:pt x="29705" y="1279777"/>
                  </a:lnTo>
                  <a:lnTo>
                    <a:pt x="3885" y="1243737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38778" y="0"/>
                  </a:lnTo>
                  <a:lnTo>
                    <a:pt x="3580268" y="15621"/>
                  </a:lnTo>
                  <a:lnTo>
                    <a:pt x="3606088" y="51661"/>
                  </a:lnTo>
                  <a:lnTo>
                    <a:pt x="3609974" y="71196"/>
                  </a:lnTo>
                  <a:lnTo>
                    <a:pt x="3609974" y="1224203"/>
                  </a:lnTo>
                  <a:lnTo>
                    <a:pt x="3594352" y="1265693"/>
                  </a:lnTo>
                  <a:lnTo>
                    <a:pt x="3558312" y="1291513"/>
                  </a:lnTo>
                  <a:lnTo>
                    <a:pt x="3543733" y="1294911"/>
                  </a:lnTo>
                  <a:lnTo>
                    <a:pt x="3538778" y="1295399"/>
                  </a:lnTo>
                  <a:close/>
                </a:path>
              </a:pathLst>
            </a:custGeom>
            <a:solidFill>
              <a:srgbClr val="F5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" y="33337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9"/>
                  </a:lnTo>
                  <a:lnTo>
                    <a:pt x="5490" y="230003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3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073" y="3505199"/>
              <a:ext cx="202123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20799" y="3035300"/>
            <a:ext cx="2493645" cy="10655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Proactive</a:t>
            </a:r>
            <a:r>
              <a:rPr sz="1500" b="1" spc="-7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Alerts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Identify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issues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before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they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impact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or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cause outages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95774" y="2971799"/>
            <a:ext cx="3600450" cy="1295400"/>
            <a:chOff x="4295774" y="2971799"/>
            <a:chExt cx="3600450" cy="1295400"/>
          </a:xfrm>
        </p:grpSpPr>
        <p:sp>
          <p:nvSpPr>
            <p:cNvPr id="13" name="object 13"/>
            <p:cNvSpPr/>
            <p:nvPr/>
          </p:nvSpPr>
          <p:spPr>
            <a:xfrm>
              <a:off x="4295774" y="2971799"/>
              <a:ext cx="3600450" cy="1295400"/>
            </a:xfrm>
            <a:custGeom>
              <a:avLst/>
              <a:gdLst/>
              <a:ahLst/>
              <a:cxnLst/>
              <a:rect l="l" t="t" r="r" b="b"/>
              <a:pathLst>
                <a:path w="3600450" h="1295400">
                  <a:moveTo>
                    <a:pt x="3529253" y="1295399"/>
                  </a:moveTo>
                  <a:lnTo>
                    <a:pt x="71196" y="1295399"/>
                  </a:lnTo>
                  <a:lnTo>
                    <a:pt x="66241" y="1294911"/>
                  </a:lnTo>
                  <a:lnTo>
                    <a:pt x="29705" y="1279777"/>
                  </a:lnTo>
                  <a:lnTo>
                    <a:pt x="3885" y="1243737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29253" y="0"/>
                  </a:lnTo>
                  <a:lnTo>
                    <a:pt x="3570744" y="15621"/>
                  </a:lnTo>
                  <a:lnTo>
                    <a:pt x="3596563" y="51661"/>
                  </a:lnTo>
                  <a:lnTo>
                    <a:pt x="3600449" y="71196"/>
                  </a:lnTo>
                  <a:lnTo>
                    <a:pt x="3600449" y="1224203"/>
                  </a:lnTo>
                  <a:lnTo>
                    <a:pt x="3584827" y="1265693"/>
                  </a:lnTo>
                  <a:lnTo>
                    <a:pt x="3548786" y="1291513"/>
                  </a:lnTo>
                  <a:lnTo>
                    <a:pt x="3534208" y="1294911"/>
                  </a:lnTo>
                  <a:lnTo>
                    <a:pt x="3529253" y="1295399"/>
                  </a:lnTo>
                  <a:close/>
                </a:path>
              </a:pathLst>
            </a:custGeom>
            <a:solidFill>
              <a:srgbClr val="F5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8174" y="33337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3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3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5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9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748" y="3505199"/>
              <a:ext cx="228352" cy="2285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156100" y="3035300"/>
            <a:ext cx="2371725" cy="10655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Timely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Action</a:t>
            </a:r>
            <a:endParaRPr sz="150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24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Enable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prompt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response to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growth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spikes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detailed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context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remediation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24824" y="2971799"/>
            <a:ext cx="3609975" cy="1295400"/>
            <a:chOff x="8124824" y="2971799"/>
            <a:chExt cx="3609975" cy="1295400"/>
          </a:xfrm>
        </p:grpSpPr>
        <p:sp>
          <p:nvSpPr>
            <p:cNvPr id="18" name="object 18"/>
            <p:cNvSpPr/>
            <p:nvPr/>
          </p:nvSpPr>
          <p:spPr>
            <a:xfrm>
              <a:off x="8124824" y="2971799"/>
              <a:ext cx="3609975" cy="1295400"/>
            </a:xfrm>
            <a:custGeom>
              <a:avLst/>
              <a:gdLst/>
              <a:ahLst/>
              <a:cxnLst/>
              <a:rect l="l" t="t" r="r" b="b"/>
              <a:pathLst>
                <a:path w="3609975" h="1295400">
                  <a:moveTo>
                    <a:pt x="3538777" y="1295399"/>
                  </a:moveTo>
                  <a:lnTo>
                    <a:pt x="71196" y="1295399"/>
                  </a:lnTo>
                  <a:lnTo>
                    <a:pt x="66240" y="1294911"/>
                  </a:lnTo>
                  <a:lnTo>
                    <a:pt x="29703" y="1279777"/>
                  </a:lnTo>
                  <a:lnTo>
                    <a:pt x="3884" y="1243737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538777" y="0"/>
                  </a:lnTo>
                  <a:lnTo>
                    <a:pt x="3580267" y="15621"/>
                  </a:lnTo>
                  <a:lnTo>
                    <a:pt x="3606087" y="51661"/>
                  </a:lnTo>
                  <a:lnTo>
                    <a:pt x="3609974" y="71196"/>
                  </a:lnTo>
                  <a:lnTo>
                    <a:pt x="3609974" y="1224203"/>
                  </a:lnTo>
                  <a:lnTo>
                    <a:pt x="3594351" y="1265693"/>
                  </a:lnTo>
                  <a:lnTo>
                    <a:pt x="3558311" y="1291513"/>
                  </a:lnTo>
                  <a:lnTo>
                    <a:pt x="3543733" y="1294911"/>
                  </a:lnTo>
                  <a:lnTo>
                    <a:pt x="3538777" y="1295399"/>
                  </a:lnTo>
                  <a:close/>
                </a:path>
              </a:pathLst>
            </a:custGeom>
            <a:solidFill>
              <a:srgbClr val="F5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77224" y="33337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1" y="467028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3"/>
                  </a:lnTo>
                  <a:lnTo>
                    <a:pt x="16703" y="189483"/>
                  </a:lnTo>
                  <a:lnTo>
                    <a:pt x="33739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2" y="16703"/>
                  </a:lnTo>
                  <a:lnTo>
                    <a:pt x="230001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0" y="33740"/>
                  </a:lnTo>
                  <a:lnTo>
                    <a:pt x="455969" y="56233"/>
                  </a:lnTo>
                  <a:lnTo>
                    <a:pt x="487804" y="83693"/>
                  </a:lnTo>
                  <a:lnTo>
                    <a:pt x="515265" y="115528"/>
                  </a:lnTo>
                  <a:lnTo>
                    <a:pt x="537757" y="151048"/>
                  </a:lnTo>
                  <a:lnTo>
                    <a:pt x="554794" y="189483"/>
                  </a:lnTo>
                  <a:lnTo>
                    <a:pt x="566007" y="230003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4" y="382015"/>
                  </a:lnTo>
                  <a:lnTo>
                    <a:pt x="537757" y="420451"/>
                  </a:lnTo>
                  <a:lnTo>
                    <a:pt x="515265" y="455971"/>
                  </a:lnTo>
                  <a:lnTo>
                    <a:pt x="487804" y="487805"/>
                  </a:lnTo>
                  <a:lnTo>
                    <a:pt x="455970" y="515266"/>
                  </a:lnTo>
                  <a:lnTo>
                    <a:pt x="420450" y="537758"/>
                  </a:lnTo>
                  <a:lnTo>
                    <a:pt x="382015" y="554796"/>
                  </a:lnTo>
                  <a:lnTo>
                    <a:pt x="341495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20099" y="350519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991550" y="3035300"/>
            <a:ext cx="2366645" cy="8369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Automated</a:t>
            </a:r>
            <a:r>
              <a:rPr sz="1500" b="1" spc="-8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Reporting</a:t>
            </a:r>
            <a:endParaRPr sz="150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24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Eliminate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manual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with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scheduled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analysis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notification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91550" y="3892550"/>
            <a:ext cx="548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delivery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699" y="5210174"/>
            <a:ext cx="209402" cy="17141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34999" y="4768850"/>
            <a:ext cx="2746375" cy="899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8D4"/>
                </a:solidFill>
                <a:latin typeface="Segoe UI Semibold"/>
                <a:cs typeface="Segoe UI Semibold"/>
              </a:rPr>
              <a:t>Key</a:t>
            </a:r>
            <a:r>
              <a:rPr sz="1800" b="1" spc="-5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8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Stakeholders</a:t>
            </a:r>
            <a:endParaRPr sz="1800">
              <a:latin typeface="Segoe UI Semibold"/>
              <a:cs typeface="Segoe UI Semibold"/>
            </a:endParaRPr>
          </a:p>
          <a:p>
            <a:pPr marL="302895">
              <a:lnSpc>
                <a:spcPct val="100000"/>
              </a:lnSpc>
              <a:spcBef>
                <a:spcPts val="1140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Application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Owners</a:t>
            </a:r>
            <a:endParaRPr sz="1200">
              <a:latin typeface="Segoe UI Semibold"/>
              <a:cs typeface="Segoe UI Semibold"/>
            </a:endParaRPr>
          </a:p>
          <a:p>
            <a:pPr marL="240665">
              <a:lnSpc>
                <a:spcPct val="100000"/>
              </a:lnSpc>
              <a:spcBef>
                <a:spcPts val="885"/>
              </a:spcBef>
            </a:pP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Receive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monthly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reports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alerts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76650" y="5210174"/>
            <a:ext cx="3143248" cy="171449"/>
            <a:chOff x="3676650" y="5210174"/>
            <a:chExt cx="3143248" cy="171449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6650" y="5210174"/>
              <a:ext cx="150018" cy="1714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8449" y="5220890"/>
              <a:ext cx="171449" cy="15001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886745" y="5187950"/>
            <a:ext cx="247269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Database</a:t>
            </a:r>
            <a:r>
              <a:rPr sz="1200" b="1" spc="-5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Administrators</a:t>
            </a:r>
            <a:endParaRPr sz="1200">
              <a:latin typeface="Segoe UI Semibold"/>
              <a:cs typeface="Segoe UI Semibold"/>
            </a:endParaRPr>
          </a:p>
          <a:p>
            <a:pPr marL="14604">
              <a:lnSpc>
                <a:spcPct val="100000"/>
              </a:lnSpc>
              <a:spcBef>
                <a:spcPts val="885"/>
              </a:spcBef>
            </a:pP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Configure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thresholds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manage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 system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866880" y="5187950"/>
            <a:ext cx="256921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IT</a:t>
            </a:r>
            <a:r>
              <a:rPr sz="120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Management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Review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trends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202020"/>
                </a:solidFill>
                <a:latin typeface="Segoe UI"/>
                <a:cs typeface="Segoe UI"/>
              </a:rPr>
              <a:t>capacity</a:t>
            </a:r>
            <a:r>
              <a:rPr sz="10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202020"/>
                </a:solidFill>
                <a:latin typeface="Segoe UI"/>
                <a:cs typeface="Segoe UI"/>
              </a:rPr>
              <a:t>planning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587375"/>
            <a:ext cx="5727700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System</a:t>
            </a:r>
            <a:r>
              <a:rPr spc="-55" dirty="0"/>
              <a:t> </a:t>
            </a:r>
            <a:r>
              <a:rPr spc="-10" dirty="0"/>
              <a:t>Works</a:t>
            </a:r>
          </a:p>
          <a:p>
            <a:pPr marL="12700">
              <a:lnSpc>
                <a:spcPts val="1789"/>
              </a:lnSpc>
            </a:pPr>
            <a:r>
              <a:rPr sz="1500" b="0" spc="-10" dirty="0">
                <a:solidFill>
                  <a:srgbClr val="4A5462"/>
                </a:solidFill>
                <a:latin typeface="Segoe UI"/>
                <a:cs typeface="Segoe UI"/>
              </a:rPr>
              <a:t>Stepwise</a:t>
            </a:r>
            <a:r>
              <a:rPr sz="1500" b="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workflow</a:t>
            </a:r>
            <a:r>
              <a:rPr sz="1500" b="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sz="1500" b="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the</a:t>
            </a:r>
            <a:r>
              <a:rPr sz="1500" b="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Automated</a:t>
            </a:r>
            <a:r>
              <a:rPr sz="1500" b="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Database</a:t>
            </a:r>
            <a:r>
              <a:rPr sz="1500" b="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500" b="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dirty="0">
                <a:solidFill>
                  <a:srgbClr val="4A5462"/>
                </a:solidFill>
                <a:latin typeface="Segoe UI"/>
                <a:cs typeface="Segoe UI"/>
              </a:rPr>
              <a:t>Alert</a:t>
            </a:r>
            <a:r>
              <a:rPr sz="1500" b="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b="0" spc="-10" dirty="0">
                <a:solidFill>
                  <a:srgbClr val="4A5462"/>
                </a:solidFill>
                <a:latin typeface="Segoe UI"/>
                <a:cs typeface="Segoe UI"/>
              </a:rPr>
              <a:t>System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199" y="16573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8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85291" y="1720850"/>
            <a:ext cx="86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  <a:endParaRPr sz="1200">
              <a:latin typeface="Segoe UI Semibold"/>
              <a:cs typeface="Segoe UI Semibold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2499" y="1600199"/>
            <a:ext cx="457200" cy="457200"/>
            <a:chOff x="952499" y="1600199"/>
            <a:chExt cx="457200" cy="457200"/>
          </a:xfrm>
        </p:grpSpPr>
        <p:sp>
          <p:nvSpPr>
            <p:cNvPr id="7" name="object 7"/>
            <p:cNvSpPr/>
            <p:nvPr/>
          </p:nvSpPr>
          <p:spPr>
            <a:xfrm>
              <a:off x="952499" y="1600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1728787"/>
              <a:ext cx="228600" cy="2000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87499" y="1515533"/>
            <a:ext cx="6123940" cy="5607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500" b="1" dirty="0">
                <a:solidFill>
                  <a:srgbClr val="0F6EBE"/>
                </a:solidFill>
                <a:latin typeface="Segoe UI Semibold"/>
                <a:cs typeface="Segoe UI Semibold"/>
              </a:rPr>
              <a:t>Data</a:t>
            </a:r>
            <a:r>
              <a:rPr sz="1500" b="1" spc="-35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Collection</a:t>
            </a:r>
            <a:endParaRPr sz="15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collected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from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16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SQL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MI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servers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using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automated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SSIS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packages</a:t>
            </a:r>
            <a:endParaRPr sz="1350" dirty="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459" y="2250281"/>
            <a:ext cx="145256" cy="16784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57199" y="26479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8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3533" y="271145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  <a:endParaRPr sz="1200">
              <a:latin typeface="Segoe UI Semibold"/>
              <a:cs typeface="Segoe UI Semibold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2499" y="2590799"/>
            <a:ext cx="457200" cy="457200"/>
            <a:chOff x="952499" y="2590799"/>
            <a:chExt cx="457200" cy="457200"/>
          </a:xfrm>
        </p:grpSpPr>
        <p:sp>
          <p:nvSpPr>
            <p:cNvPr id="14" name="object 14"/>
            <p:cNvSpPr/>
            <p:nvPr/>
          </p:nvSpPr>
          <p:spPr>
            <a:xfrm>
              <a:off x="952499" y="2590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849" y="2705099"/>
              <a:ext cx="200025" cy="228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87499" y="2506133"/>
            <a:ext cx="5369560" cy="5607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500" b="1" dirty="0">
                <a:solidFill>
                  <a:srgbClr val="0F6EBE"/>
                </a:solidFill>
                <a:latin typeface="Segoe UI Semibold"/>
                <a:cs typeface="Segoe UI Semibold"/>
              </a:rPr>
              <a:t>Data</a:t>
            </a:r>
            <a:r>
              <a:rPr sz="1500" b="1" spc="-35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Storage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Collected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stored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in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morning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server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processing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459" y="3240881"/>
            <a:ext cx="145256" cy="16784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57199" y="36385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8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6"/>
                </a:lnTo>
                <a:lnTo>
                  <a:pt x="171449" y="0"/>
                </a:lnTo>
                <a:lnTo>
                  <a:pt x="179872" y="206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3"/>
                </a:lnTo>
                <a:lnTo>
                  <a:pt x="292683" y="292682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3533" y="370205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  <a:endParaRPr sz="1200">
              <a:latin typeface="Segoe UI Semibold"/>
              <a:cs typeface="Segoe UI Semibold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52499" y="3581399"/>
            <a:ext cx="457200" cy="457200"/>
            <a:chOff x="952499" y="3581399"/>
            <a:chExt cx="457200" cy="457200"/>
          </a:xfrm>
        </p:grpSpPr>
        <p:sp>
          <p:nvSpPr>
            <p:cNvPr id="21" name="object 21"/>
            <p:cNvSpPr/>
            <p:nvPr/>
          </p:nvSpPr>
          <p:spPr>
            <a:xfrm>
              <a:off x="952499" y="3581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3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6840" y="3694047"/>
              <a:ext cx="288925" cy="232410"/>
            </a:xfrm>
            <a:custGeom>
              <a:avLst/>
              <a:gdLst/>
              <a:ahLst/>
              <a:cxnLst/>
              <a:rect l="l" t="t" r="r" b="b"/>
              <a:pathLst>
                <a:path w="288925" h="232410">
                  <a:moveTo>
                    <a:pt x="119345" y="231903"/>
                  </a:moveTo>
                  <a:lnTo>
                    <a:pt x="104009" y="227483"/>
                  </a:lnTo>
                  <a:lnTo>
                    <a:pt x="104139" y="227483"/>
                  </a:lnTo>
                  <a:lnTo>
                    <a:pt x="99744" y="219625"/>
                  </a:lnTo>
                  <a:lnTo>
                    <a:pt x="101932" y="212035"/>
                  </a:lnTo>
                  <a:lnTo>
                    <a:pt x="159005" y="12278"/>
                  </a:lnTo>
                  <a:lnTo>
                    <a:pt x="161349" y="4375"/>
                  </a:lnTo>
                  <a:lnTo>
                    <a:pt x="169172" y="0"/>
                  </a:lnTo>
                  <a:lnTo>
                    <a:pt x="184353" y="4375"/>
                  </a:lnTo>
                  <a:lnTo>
                    <a:pt x="188773" y="12278"/>
                  </a:lnTo>
                  <a:lnTo>
                    <a:pt x="186585" y="19868"/>
                  </a:lnTo>
                  <a:lnTo>
                    <a:pt x="129512" y="219625"/>
                  </a:lnTo>
                  <a:lnTo>
                    <a:pt x="127248" y="227483"/>
                  </a:lnTo>
                  <a:lnTo>
                    <a:pt x="119345" y="231903"/>
                  </a:lnTo>
                  <a:close/>
                </a:path>
                <a:path w="288925" h="232410">
                  <a:moveTo>
                    <a:pt x="227349" y="181674"/>
                  </a:moveTo>
                  <a:lnTo>
                    <a:pt x="218286" y="181674"/>
                  </a:lnTo>
                  <a:lnTo>
                    <a:pt x="207124" y="170512"/>
                  </a:lnTo>
                  <a:lnTo>
                    <a:pt x="207124" y="161448"/>
                  </a:lnTo>
                  <a:lnTo>
                    <a:pt x="252620" y="115951"/>
                  </a:lnTo>
                  <a:lnTo>
                    <a:pt x="207168" y="70455"/>
                  </a:lnTo>
                  <a:lnTo>
                    <a:pt x="207168" y="61391"/>
                  </a:lnTo>
                  <a:lnTo>
                    <a:pt x="218286" y="50274"/>
                  </a:lnTo>
                  <a:lnTo>
                    <a:pt x="227349" y="50274"/>
                  </a:lnTo>
                  <a:lnTo>
                    <a:pt x="288518" y="111442"/>
                  </a:lnTo>
                  <a:lnTo>
                    <a:pt x="288518" y="120506"/>
                  </a:lnTo>
                  <a:lnTo>
                    <a:pt x="227349" y="181674"/>
                  </a:lnTo>
                  <a:close/>
                </a:path>
                <a:path w="288925" h="232410">
                  <a:moveTo>
                    <a:pt x="70231" y="181629"/>
                  </a:moveTo>
                  <a:lnTo>
                    <a:pt x="61168" y="181629"/>
                  </a:lnTo>
                  <a:lnTo>
                    <a:pt x="0" y="120461"/>
                  </a:lnTo>
                  <a:lnTo>
                    <a:pt x="0" y="111397"/>
                  </a:lnTo>
                  <a:lnTo>
                    <a:pt x="61168" y="50229"/>
                  </a:lnTo>
                  <a:lnTo>
                    <a:pt x="70231" y="50229"/>
                  </a:lnTo>
                  <a:lnTo>
                    <a:pt x="81394" y="61391"/>
                  </a:lnTo>
                  <a:lnTo>
                    <a:pt x="81394" y="70455"/>
                  </a:lnTo>
                  <a:lnTo>
                    <a:pt x="35897" y="115951"/>
                  </a:lnTo>
                  <a:lnTo>
                    <a:pt x="81394" y="161404"/>
                  </a:lnTo>
                  <a:lnTo>
                    <a:pt x="81394" y="170467"/>
                  </a:lnTo>
                  <a:lnTo>
                    <a:pt x="70231" y="18162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87499" y="3496733"/>
            <a:ext cx="7085965" cy="5607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500" b="1" dirty="0">
                <a:solidFill>
                  <a:srgbClr val="0F6EBE"/>
                </a:solidFill>
                <a:latin typeface="Segoe UI Semibold"/>
                <a:cs typeface="Segoe UI Semibold"/>
              </a:rPr>
              <a:t>Data</a:t>
            </a:r>
            <a:r>
              <a:rPr sz="1500" b="1" spc="-35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Analysis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stored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procedure</a:t>
            </a:r>
            <a:r>
              <a:rPr sz="1350" b="1" spc="-2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compares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current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baseline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calculate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percentage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459" y="4231481"/>
            <a:ext cx="145256" cy="16784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457199" y="46291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8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72045" y="4692649"/>
            <a:ext cx="113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  <a:endParaRPr sz="1200">
              <a:latin typeface="Segoe UI Semibold"/>
              <a:cs typeface="Segoe UI Semibold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52499" y="4571999"/>
            <a:ext cx="457200" cy="457200"/>
            <a:chOff x="952499" y="4571999"/>
            <a:chExt cx="457200" cy="457200"/>
          </a:xfrm>
        </p:grpSpPr>
        <p:sp>
          <p:nvSpPr>
            <p:cNvPr id="28" name="object 28"/>
            <p:cNvSpPr/>
            <p:nvPr/>
          </p:nvSpPr>
          <p:spPr>
            <a:xfrm>
              <a:off x="952499" y="4571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37465" y="4686299"/>
              <a:ext cx="287020" cy="228600"/>
            </a:xfrm>
            <a:custGeom>
              <a:avLst/>
              <a:gdLst/>
              <a:ahLst/>
              <a:cxnLst/>
              <a:rect l="l" t="t" r="r" b="b"/>
              <a:pathLst>
                <a:path w="287019" h="228600">
                  <a:moveTo>
                    <a:pt x="172209" y="14287"/>
                  </a:moveTo>
                  <a:lnTo>
                    <a:pt x="115059" y="14287"/>
                  </a:lnTo>
                  <a:lnTo>
                    <a:pt x="120628" y="8400"/>
                  </a:lnTo>
                  <a:lnTo>
                    <a:pt x="127404" y="3895"/>
                  </a:lnTo>
                  <a:lnTo>
                    <a:pt x="135150" y="1014"/>
                  </a:lnTo>
                  <a:lnTo>
                    <a:pt x="143634" y="0"/>
                  </a:lnTo>
                  <a:lnTo>
                    <a:pt x="152117" y="1014"/>
                  </a:lnTo>
                  <a:lnTo>
                    <a:pt x="159863" y="3895"/>
                  </a:lnTo>
                  <a:lnTo>
                    <a:pt x="166639" y="8400"/>
                  </a:lnTo>
                  <a:lnTo>
                    <a:pt x="172209" y="14287"/>
                  </a:lnTo>
                  <a:close/>
                </a:path>
                <a:path w="287019" h="228600">
                  <a:moveTo>
                    <a:pt x="237261" y="42862"/>
                  </a:moveTo>
                  <a:lnTo>
                    <a:pt x="50006" y="42862"/>
                  </a:lnTo>
                  <a:lnTo>
                    <a:pt x="43621" y="36477"/>
                  </a:lnTo>
                  <a:lnTo>
                    <a:pt x="43621" y="20672"/>
                  </a:lnTo>
                  <a:lnTo>
                    <a:pt x="50006" y="14287"/>
                  </a:lnTo>
                  <a:lnTo>
                    <a:pt x="237261" y="14287"/>
                  </a:lnTo>
                  <a:lnTo>
                    <a:pt x="243646" y="20672"/>
                  </a:lnTo>
                  <a:lnTo>
                    <a:pt x="243646" y="36477"/>
                  </a:lnTo>
                  <a:lnTo>
                    <a:pt x="237261" y="42862"/>
                  </a:lnTo>
                  <a:close/>
                </a:path>
                <a:path w="287019" h="228600">
                  <a:moveTo>
                    <a:pt x="157921" y="200025"/>
                  </a:moveTo>
                  <a:lnTo>
                    <a:pt x="129346" y="200025"/>
                  </a:lnTo>
                  <a:lnTo>
                    <a:pt x="129346" y="68446"/>
                  </a:lnTo>
                  <a:lnTo>
                    <a:pt x="122009" y="64122"/>
                  </a:lnTo>
                  <a:lnTo>
                    <a:pt x="115924" y="58232"/>
                  </a:lnTo>
                  <a:lnTo>
                    <a:pt x="111370" y="51054"/>
                  </a:lnTo>
                  <a:lnTo>
                    <a:pt x="108629" y="42862"/>
                  </a:lnTo>
                  <a:lnTo>
                    <a:pt x="178638" y="42862"/>
                  </a:lnTo>
                  <a:lnTo>
                    <a:pt x="175905" y="51054"/>
                  </a:lnTo>
                  <a:lnTo>
                    <a:pt x="171365" y="58232"/>
                  </a:lnTo>
                  <a:lnTo>
                    <a:pt x="165284" y="64122"/>
                  </a:lnTo>
                  <a:lnTo>
                    <a:pt x="157921" y="68446"/>
                  </a:lnTo>
                  <a:lnTo>
                    <a:pt x="157921" y="200025"/>
                  </a:lnTo>
                  <a:close/>
                </a:path>
                <a:path w="287019" h="228600">
                  <a:moveTo>
                    <a:pt x="57373" y="185737"/>
                  </a:moveTo>
                  <a:lnTo>
                    <a:pt x="20543" y="175641"/>
                  </a:lnTo>
                  <a:lnTo>
                    <a:pt x="0" y="145598"/>
                  </a:lnTo>
                  <a:lnTo>
                    <a:pt x="1607" y="140553"/>
                  </a:lnTo>
                  <a:lnTo>
                    <a:pt x="48890" y="59471"/>
                  </a:lnTo>
                  <a:lnTo>
                    <a:pt x="52997" y="57150"/>
                  </a:lnTo>
                  <a:lnTo>
                    <a:pt x="61838" y="57150"/>
                  </a:lnTo>
                  <a:lnTo>
                    <a:pt x="65868" y="59471"/>
                  </a:lnTo>
                  <a:lnTo>
                    <a:pt x="68178" y="63311"/>
                  </a:lnTo>
                  <a:lnTo>
                    <a:pt x="82240" y="87421"/>
                  </a:lnTo>
                  <a:lnTo>
                    <a:pt x="57373" y="87421"/>
                  </a:lnTo>
                  <a:lnTo>
                    <a:pt x="25047" y="142875"/>
                  </a:lnTo>
                  <a:lnTo>
                    <a:pt x="113968" y="142875"/>
                  </a:lnTo>
                  <a:lnTo>
                    <a:pt x="114835" y="145598"/>
                  </a:lnTo>
                  <a:lnTo>
                    <a:pt x="113674" y="150509"/>
                  </a:lnTo>
                  <a:lnTo>
                    <a:pt x="106773" y="164471"/>
                  </a:lnTo>
                  <a:lnTo>
                    <a:pt x="94230" y="175641"/>
                  </a:lnTo>
                  <a:lnTo>
                    <a:pt x="77333" y="183052"/>
                  </a:lnTo>
                  <a:lnTo>
                    <a:pt x="57373" y="185737"/>
                  </a:lnTo>
                  <a:close/>
                </a:path>
                <a:path w="287019" h="228600">
                  <a:moveTo>
                    <a:pt x="229359" y="185737"/>
                  </a:moveTo>
                  <a:lnTo>
                    <a:pt x="192507" y="175641"/>
                  </a:lnTo>
                  <a:lnTo>
                    <a:pt x="171941" y="145598"/>
                  </a:lnTo>
                  <a:lnTo>
                    <a:pt x="173548" y="140553"/>
                  </a:lnTo>
                  <a:lnTo>
                    <a:pt x="220831" y="59471"/>
                  </a:lnTo>
                  <a:lnTo>
                    <a:pt x="224938" y="57150"/>
                  </a:lnTo>
                  <a:lnTo>
                    <a:pt x="233779" y="57150"/>
                  </a:lnTo>
                  <a:lnTo>
                    <a:pt x="237809" y="59471"/>
                  </a:lnTo>
                  <a:lnTo>
                    <a:pt x="240119" y="63311"/>
                  </a:lnTo>
                  <a:lnTo>
                    <a:pt x="254181" y="87421"/>
                  </a:lnTo>
                  <a:lnTo>
                    <a:pt x="229359" y="87421"/>
                  </a:lnTo>
                  <a:lnTo>
                    <a:pt x="197033" y="142875"/>
                  </a:lnTo>
                  <a:lnTo>
                    <a:pt x="285909" y="142875"/>
                  </a:lnTo>
                  <a:lnTo>
                    <a:pt x="286776" y="145598"/>
                  </a:lnTo>
                  <a:lnTo>
                    <a:pt x="285616" y="150509"/>
                  </a:lnTo>
                  <a:lnTo>
                    <a:pt x="278740" y="164471"/>
                  </a:lnTo>
                  <a:lnTo>
                    <a:pt x="266210" y="175641"/>
                  </a:lnTo>
                  <a:lnTo>
                    <a:pt x="249318" y="183052"/>
                  </a:lnTo>
                  <a:lnTo>
                    <a:pt x="229359" y="185737"/>
                  </a:lnTo>
                  <a:close/>
                </a:path>
                <a:path w="287019" h="228600">
                  <a:moveTo>
                    <a:pt x="113968" y="142875"/>
                  </a:moveTo>
                  <a:lnTo>
                    <a:pt x="89743" y="142875"/>
                  </a:lnTo>
                  <a:lnTo>
                    <a:pt x="57373" y="87421"/>
                  </a:lnTo>
                  <a:lnTo>
                    <a:pt x="82240" y="87421"/>
                  </a:lnTo>
                  <a:lnTo>
                    <a:pt x="113228" y="140553"/>
                  </a:lnTo>
                  <a:lnTo>
                    <a:pt x="113968" y="142875"/>
                  </a:lnTo>
                  <a:close/>
                </a:path>
                <a:path w="287019" h="228600">
                  <a:moveTo>
                    <a:pt x="285909" y="142875"/>
                  </a:moveTo>
                  <a:lnTo>
                    <a:pt x="261684" y="142875"/>
                  </a:lnTo>
                  <a:lnTo>
                    <a:pt x="229359" y="87421"/>
                  </a:lnTo>
                  <a:lnTo>
                    <a:pt x="254181" y="87421"/>
                  </a:lnTo>
                  <a:lnTo>
                    <a:pt x="285169" y="140553"/>
                  </a:lnTo>
                  <a:lnTo>
                    <a:pt x="285909" y="142875"/>
                  </a:lnTo>
                  <a:close/>
                </a:path>
                <a:path w="287019" h="228600">
                  <a:moveTo>
                    <a:pt x="237261" y="228600"/>
                  </a:moveTo>
                  <a:lnTo>
                    <a:pt x="50006" y="228600"/>
                  </a:lnTo>
                  <a:lnTo>
                    <a:pt x="43621" y="222215"/>
                  </a:lnTo>
                  <a:lnTo>
                    <a:pt x="43621" y="206409"/>
                  </a:lnTo>
                  <a:lnTo>
                    <a:pt x="50006" y="200025"/>
                  </a:lnTo>
                  <a:lnTo>
                    <a:pt x="237261" y="200025"/>
                  </a:lnTo>
                  <a:lnTo>
                    <a:pt x="243646" y="206409"/>
                  </a:lnTo>
                  <a:lnTo>
                    <a:pt x="243646" y="222215"/>
                  </a:lnTo>
                  <a:lnTo>
                    <a:pt x="237261" y="2286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87499" y="4487333"/>
            <a:ext cx="6266180" cy="5607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500" b="1" dirty="0">
                <a:solidFill>
                  <a:srgbClr val="0F6EBE"/>
                </a:solidFill>
                <a:latin typeface="Segoe UI Semibold"/>
                <a:cs typeface="Segoe UI Semibold"/>
              </a:rPr>
              <a:t>Threshold</a:t>
            </a:r>
            <a:r>
              <a:rPr sz="1500" b="1" spc="-65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Evaluation</a:t>
            </a:r>
            <a:endParaRPr sz="15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checks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if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percentage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exceeds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the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threshold</a:t>
            </a:r>
            <a:r>
              <a:rPr sz="1350" b="1" spc="-2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value</a:t>
            </a:r>
            <a:endParaRPr sz="1350" dirty="0">
              <a:latin typeface="Segoe UI"/>
              <a:cs typeface="Segoe U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459" y="5222080"/>
            <a:ext cx="145256" cy="167840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457199" y="56197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8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3"/>
                </a:lnTo>
                <a:lnTo>
                  <a:pt x="292683" y="292682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3533" y="568325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Segoe UI Semibold"/>
                <a:cs typeface="Segoe UI Semibold"/>
              </a:rPr>
              <a:t>5</a:t>
            </a:r>
            <a:endParaRPr sz="1200">
              <a:latin typeface="Segoe UI Semibold"/>
              <a:cs typeface="Segoe UI Semibold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52499" y="5562599"/>
            <a:ext cx="457200" cy="457200"/>
            <a:chOff x="952499" y="5562599"/>
            <a:chExt cx="457200" cy="457200"/>
          </a:xfrm>
        </p:grpSpPr>
        <p:sp>
          <p:nvSpPr>
            <p:cNvPr id="35" name="object 35"/>
            <p:cNvSpPr/>
            <p:nvPr/>
          </p:nvSpPr>
          <p:spPr>
            <a:xfrm>
              <a:off x="952499" y="5562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6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3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99" y="5705474"/>
              <a:ext cx="228600" cy="17145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587499" y="5477933"/>
            <a:ext cx="8020050" cy="763671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500" b="1" spc="40" dirty="0">
                <a:solidFill>
                  <a:srgbClr val="0F6EBE"/>
                </a:solidFill>
                <a:latin typeface="Segoe UI Semibold"/>
                <a:cs typeface="Segoe UI Semibold"/>
              </a:rPr>
              <a:t>Action</a:t>
            </a:r>
            <a:r>
              <a:rPr sz="1500" b="1" spc="40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Notification</a:t>
            </a:r>
            <a:endParaRPr sz="15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Email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alerts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are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triggered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monthly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application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owners</a:t>
            </a:r>
            <a:r>
              <a:rPr lang="en-US" sz="1350" dirty="0">
                <a:solidFill>
                  <a:srgbClr val="202020"/>
                </a:solidFill>
                <a:latin typeface="Segoe UI"/>
                <a:cs typeface="Segoe UI"/>
              </a:rPr>
              <a:t> with Database growth details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including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details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of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top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10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high-sized</a:t>
            </a:r>
            <a:r>
              <a:rPr sz="1350" b="1" spc="-1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tables</a:t>
            </a:r>
            <a:r>
              <a:rPr lang="en-US"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and recommended Actions.</a:t>
            </a:r>
            <a:endParaRPr sz="1350" dirty="0">
              <a:latin typeface="Segoe UI Semibold"/>
              <a:cs typeface="Segoe UI Semibold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7799" y="8177776"/>
            <a:ext cx="251015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Automated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Database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Segoe UI"/>
                <a:cs typeface="Segoe UI"/>
              </a:rPr>
              <a:t>System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402589"/>
            <a:ext cx="11299824" cy="4648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45" dirty="0"/>
              <a:t> </a:t>
            </a:r>
            <a:r>
              <a:rPr dirty="0"/>
              <a:t>Differen</a:t>
            </a:r>
            <a:r>
              <a:rPr lang="en-US" dirty="0"/>
              <a:t>ce</a:t>
            </a:r>
            <a:r>
              <a:rPr dirty="0"/>
              <a:t>:</a:t>
            </a:r>
            <a:r>
              <a:rPr spc="45" dirty="0"/>
              <a:t> </a:t>
            </a:r>
            <a:r>
              <a:rPr dirty="0"/>
              <a:t>Database</a:t>
            </a:r>
            <a:r>
              <a:rPr spc="45" dirty="0"/>
              <a:t> </a:t>
            </a:r>
            <a:r>
              <a:rPr dirty="0"/>
              <a:t>Growth</a:t>
            </a:r>
            <a:r>
              <a:rPr spc="45" dirty="0"/>
              <a:t> </a:t>
            </a:r>
            <a:r>
              <a:rPr dirty="0"/>
              <a:t>Alerts</a:t>
            </a:r>
            <a:r>
              <a:rPr spc="45" dirty="0"/>
              <a:t> </a:t>
            </a:r>
            <a:r>
              <a:rPr dirty="0"/>
              <a:t>vs</a:t>
            </a:r>
            <a:r>
              <a:rPr spc="45" dirty="0"/>
              <a:t> </a:t>
            </a:r>
            <a:r>
              <a:rPr dirty="0"/>
              <a:t>Server</a:t>
            </a:r>
            <a:r>
              <a:rPr spc="45" dirty="0"/>
              <a:t> </a:t>
            </a:r>
            <a:r>
              <a:rPr spc="-10" dirty="0"/>
              <a:t>Storage</a:t>
            </a:r>
            <a:r>
              <a:rPr lang="en-US" spc="-10" dirty="0"/>
              <a:t> Alerts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588961" y="980439"/>
            <a:ext cx="5429250" cy="5610225"/>
            <a:chOff x="523874" y="1743074"/>
            <a:chExt cx="5429250" cy="5610225"/>
          </a:xfrm>
        </p:grpSpPr>
        <p:sp>
          <p:nvSpPr>
            <p:cNvPr id="5" name="object 5"/>
            <p:cNvSpPr/>
            <p:nvPr/>
          </p:nvSpPr>
          <p:spPr>
            <a:xfrm>
              <a:off x="523874" y="1743074"/>
              <a:ext cx="5429250" cy="609600"/>
            </a:xfrm>
            <a:custGeom>
              <a:avLst/>
              <a:gdLst/>
              <a:ahLst/>
              <a:cxnLst/>
              <a:rect l="l" t="t" r="r" b="b"/>
              <a:pathLst>
                <a:path w="5429250" h="609600">
                  <a:moveTo>
                    <a:pt x="5429249" y="609599"/>
                  </a:move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58053" y="0"/>
                  </a:lnTo>
                  <a:lnTo>
                    <a:pt x="5399543" y="15621"/>
                  </a:lnTo>
                  <a:lnTo>
                    <a:pt x="5425363" y="51661"/>
                  </a:lnTo>
                  <a:lnTo>
                    <a:pt x="5429249" y="71196"/>
                  </a:lnTo>
                  <a:lnTo>
                    <a:pt x="5429249" y="609599"/>
                  </a:lnTo>
                  <a:close/>
                </a:path>
              </a:pathLst>
            </a:custGeom>
            <a:solidFill>
              <a:srgbClr val="006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3874" y="2352674"/>
              <a:ext cx="5429250" cy="4151498"/>
            </a:xfrm>
            <a:custGeom>
              <a:avLst/>
              <a:gdLst/>
              <a:ahLst/>
              <a:cxnLst/>
              <a:rect l="l" t="t" r="r" b="b"/>
              <a:pathLst>
                <a:path w="5429250" h="4514850">
                  <a:moveTo>
                    <a:pt x="5358053" y="4514849"/>
                  </a:moveTo>
                  <a:lnTo>
                    <a:pt x="71196" y="4514849"/>
                  </a:lnTo>
                  <a:lnTo>
                    <a:pt x="66241" y="4514361"/>
                  </a:lnTo>
                  <a:lnTo>
                    <a:pt x="29705" y="4499227"/>
                  </a:lnTo>
                  <a:lnTo>
                    <a:pt x="3885" y="4463187"/>
                  </a:lnTo>
                  <a:lnTo>
                    <a:pt x="0" y="4443652"/>
                  </a:lnTo>
                  <a:lnTo>
                    <a:pt x="0" y="4438649"/>
                  </a:lnTo>
                  <a:lnTo>
                    <a:pt x="0" y="0"/>
                  </a:lnTo>
                  <a:lnTo>
                    <a:pt x="5429249" y="0"/>
                  </a:lnTo>
                  <a:lnTo>
                    <a:pt x="5429249" y="4443652"/>
                  </a:lnTo>
                  <a:lnTo>
                    <a:pt x="5413627" y="4485143"/>
                  </a:lnTo>
                  <a:lnTo>
                    <a:pt x="5377587" y="4510963"/>
                  </a:lnTo>
                  <a:lnTo>
                    <a:pt x="5363008" y="4514361"/>
                  </a:lnTo>
                  <a:lnTo>
                    <a:pt x="5358053" y="451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4374" y="5676899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5048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952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4374" y="6476999"/>
              <a:ext cx="5048250" cy="876300"/>
            </a:xfrm>
            <a:custGeom>
              <a:avLst/>
              <a:gdLst/>
              <a:ahLst/>
              <a:cxnLst/>
              <a:rect l="l" t="t" r="r" b="b"/>
              <a:pathLst>
                <a:path w="5048250" h="876300">
                  <a:moveTo>
                    <a:pt x="504824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876299"/>
                  </a:lnTo>
                  <a:close/>
                </a:path>
              </a:pathLst>
            </a:custGeom>
            <a:solidFill>
              <a:srgbClr val="F1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4374" y="6476999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0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close/>
                </a:path>
              </a:pathLst>
            </a:custGeom>
            <a:solidFill>
              <a:srgbClr val="006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78353" y="1114876"/>
            <a:ext cx="23202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dirty="0">
                <a:solidFill>
                  <a:srgbClr val="FFFFFF"/>
                </a:solidFill>
                <a:latin typeface="Segoe UI Semibold"/>
                <a:cs typeface="Segoe UI Semibold"/>
              </a:rPr>
              <a:t>Database</a:t>
            </a:r>
            <a:r>
              <a:rPr sz="1650" b="1" spc="2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650" b="1" dirty="0">
                <a:solidFill>
                  <a:srgbClr val="FFFFFF"/>
                </a:solidFill>
                <a:latin typeface="Segoe UI Semibold"/>
                <a:cs typeface="Segoe UI Semibold"/>
              </a:rPr>
              <a:t>Growth</a:t>
            </a:r>
            <a:r>
              <a:rPr sz="1650" b="1" spc="2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Segoe UI Semibold"/>
                <a:cs typeface="Segoe UI Semibold"/>
              </a:rPr>
              <a:t>Alerts</a:t>
            </a:r>
            <a:endParaRPr sz="1650" dirty="0">
              <a:latin typeface="Segoe UI Semibold"/>
              <a:cs typeface="Segoe UI Semibol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5285" y="1732575"/>
            <a:ext cx="2611085" cy="3570720"/>
            <a:chOff x="713774" y="1737043"/>
            <a:chExt cx="2611085" cy="35707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460" y="1737043"/>
              <a:ext cx="152399" cy="1333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771" y="2053193"/>
              <a:ext cx="152399" cy="2165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771" y="2752026"/>
              <a:ext cx="152399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771" y="3382261"/>
              <a:ext cx="13334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941" y="4016895"/>
              <a:ext cx="11432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774" y="4675836"/>
              <a:ext cx="153114" cy="1294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774" y="5193464"/>
              <a:ext cx="152399" cy="114299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sz="half" idx="2"/>
          </p:nvPr>
        </p:nvSpPr>
        <p:spPr>
          <a:xfrm>
            <a:off x="892686" y="1991518"/>
            <a:ext cx="4732020" cy="4108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463550">
              <a:lnSpc>
                <a:spcPct val="125000"/>
              </a:lnSpc>
              <a:spcBef>
                <a:spcPts val="100"/>
              </a:spcBef>
            </a:pPr>
            <a:r>
              <a:rPr b="1" dirty="0">
                <a:latin typeface="Segoe UI Semibold"/>
                <a:cs typeface="Segoe UI Semibold"/>
              </a:rPr>
              <a:t>Proactive</a:t>
            </a:r>
            <a:r>
              <a:rPr b="1" spc="-25" dirty="0">
                <a:latin typeface="Segoe UI Semibold"/>
                <a:cs typeface="Segoe UI Semibold"/>
              </a:rPr>
              <a:t> </a:t>
            </a:r>
            <a:r>
              <a:rPr b="1" dirty="0">
                <a:latin typeface="Segoe UI Semibold"/>
                <a:cs typeface="Segoe UI Semibold"/>
              </a:rPr>
              <a:t>Prevention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Monitors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5" dirty="0"/>
              <a:t> </a:t>
            </a:r>
            <a:r>
              <a:rPr dirty="0"/>
              <a:t>patterns</a:t>
            </a:r>
            <a:r>
              <a:rPr spc="-20" dirty="0"/>
              <a:t> </a:t>
            </a:r>
            <a:r>
              <a:rPr dirty="0"/>
              <a:t>before</a:t>
            </a:r>
            <a:r>
              <a:rPr spc="-20" dirty="0"/>
              <a:t> </a:t>
            </a:r>
            <a:r>
              <a:rPr spc="-10" dirty="0"/>
              <a:t>critical </a:t>
            </a:r>
            <a:r>
              <a:rPr dirty="0"/>
              <a:t>thresholds are </a:t>
            </a:r>
            <a:r>
              <a:rPr spc="-10" dirty="0"/>
              <a:t>reached</a:t>
            </a:r>
          </a:p>
          <a:p>
            <a:pPr marL="78740" marR="131445">
              <a:lnSpc>
                <a:spcPct val="125000"/>
              </a:lnSpc>
              <a:spcBef>
                <a:spcPts val="1125"/>
              </a:spcBef>
            </a:pPr>
            <a:r>
              <a:rPr b="1" spc="-30" dirty="0">
                <a:latin typeface="Segoe UI Semibold"/>
                <a:cs typeface="Segoe UI Semibold"/>
              </a:rPr>
              <a:t>Table-</a:t>
            </a:r>
            <a:r>
              <a:rPr b="1" dirty="0">
                <a:latin typeface="Segoe UI Semibold"/>
                <a:cs typeface="Segoe UI Semibold"/>
              </a:rPr>
              <a:t>Level</a:t>
            </a:r>
            <a:r>
              <a:rPr b="1" spc="-15" dirty="0">
                <a:latin typeface="Segoe UI Semibold"/>
                <a:cs typeface="Segoe UI Semibold"/>
              </a:rPr>
              <a:t> </a:t>
            </a:r>
            <a:r>
              <a:rPr b="1" dirty="0">
                <a:latin typeface="Segoe UI Semibold"/>
                <a:cs typeface="Segoe UI Semibold"/>
              </a:rPr>
              <a:t>Insights</a:t>
            </a:r>
            <a:r>
              <a:rPr dirty="0"/>
              <a:t>:</a:t>
            </a:r>
            <a:r>
              <a:rPr spc="-10" dirty="0"/>
              <a:t> </a:t>
            </a:r>
            <a:r>
              <a:rPr dirty="0"/>
              <a:t>Identifies</a:t>
            </a:r>
            <a:r>
              <a:rPr spc="-15" dirty="0"/>
              <a:t> </a:t>
            </a:r>
            <a:r>
              <a:rPr dirty="0"/>
              <a:t>top</a:t>
            </a:r>
            <a:r>
              <a:rPr spc="-10" dirty="0"/>
              <a:t> </a:t>
            </a:r>
            <a:r>
              <a:rPr dirty="0"/>
              <a:t>10</a:t>
            </a:r>
            <a:r>
              <a:rPr spc="-15" dirty="0"/>
              <a:t> </a:t>
            </a:r>
            <a:r>
              <a:rPr dirty="0"/>
              <a:t>largest</a:t>
            </a:r>
            <a:r>
              <a:rPr spc="-10" dirty="0"/>
              <a:t> </a:t>
            </a:r>
            <a:r>
              <a:rPr dirty="0"/>
              <a:t>tables</a:t>
            </a:r>
            <a:r>
              <a:rPr spc="-10" dirty="0"/>
              <a:t> </a:t>
            </a:r>
            <a:r>
              <a:rPr dirty="0"/>
              <a:t>contributing</a:t>
            </a:r>
            <a:r>
              <a:rPr spc="-15" dirty="0"/>
              <a:t> </a:t>
            </a:r>
            <a:r>
              <a:rPr spc="-25" dirty="0"/>
              <a:t>to </a:t>
            </a:r>
            <a:r>
              <a:rPr spc="-10" dirty="0"/>
              <a:t>growth</a:t>
            </a:r>
            <a:endParaRPr lang="en-US" spc="-10" dirty="0"/>
          </a:p>
          <a:p>
            <a:pPr marL="78740" marR="131445">
              <a:lnSpc>
                <a:spcPct val="125000"/>
              </a:lnSpc>
              <a:spcBef>
                <a:spcPts val="1125"/>
              </a:spcBef>
            </a:pPr>
            <a:r>
              <a:rPr b="1" spc="-10" dirty="0">
                <a:latin typeface="Segoe UI Semibold"/>
                <a:cs typeface="Segoe UI Semibold"/>
              </a:rPr>
              <a:t>Database-</a:t>
            </a:r>
            <a:r>
              <a:rPr b="1" dirty="0">
                <a:latin typeface="Segoe UI Semibold"/>
                <a:cs typeface="Segoe UI Semibold"/>
              </a:rPr>
              <a:t>Specific</a:t>
            </a:r>
            <a:r>
              <a:rPr dirty="0"/>
              <a:t>:</a:t>
            </a:r>
            <a:r>
              <a:rPr spc="-5" dirty="0"/>
              <a:t> </a:t>
            </a:r>
            <a:r>
              <a:rPr dirty="0"/>
              <a:t>Monitors each database</a:t>
            </a:r>
            <a:r>
              <a:rPr spc="-5" dirty="0"/>
              <a:t> </a:t>
            </a:r>
            <a:r>
              <a:rPr dirty="0"/>
              <a:t>independently </a:t>
            </a:r>
            <a:r>
              <a:rPr spc="-10" dirty="0"/>
              <a:t>regardless </a:t>
            </a:r>
            <a:r>
              <a:rPr dirty="0"/>
              <a:t>of server </a:t>
            </a:r>
            <a:r>
              <a:rPr spc="-10" dirty="0"/>
              <a:t>space</a:t>
            </a:r>
          </a:p>
          <a:p>
            <a:pPr marL="40640" marR="121920">
              <a:lnSpc>
                <a:spcPct val="125000"/>
              </a:lnSpc>
              <a:spcBef>
                <a:spcPts val="1125"/>
              </a:spcBef>
            </a:pPr>
            <a:r>
              <a:rPr b="1" dirty="0">
                <a:latin typeface="Segoe UI Semibold"/>
                <a:cs typeface="Segoe UI Semibold"/>
              </a:rPr>
              <a:t>Early</a:t>
            </a:r>
            <a:r>
              <a:rPr b="1" spc="-20" dirty="0">
                <a:latin typeface="Segoe UI Semibold"/>
                <a:cs typeface="Segoe UI Semibold"/>
              </a:rPr>
              <a:t> </a:t>
            </a:r>
            <a:r>
              <a:rPr b="1" spc="-10" dirty="0">
                <a:latin typeface="Segoe UI Semibold"/>
                <a:cs typeface="Segoe UI Semibold"/>
              </a:rPr>
              <a:t>Warning</a:t>
            </a:r>
            <a:r>
              <a:rPr spc="-10" dirty="0"/>
              <a:t>:</a:t>
            </a:r>
            <a:r>
              <a:rPr spc="-15" dirty="0"/>
              <a:t> </a:t>
            </a:r>
            <a:r>
              <a:rPr spc="-10" dirty="0"/>
              <a:t>Triggers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1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rate</a:t>
            </a:r>
            <a:r>
              <a:rPr spc="-15" dirty="0"/>
              <a:t> </a:t>
            </a:r>
            <a:r>
              <a:rPr dirty="0"/>
              <a:t>rather</a:t>
            </a:r>
            <a:r>
              <a:rPr spc="-15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spc="-10" dirty="0"/>
              <a:t>remaining space</a:t>
            </a:r>
            <a:endParaRPr lang="en-US" spc="-10" dirty="0"/>
          </a:p>
          <a:p>
            <a:pPr marL="40640" marR="121920">
              <a:lnSpc>
                <a:spcPct val="125000"/>
              </a:lnSpc>
              <a:spcBef>
                <a:spcPts val="1125"/>
              </a:spcBef>
            </a:pPr>
            <a:r>
              <a:rPr b="1" dirty="0">
                <a:latin typeface="Segoe UI Semibold"/>
                <a:cs typeface="Segoe UI Semibold"/>
              </a:rPr>
              <a:t>Actionable</a:t>
            </a:r>
            <a:r>
              <a:rPr b="1" spc="-15" dirty="0">
                <a:latin typeface="Segoe UI Semibold"/>
                <a:cs typeface="Segoe UI Semibold"/>
              </a:rPr>
              <a:t> </a:t>
            </a:r>
            <a:r>
              <a:rPr b="1" dirty="0">
                <a:latin typeface="Segoe UI Semibold"/>
                <a:cs typeface="Segoe UI Semibold"/>
              </a:rPr>
              <a:t>Insights</a:t>
            </a:r>
            <a:r>
              <a:rPr dirty="0"/>
              <a:t>:</a:t>
            </a:r>
            <a:r>
              <a:rPr spc="-10" dirty="0"/>
              <a:t> </a:t>
            </a:r>
            <a:r>
              <a:rPr dirty="0"/>
              <a:t>Provides</a:t>
            </a:r>
            <a:r>
              <a:rPr spc="-10" dirty="0"/>
              <a:t> </a:t>
            </a:r>
            <a:r>
              <a:rPr dirty="0"/>
              <a:t>specific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targeted</a:t>
            </a:r>
            <a:r>
              <a:rPr spc="-10" dirty="0"/>
              <a:t> remediation</a:t>
            </a:r>
          </a:p>
          <a:p>
            <a:pPr marL="78740" marR="426084">
              <a:lnSpc>
                <a:spcPct val="125000"/>
              </a:lnSpc>
            </a:pPr>
            <a:r>
              <a:rPr b="1" dirty="0">
                <a:latin typeface="Segoe UI Semibold"/>
                <a:cs typeface="Segoe UI Semibold"/>
              </a:rPr>
              <a:t>Notification</a:t>
            </a:r>
            <a:r>
              <a:rPr b="1" spc="-10" dirty="0">
                <a:latin typeface="Segoe UI Semibold"/>
                <a:cs typeface="Segoe UI Semibold"/>
              </a:rPr>
              <a:t> Type</a:t>
            </a:r>
            <a:r>
              <a:rPr spc="-10" dirty="0"/>
              <a:t>:</a:t>
            </a:r>
            <a:r>
              <a:rPr spc="-5" dirty="0"/>
              <a:t> </a:t>
            </a:r>
            <a:r>
              <a:rPr dirty="0"/>
              <a:t>Action</a:t>
            </a:r>
            <a:r>
              <a:rPr spc="-10" dirty="0"/>
              <a:t> </a:t>
            </a:r>
            <a:r>
              <a:rPr dirty="0"/>
              <a:t>notification</a:t>
            </a:r>
            <a:r>
              <a:rPr spc="-5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specific</a:t>
            </a:r>
            <a:r>
              <a:rPr spc="-5" dirty="0"/>
              <a:t> </a:t>
            </a:r>
            <a:r>
              <a:rPr spc="-10" dirty="0"/>
              <a:t>remediation guidance</a:t>
            </a:r>
          </a:p>
          <a:p>
            <a:pPr marL="12700">
              <a:lnSpc>
                <a:spcPct val="100000"/>
              </a:lnSpc>
            </a:pPr>
            <a:endParaRPr lang="en-US" spc="-10" dirty="0"/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1C4ED8"/>
                </a:solidFill>
                <a:latin typeface="Segoe UI Semibold"/>
                <a:cs typeface="Segoe UI Semibold"/>
              </a:rPr>
              <a:t>Key</a:t>
            </a:r>
            <a:r>
              <a:rPr b="1" spc="-3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Benefit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2650" y="7035800"/>
            <a:ext cx="3458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trigger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97372" y="980439"/>
            <a:ext cx="5429250" cy="5534040"/>
            <a:chOff x="6238873" y="1743074"/>
            <a:chExt cx="5429250" cy="5956380"/>
          </a:xfrm>
        </p:grpSpPr>
        <p:sp>
          <p:nvSpPr>
            <p:cNvPr id="22" name="object 22"/>
            <p:cNvSpPr/>
            <p:nvPr/>
          </p:nvSpPr>
          <p:spPr>
            <a:xfrm>
              <a:off x="6238873" y="1743074"/>
              <a:ext cx="5429250" cy="609600"/>
            </a:xfrm>
            <a:custGeom>
              <a:avLst/>
              <a:gdLst/>
              <a:ahLst/>
              <a:cxnLst/>
              <a:rect l="l" t="t" r="r" b="b"/>
              <a:pathLst>
                <a:path w="5429250" h="609600">
                  <a:moveTo>
                    <a:pt x="5429250" y="609599"/>
                  </a:move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5358053" y="0"/>
                  </a:lnTo>
                  <a:lnTo>
                    <a:pt x="5399542" y="15621"/>
                  </a:lnTo>
                  <a:lnTo>
                    <a:pt x="5425362" y="51661"/>
                  </a:lnTo>
                  <a:lnTo>
                    <a:pt x="5429250" y="71196"/>
                  </a:lnTo>
                  <a:lnTo>
                    <a:pt x="5429250" y="6095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38873" y="2352674"/>
              <a:ext cx="5429250" cy="4514850"/>
            </a:xfrm>
            <a:custGeom>
              <a:avLst/>
              <a:gdLst/>
              <a:ahLst/>
              <a:cxnLst/>
              <a:rect l="l" t="t" r="r" b="b"/>
              <a:pathLst>
                <a:path w="5429250" h="4514850">
                  <a:moveTo>
                    <a:pt x="5358053" y="4514849"/>
                  </a:moveTo>
                  <a:lnTo>
                    <a:pt x="71197" y="4514849"/>
                  </a:lnTo>
                  <a:lnTo>
                    <a:pt x="66241" y="4514361"/>
                  </a:lnTo>
                  <a:lnTo>
                    <a:pt x="29705" y="4499227"/>
                  </a:lnTo>
                  <a:lnTo>
                    <a:pt x="3885" y="4463187"/>
                  </a:lnTo>
                  <a:lnTo>
                    <a:pt x="0" y="4443652"/>
                  </a:lnTo>
                  <a:lnTo>
                    <a:pt x="0" y="4438649"/>
                  </a:lnTo>
                  <a:lnTo>
                    <a:pt x="0" y="0"/>
                  </a:lnTo>
                  <a:lnTo>
                    <a:pt x="5429250" y="0"/>
                  </a:lnTo>
                  <a:lnTo>
                    <a:pt x="5429250" y="4443652"/>
                  </a:lnTo>
                  <a:lnTo>
                    <a:pt x="5413625" y="4485143"/>
                  </a:lnTo>
                  <a:lnTo>
                    <a:pt x="5377587" y="4510963"/>
                  </a:lnTo>
                  <a:lnTo>
                    <a:pt x="5363007" y="4514361"/>
                  </a:lnTo>
                  <a:lnTo>
                    <a:pt x="5358053" y="451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29374" y="5257799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5048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952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93052" y="6823154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0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918448" y="1144269"/>
            <a:ext cx="207010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dirty="0">
                <a:solidFill>
                  <a:srgbClr val="FFFFFF"/>
                </a:solidFill>
                <a:latin typeface="Segoe UI Semibold"/>
                <a:cs typeface="Segoe UI Semibold"/>
              </a:rPr>
              <a:t>Server</a:t>
            </a:r>
            <a:r>
              <a:rPr sz="1650" b="1" spc="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650" b="1" dirty="0">
                <a:solidFill>
                  <a:srgbClr val="FFFFFF"/>
                </a:solidFill>
                <a:latin typeface="Segoe UI Semibold"/>
                <a:cs typeface="Segoe UI Semibold"/>
              </a:rPr>
              <a:t>Storage</a:t>
            </a:r>
            <a:r>
              <a:rPr sz="1650" b="1" spc="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Segoe UI Semibold"/>
                <a:cs typeface="Segoe UI Semibold"/>
              </a:rPr>
              <a:t>Alerts</a:t>
            </a:r>
            <a:endParaRPr sz="1650" dirty="0">
              <a:latin typeface="Segoe UI Semibold"/>
              <a:cs typeface="Segoe UI Semibold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80808" y="1718501"/>
            <a:ext cx="2607924" cy="3034487"/>
            <a:chOff x="6380808" y="1718501"/>
            <a:chExt cx="2607924" cy="3034487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35261" y="1718501"/>
              <a:ext cx="153471" cy="1333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0808" y="2065642"/>
              <a:ext cx="134748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7872" y="2667088"/>
              <a:ext cx="152399" cy="13334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01708" y="3281068"/>
              <a:ext cx="152399" cy="13334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17337" y="3648443"/>
              <a:ext cx="114329" cy="152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96721" y="4016896"/>
              <a:ext cx="152399" cy="1523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25973" y="4600589"/>
              <a:ext cx="152399" cy="1523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592659" y="1991518"/>
            <a:ext cx="4823460" cy="287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297180">
              <a:lnSpc>
                <a:spcPct val="125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Reactive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Notification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triggers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after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space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threshold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been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breached</a:t>
            </a:r>
            <a:endParaRPr sz="1200" dirty="0">
              <a:latin typeface="Segoe UI"/>
              <a:cs typeface="Segoe UI"/>
            </a:endParaRPr>
          </a:p>
          <a:p>
            <a:pPr marL="50165" marR="5080">
              <a:lnSpc>
                <a:spcPct val="125000"/>
              </a:lnSpc>
              <a:spcBef>
                <a:spcPts val="1125"/>
              </a:spcBef>
            </a:pPr>
            <a:r>
              <a:rPr sz="1200" b="1" spc="-20" dirty="0">
                <a:solidFill>
                  <a:srgbClr val="333333"/>
                </a:solidFill>
                <a:latin typeface="Segoe UI Semibold"/>
                <a:cs typeface="Segoe UI Semibold"/>
              </a:rPr>
              <a:t>Server-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Level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Only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details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tables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causing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issue</a:t>
            </a:r>
            <a:endParaRPr sz="1200" dirty="0">
              <a:latin typeface="Segoe UI"/>
              <a:cs typeface="Segoe UI"/>
            </a:endParaRPr>
          </a:p>
          <a:p>
            <a:pPr marL="50165">
              <a:lnSpc>
                <a:spcPct val="100000"/>
              </a:lnSpc>
              <a:spcBef>
                <a:spcPts val="1485"/>
              </a:spcBef>
            </a:pPr>
            <a:r>
              <a:rPr sz="1200" b="1" spc="-15" dirty="0">
                <a:solidFill>
                  <a:srgbClr val="333333"/>
                </a:solidFill>
                <a:latin typeface="Segoe UI Semibold"/>
                <a:cs typeface="Segoe UI Semibold"/>
              </a:rPr>
              <a:t>Disk-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Focused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Monitors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overall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200" b="1" spc="-20" dirty="0">
                <a:solidFill>
                  <a:srgbClr val="333333"/>
                </a:solidFill>
                <a:latin typeface="Segoe UI Semibold"/>
                <a:cs typeface="Segoe UI Semibold"/>
              </a:rPr>
              <a:t>Last-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Minute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 Warning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Often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leaves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little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proper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remediation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 dirty="0">
              <a:latin typeface="Segoe UI"/>
              <a:cs typeface="Segoe UI"/>
            </a:endParaRPr>
          </a:p>
          <a:p>
            <a:pPr marL="50165">
              <a:lnSpc>
                <a:spcPct val="100000"/>
              </a:lnSpc>
            </a:pP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Limited</a:t>
            </a:r>
            <a:r>
              <a:rPr sz="12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Context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diagnostic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targeted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action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 dirty="0">
              <a:latin typeface="Segoe UI"/>
              <a:cs typeface="Segoe UI"/>
            </a:endParaRPr>
          </a:p>
          <a:p>
            <a:pPr marL="50165">
              <a:lnSpc>
                <a:spcPct val="100000"/>
              </a:lnSpc>
            </a:pP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Notification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 Type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Simple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alert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actionable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18492" y="5678941"/>
            <a:ext cx="5048250" cy="876300"/>
          </a:xfrm>
          <a:prstGeom prst="rect">
            <a:avLst/>
          </a:prstGeom>
          <a:solidFill>
            <a:srgbClr val="FFF9F9"/>
          </a:solidFill>
        </p:spPr>
        <p:txBody>
          <a:bodyPr vert="horz" wrap="square" lIns="0" tIns="11430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900"/>
              </a:spcBef>
            </a:pPr>
            <a:r>
              <a:rPr sz="1200" b="1" dirty="0">
                <a:solidFill>
                  <a:srgbClr val="B91B1B"/>
                </a:solidFill>
                <a:latin typeface="Segoe UI Semibold"/>
                <a:cs typeface="Segoe UI Semibold"/>
              </a:rPr>
              <a:t>Key</a:t>
            </a:r>
            <a:r>
              <a:rPr sz="1200" b="1" spc="-35" dirty="0">
                <a:solidFill>
                  <a:srgbClr val="B91B1B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B91B1B"/>
                </a:solidFill>
                <a:latin typeface="Segoe UI Semibold"/>
                <a:cs typeface="Segoe UI Semibold"/>
              </a:rPr>
              <a:t>Limitation</a:t>
            </a:r>
            <a:endParaRPr sz="1200" dirty="0">
              <a:latin typeface="Segoe UI Semibold"/>
              <a:cs typeface="Segoe UI Semibold"/>
            </a:endParaRPr>
          </a:p>
          <a:p>
            <a:pPr marL="180975" marR="872490">
              <a:lnSpc>
                <a:spcPct val="125000"/>
              </a:lnSpc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after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problem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exists,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often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leading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urgent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firefighting rather than controlled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management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1609" y="5968490"/>
            <a:ext cx="4481830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endParaRPr lang="en-US" sz="120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25400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Prevents problems by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identifying</a:t>
            </a:r>
            <a:r>
              <a:rPr sz="1200" spc="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growth</a:t>
            </a:r>
            <a:r>
              <a:rPr sz="1200" spc="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anomalies</a:t>
            </a:r>
            <a:r>
              <a:rPr sz="1200" spc="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200" spc="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lang="en-US"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lang="en-US"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lang="en-US"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lang="en-US"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lang="en-US"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trigger</a:t>
            </a:r>
            <a:r>
              <a:rPr lang="en-US"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lang="en-US"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200" spc="-10" dirty="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endParaRPr lang="en-US" sz="12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457290"/>
            <a:ext cx="7818120" cy="436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Real-</a:t>
            </a:r>
            <a:r>
              <a:rPr dirty="0"/>
              <a:t>World</a:t>
            </a:r>
            <a:r>
              <a:rPr spc="5" dirty="0"/>
              <a:t> </a:t>
            </a:r>
            <a:r>
              <a:rPr dirty="0"/>
              <a:t>Case</a:t>
            </a:r>
            <a:r>
              <a:rPr spc="5" dirty="0"/>
              <a:t> </a:t>
            </a:r>
            <a:r>
              <a:rPr dirty="0"/>
              <a:t>Study: 6-Database</a:t>
            </a:r>
            <a:r>
              <a:rPr spc="5" dirty="0"/>
              <a:t> </a:t>
            </a:r>
            <a:r>
              <a:rPr spc="-10" dirty="0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6552" y="937893"/>
            <a:ext cx="5524500" cy="4953000"/>
            <a:chOff x="380999" y="1200149"/>
            <a:chExt cx="5524500" cy="4953000"/>
          </a:xfrm>
        </p:grpSpPr>
        <p:sp>
          <p:nvSpPr>
            <p:cNvPr id="4" name="object 4"/>
            <p:cNvSpPr/>
            <p:nvPr/>
          </p:nvSpPr>
          <p:spPr>
            <a:xfrm>
              <a:off x="380999" y="1200149"/>
              <a:ext cx="5524500" cy="4953000"/>
            </a:xfrm>
            <a:custGeom>
              <a:avLst/>
              <a:gdLst/>
              <a:ahLst/>
              <a:cxnLst/>
              <a:rect l="l" t="t" r="r" b="b"/>
              <a:pathLst>
                <a:path w="5524500" h="4953000">
                  <a:moveTo>
                    <a:pt x="5453302" y="4952999"/>
                  </a:moveTo>
                  <a:lnTo>
                    <a:pt x="71196" y="4952999"/>
                  </a:lnTo>
                  <a:lnTo>
                    <a:pt x="66241" y="4952511"/>
                  </a:lnTo>
                  <a:lnTo>
                    <a:pt x="29705" y="4937377"/>
                  </a:lnTo>
                  <a:lnTo>
                    <a:pt x="3885" y="4901337"/>
                  </a:lnTo>
                  <a:lnTo>
                    <a:pt x="0" y="4881802"/>
                  </a:lnTo>
                  <a:lnTo>
                    <a:pt x="0" y="4876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3" y="51661"/>
                  </a:lnTo>
                  <a:lnTo>
                    <a:pt x="5524499" y="71196"/>
                  </a:lnTo>
                  <a:lnTo>
                    <a:pt x="5524499" y="4881802"/>
                  </a:lnTo>
                  <a:lnTo>
                    <a:pt x="5508877" y="4923293"/>
                  </a:lnTo>
                  <a:lnTo>
                    <a:pt x="5472837" y="4949113"/>
                  </a:lnTo>
                  <a:lnTo>
                    <a:pt x="5458258" y="4952511"/>
                  </a:lnTo>
                  <a:lnTo>
                    <a:pt x="5453302" y="495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787" y="2438399"/>
              <a:ext cx="5129530" cy="571500"/>
            </a:xfrm>
            <a:custGeom>
              <a:avLst/>
              <a:gdLst/>
              <a:ahLst/>
              <a:cxnLst/>
              <a:rect l="l" t="t" r="r" b="b"/>
              <a:pathLst>
                <a:path w="5129530" h="571500">
                  <a:moveTo>
                    <a:pt x="5096163" y="571499"/>
                  </a:moveTo>
                  <a:lnTo>
                    <a:pt x="20654" y="571499"/>
                  </a:lnTo>
                  <a:lnTo>
                    <a:pt x="17617" y="570532"/>
                  </a:lnTo>
                  <a:lnTo>
                    <a:pt x="0" y="538452"/>
                  </a:lnTo>
                  <a:lnTo>
                    <a:pt x="0" y="533399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5096163" y="0"/>
                  </a:lnTo>
                  <a:lnTo>
                    <a:pt x="5128244" y="28187"/>
                  </a:lnTo>
                  <a:lnTo>
                    <a:pt x="5129211" y="33047"/>
                  </a:lnTo>
                  <a:lnTo>
                    <a:pt x="5129211" y="538452"/>
                  </a:lnTo>
                  <a:lnTo>
                    <a:pt x="5101023" y="570532"/>
                  </a:lnTo>
                  <a:lnTo>
                    <a:pt x="5096163" y="5714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499" y="2438655"/>
              <a:ext cx="35560" cy="571500"/>
            </a:xfrm>
            <a:custGeom>
              <a:avLst/>
              <a:gdLst/>
              <a:ahLst/>
              <a:cxnLst/>
              <a:rect l="l" t="t" r="r" b="b"/>
              <a:pathLst>
                <a:path w="35559" h="571500">
                  <a:moveTo>
                    <a:pt x="35315" y="570988"/>
                  </a:moveTo>
                  <a:lnTo>
                    <a:pt x="2789" y="547770"/>
                  </a:lnTo>
                  <a:lnTo>
                    <a:pt x="0" y="533144"/>
                  </a:lnTo>
                  <a:lnTo>
                    <a:pt x="0" y="37844"/>
                  </a:lnTo>
                  <a:lnTo>
                    <a:pt x="23474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533144"/>
                  </a:lnTo>
                  <a:lnTo>
                    <a:pt x="33224" y="567524"/>
                  </a:lnTo>
                  <a:lnTo>
                    <a:pt x="35315" y="570988"/>
                  </a:lnTo>
                  <a:close/>
                </a:path>
              </a:pathLst>
            </a:custGeom>
            <a:solidFill>
              <a:srgbClr val="006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5787" y="3105149"/>
              <a:ext cx="5129530" cy="571500"/>
            </a:xfrm>
            <a:custGeom>
              <a:avLst/>
              <a:gdLst/>
              <a:ahLst/>
              <a:cxnLst/>
              <a:rect l="l" t="t" r="r" b="b"/>
              <a:pathLst>
                <a:path w="5129530" h="571500">
                  <a:moveTo>
                    <a:pt x="5096163" y="571499"/>
                  </a:moveTo>
                  <a:lnTo>
                    <a:pt x="20654" y="571499"/>
                  </a:lnTo>
                  <a:lnTo>
                    <a:pt x="17617" y="570533"/>
                  </a:lnTo>
                  <a:lnTo>
                    <a:pt x="0" y="538452"/>
                  </a:lnTo>
                  <a:lnTo>
                    <a:pt x="0" y="533399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5096163" y="0"/>
                  </a:lnTo>
                  <a:lnTo>
                    <a:pt x="5128244" y="28187"/>
                  </a:lnTo>
                  <a:lnTo>
                    <a:pt x="5129211" y="33047"/>
                  </a:lnTo>
                  <a:lnTo>
                    <a:pt x="5129211" y="538452"/>
                  </a:lnTo>
                  <a:lnTo>
                    <a:pt x="5101023" y="570533"/>
                  </a:lnTo>
                  <a:lnTo>
                    <a:pt x="5096163" y="571499"/>
                  </a:lnTo>
                  <a:close/>
                </a:path>
              </a:pathLst>
            </a:custGeom>
            <a:solidFill>
              <a:srgbClr val="FF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499" y="3105405"/>
              <a:ext cx="35560" cy="571500"/>
            </a:xfrm>
            <a:custGeom>
              <a:avLst/>
              <a:gdLst/>
              <a:ahLst/>
              <a:cxnLst/>
              <a:rect l="l" t="t" r="r" b="b"/>
              <a:pathLst>
                <a:path w="35559" h="571500">
                  <a:moveTo>
                    <a:pt x="35315" y="570988"/>
                  </a:moveTo>
                  <a:lnTo>
                    <a:pt x="2789" y="547770"/>
                  </a:lnTo>
                  <a:lnTo>
                    <a:pt x="0" y="533144"/>
                  </a:lnTo>
                  <a:lnTo>
                    <a:pt x="0" y="37844"/>
                  </a:lnTo>
                  <a:lnTo>
                    <a:pt x="23474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1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533144"/>
                  </a:lnTo>
                  <a:lnTo>
                    <a:pt x="33224" y="567524"/>
                  </a:lnTo>
                  <a:lnTo>
                    <a:pt x="35315" y="570988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0549" y="3790949"/>
              <a:ext cx="5124450" cy="838200"/>
            </a:xfrm>
            <a:custGeom>
              <a:avLst/>
              <a:gdLst/>
              <a:ahLst/>
              <a:cxnLst/>
              <a:rect l="l" t="t" r="r" b="b"/>
              <a:pathLst>
                <a:path w="5124450" h="838200">
                  <a:moveTo>
                    <a:pt x="5071052" y="838199"/>
                  </a:moveTo>
                  <a:lnTo>
                    <a:pt x="33047" y="838199"/>
                  </a:lnTo>
                  <a:lnTo>
                    <a:pt x="28187" y="836749"/>
                  </a:lnTo>
                  <a:lnTo>
                    <a:pt x="966" y="795918"/>
                  </a:lnTo>
                  <a:lnTo>
                    <a:pt x="0" y="788628"/>
                  </a:lnTo>
                  <a:lnTo>
                    <a:pt x="0" y="7810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071052" y="0"/>
                  </a:lnTo>
                  <a:lnTo>
                    <a:pt x="5110363" y="19391"/>
                  </a:lnTo>
                  <a:lnTo>
                    <a:pt x="5124449" y="53397"/>
                  </a:lnTo>
                  <a:lnTo>
                    <a:pt x="5124449" y="784802"/>
                  </a:lnTo>
                  <a:lnTo>
                    <a:pt x="5105056" y="824114"/>
                  </a:lnTo>
                  <a:lnTo>
                    <a:pt x="5074768" y="837833"/>
                  </a:lnTo>
                  <a:lnTo>
                    <a:pt x="5071052" y="8381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99" y="3790949"/>
              <a:ext cx="52069" cy="838200"/>
            </a:xfrm>
            <a:custGeom>
              <a:avLst/>
              <a:gdLst/>
              <a:ahLst/>
              <a:cxnLst/>
              <a:rect l="l" t="t" r="r" b="b"/>
              <a:pathLst>
                <a:path w="52070" h="838200">
                  <a:moveTo>
                    <a:pt x="51889" y="838199"/>
                  </a:moveTo>
                  <a:lnTo>
                    <a:pt x="49571" y="838199"/>
                  </a:lnTo>
                  <a:lnTo>
                    <a:pt x="42281" y="836749"/>
                  </a:lnTo>
                  <a:lnTo>
                    <a:pt x="7250" y="809922"/>
                  </a:lnTo>
                  <a:lnTo>
                    <a:pt x="0" y="7886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81050"/>
                  </a:lnTo>
                  <a:lnTo>
                    <a:pt x="43679" y="821461"/>
                  </a:lnTo>
                  <a:lnTo>
                    <a:pt x="47399" y="832620"/>
                  </a:lnTo>
                  <a:lnTo>
                    <a:pt x="51889" y="838199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499" y="4819649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51434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143499" y="0"/>
                  </a:lnTo>
                  <a:lnTo>
                    <a:pt x="5143499" y="952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1450655"/>
              <a:ext cx="198090" cy="1733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4" y="2647949"/>
              <a:ext cx="13334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4" y="3314699"/>
              <a:ext cx="133349" cy="15239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571499" y="6905624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5143499" y="9524"/>
                </a:moveTo>
                <a:lnTo>
                  <a:pt x="0" y="9524"/>
                </a:lnTo>
                <a:lnTo>
                  <a:pt x="0" y="0"/>
                </a:lnTo>
                <a:lnTo>
                  <a:pt x="5143499" y="0"/>
                </a:lnTo>
                <a:lnTo>
                  <a:pt x="5143499" y="952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1340" y="1126806"/>
            <a:ext cx="4876165" cy="2183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0066B1"/>
                </a:solidFill>
                <a:latin typeface="Segoe UI Semibold"/>
                <a:cs typeface="Segoe UI Semibold"/>
              </a:rPr>
              <a:t>Scenario</a:t>
            </a:r>
            <a:endParaRPr sz="1550" dirty="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113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SQL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hosts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6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application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significantly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different characteristics: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 dirty="0">
              <a:latin typeface="Segoe UI"/>
              <a:cs typeface="Segoe UI"/>
            </a:endParaRPr>
          </a:p>
          <a:p>
            <a:pPr marL="345440">
              <a:lnSpc>
                <a:spcPct val="100000"/>
              </a:lnSpc>
            </a:pP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5</a:t>
            </a:r>
            <a:r>
              <a:rPr sz="12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Lightweight</a:t>
            </a:r>
            <a:r>
              <a:rPr sz="12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Databases</a:t>
            </a:r>
            <a:endParaRPr sz="1200" dirty="0">
              <a:latin typeface="Segoe UI Semibold"/>
              <a:cs typeface="Segoe UI Semibold"/>
            </a:endParaRPr>
          </a:p>
          <a:p>
            <a:pPr marL="34544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Each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&lt;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100GB,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predictable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patterns</a:t>
            </a:r>
            <a:endParaRPr sz="10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050" dirty="0">
              <a:latin typeface="Segoe UI"/>
              <a:cs typeface="Segoe UI"/>
            </a:endParaRPr>
          </a:p>
          <a:p>
            <a:pPr marL="345440">
              <a:lnSpc>
                <a:spcPct val="100000"/>
              </a:lnSpc>
            </a:pP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1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Large</a:t>
            </a:r>
            <a:r>
              <a:rPr sz="12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 Transactional Database</a:t>
            </a:r>
            <a:endParaRPr sz="1200" dirty="0">
              <a:latin typeface="Segoe UI Semibold"/>
              <a:cs typeface="Segoe UI Semibold"/>
            </a:endParaRPr>
          </a:p>
          <a:p>
            <a:pPr marL="34544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300+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GB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with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complex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tables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and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high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transaction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volume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798" y="3599040"/>
            <a:ext cx="4589145" cy="636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solidFill>
                  <a:srgbClr val="91400D"/>
                </a:solidFill>
                <a:latin typeface="Segoe UI Semibold"/>
                <a:cs typeface="Segoe UI Semibold"/>
              </a:rPr>
              <a:t>Sudden</a:t>
            </a:r>
            <a:r>
              <a:rPr sz="1200" b="1" spc="-45" dirty="0">
                <a:solidFill>
                  <a:srgbClr val="91400D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91400D"/>
                </a:solidFill>
                <a:latin typeface="Segoe UI Semibold"/>
                <a:cs typeface="Segoe UI Semibold"/>
              </a:rPr>
              <a:t>Issue</a:t>
            </a:r>
            <a:endParaRPr sz="1200" dirty="0">
              <a:latin typeface="Segoe UI Semibold"/>
              <a:cs typeface="Segoe UI Semibold"/>
            </a:endParaRPr>
          </a:p>
          <a:p>
            <a:pPr marL="12700" marR="5080">
              <a:lnSpc>
                <a:spcPct val="119000"/>
              </a:lnSpc>
              <a:spcBef>
                <a:spcPts val="45"/>
              </a:spcBef>
            </a:pP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The</a:t>
            </a:r>
            <a:r>
              <a:rPr sz="1050" spc="-10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large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database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begins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growing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exponentially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due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to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a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new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feature</a:t>
            </a:r>
            <a:r>
              <a:rPr sz="1050" spc="-5" dirty="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74050"/>
                </a:solidFill>
                <a:latin typeface="Segoe UI"/>
                <a:cs typeface="Segoe UI"/>
              </a:rPr>
              <a:t>launch </a:t>
            </a:r>
            <a:r>
              <a:rPr sz="1050" dirty="0">
                <a:solidFill>
                  <a:srgbClr val="374050"/>
                </a:solidFill>
                <a:latin typeface="Segoe UI"/>
                <a:cs typeface="Segoe UI"/>
              </a:rPr>
              <a:t>without proper data archiving </a:t>
            </a:r>
            <a:r>
              <a:rPr sz="1050" spc="-10" dirty="0">
                <a:solidFill>
                  <a:srgbClr val="374050"/>
                </a:solidFill>
                <a:latin typeface="Segoe UI"/>
                <a:cs typeface="Segoe UI"/>
              </a:rPr>
              <a:t>strategy.</a:t>
            </a:r>
            <a:endParaRPr sz="1050" dirty="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1499" y="939659"/>
            <a:ext cx="11231292" cy="4953000"/>
            <a:chOff x="571499" y="939659"/>
            <a:chExt cx="11231292" cy="49530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5019674"/>
              <a:ext cx="182760" cy="1827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" y="5381624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598" y="4816438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499" y="5686424"/>
              <a:ext cx="152399" cy="1523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78291" y="939659"/>
              <a:ext cx="5524500" cy="4953000"/>
            </a:xfrm>
            <a:custGeom>
              <a:avLst/>
              <a:gdLst/>
              <a:ahLst/>
              <a:cxnLst/>
              <a:rect l="l" t="t" r="r" b="b"/>
              <a:pathLst>
                <a:path w="5524500" h="4953000">
                  <a:moveTo>
                    <a:pt x="5453303" y="4952999"/>
                  </a:moveTo>
                  <a:lnTo>
                    <a:pt x="71196" y="4952999"/>
                  </a:lnTo>
                  <a:lnTo>
                    <a:pt x="66241" y="4952511"/>
                  </a:lnTo>
                  <a:lnTo>
                    <a:pt x="29705" y="4937377"/>
                  </a:lnTo>
                  <a:lnTo>
                    <a:pt x="3885" y="4901337"/>
                  </a:lnTo>
                  <a:lnTo>
                    <a:pt x="0" y="4881802"/>
                  </a:lnTo>
                  <a:lnTo>
                    <a:pt x="0" y="4876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4" y="15621"/>
                  </a:lnTo>
                  <a:lnTo>
                    <a:pt x="5520614" y="51661"/>
                  </a:lnTo>
                  <a:lnTo>
                    <a:pt x="5524500" y="71196"/>
                  </a:lnTo>
                  <a:lnTo>
                    <a:pt x="5524500" y="4881802"/>
                  </a:lnTo>
                  <a:lnTo>
                    <a:pt x="5508877" y="4923293"/>
                  </a:lnTo>
                  <a:lnTo>
                    <a:pt x="5472838" y="4949113"/>
                  </a:lnTo>
                  <a:lnTo>
                    <a:pt x="5458258" y="4952511"/>
                  </a:lnTo>
                  <a:lnTo>
                    <a:pt x="5453303" y="495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6998" y="4171949"/>
              <a:ext cx="5143500" cy="1333500"/>
            </a:xfrm>
            <a:custGeom>
              <a:avLst/>
              <a:gdLst/>
              <a:ahLst/>
              <a:cxnLst/>
              <a:rect l="l" t="t" r="r" b="b"/>
              <a:pathLst>
                <a:path w="5143500" h="1333500">
                  <a:moveTo>
                    <a:pt x="5110452" y="1333499"/>
                  </a:moveTo>
                  <a:lnTo>
                    <a:pt x="33047" y="1333499"/>
                  </a:lnTo>
                  <a:lnTo>
                    <a:pt x="28187" y="1332532"/>
                  </a:lnTo>
                  <a:lnTo>
                    <a:pt x="966" y="1305311"/>
                  </a:lnTo>
                  <a:lnTo>
                    <a:pt x="0" y="1300451"/>
                  </a:lnTo>
                  <a:lnTo>
                    <a:pt x="0" y="1295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10452" y="0"/>
                  </a:lnTo>
                  <a:lnTo>
                    <a:pt x="5142532" y="28186"/>
                  </a:lnTo>
                  <a:lnTo>
                    <a:pt x="5143499" y="33047"/>
                  </a:lnTo>
                  <a:lnTo>
                    <a:pt x="5143499" y="1300451"/>
                  </a:lnTo>
                  <a:lnTo>
                    <a:pt x="5115311" y="1332532"/>
                  </a:lnTo>
                  <a:lnTo>
                    <a:pt x="5110452" y="1333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173" y="1030683"/>
              <a:ext cx="5143499" cy="22859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35684" y="5643949"/>
            <a:ext cx="3785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All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impacted,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outages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all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users</a:t>
            </a:r>
            <a:endParaRPr sz="1200" dirty="0">
              <a:latin typeface="Segoe UI"/>
              <a:cs typeface="Segoe U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0" y="7096125"/>
            <a:ext cx="182760" cy="18276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87399" y="7071994"/>
            <a:ext cx="4385945" cy="147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90"/>
              </a:spcBef>
            </a:pPr>
            <a:r>
              <a:rPr sz="1450" b="1" spc="-10" dirty="0">
                <a:solidFill>
                  <a:srgbClr val="28A645"/>
                </a:solidFill>
                <a:latin typeface="Segoe UI Semibold"/>
                <a:cs typeface="Segoe UI Semibold"/>
              </a:rPr>
              <a:t>Benefits</a:t>
            </a:r>
            <a:r>
              <a:rPr sz="1450" b="1" spc="-65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450" b="1" dirty="0">
                <a:solidFill>
                  <a:srgbClr val="28A645"/>
                </a:solidFill>
                <a:latin typeface="Segoe UI Semibold"/>
                <a:cs typeface="Segoe UI Semibold"/>
              </a:rPr>
              <a:t>of</a:t>
            </a:r>
            <a:r>
              <a:rPr sz="1450" b="1" spc="-60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450" b="1" spc="-10" dirty="0">
                <a:solidFill>
                  <a:srgbClr val="28A645"/>
                </a:solidFill>
                <a:latin typeface="Segoe UI Semibold"/>
                <a:cs typeface="Segoe UI Semibold"/>
              </a:rPr>
              <a:t>Proactive</a:t>
            </a:r>
            <a:r>
              <a:rPr sz="1450" b="1" spc="-60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450" b="1" dirty="0">
                <a:solidFill>
                  <a:srgbClr val="28A645"/>
                </a:solidFill>
                <a:latin typeface="Segoe UI Semibold"/>
                <a:cs typeface="Segoe UI Semibold"/>
              </a:rPr>
              <a:t>Growth</a:t>
            </a:r>
            <a:r>
              <a:rPr sz="1450" b="1" spc="-60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450" b="1" spc="-10" dirty="0">
                <a:solidFill>
                  <a:srgbClr val="28A645"/>
                </a:solidFill>
                <a:latin typeface="Segoe UI Semibold"/>
                <a:cs typeface="Segoe UI Semibold"/>
              </a:rPr>
              <a:t>Alerts</a:t>
            </a:r>
            <a:endParaRPr sz="1450">
              <a:latin typeface="Segoe UI Semibold"/>
              <a:cs typeface="Segoe UI Semibold"/>
            </a:endParaRPr>
          </a:p>
          <a:p>
            <a:pPr marL="12700" marR="5080">
              <a:lnSpc>
                <a:spcPct val="1667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Early detection of anomalous growth pattern in specific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database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Identification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 exact tables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causing growth (top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10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tables)</a:t>
            </a:r>
            <a:endParaRPr sz="1200">
              <a:latin typeface="Segoe UI"/>
              <a:cs typeface="Segoe UI"/>
            </a:endParaRPr>
          </a:p>
          <a:p>
            <a:pPr marL="12700" marR="28575">
              <a:lnSpc>
                <a:spcPct val="166700"/>
              </a:lnSpc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implement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targeted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archiving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tables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Prevented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performance impact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 all other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500" y="7458075"/>
            <a:ext cx="152399" cy="1523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500" y="7762875"/>
            <a:ext cx="152399" cy="1523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500" y="8067674"/>
            <a:ext cx="152399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500" y="8372474"/>
            <a:ext cx="152399" cy="152399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6476999" y="7029449"/>
            <a:ext cx="5143500" cy="1028700"/>
            <a:chOff x="6476999" y="7029449"/>
            <a:chExt cx="5143500" cy="1028700"/>
          </a:xfrm>
        </p:grpSpPr>
        <p:sp>
          <p:nvSpPr>
            <p:cNvPr id="35" name="object 35"/>
            <p:cNvSpPr/>
            <p:nvPr/>
          </p:nvSpPr>
          <p:spPr>
            <a:xfrm>
              <a:off x="6496048" y="7029449"/>
              <a:ext cx="5124450" cy="1028700"/>
            </a:xfrm>
            <a:custGeom>
              <a:avLst/>
              <a:gdLst/>
              <a:ahLst/>
              <a:cxnLst/>
              <a:rect l="l" t="t" r="r" b="b"/>
              <a:pathLst>
                <a:path w="5124450" h="1028700">
                  <a:moveTo>
                    <a:pt x="5071052" y="1028699"/>
                  </a:moveTo>
                  <a:lnTo>
                    <a:pt x="33047" y="1028699"/>
                  </a:lnTo>
                  <a:lnTo>
                    <a:pt x="4833" y="1000420"/>
                  </a:lnTo>
                  <a:lnTo>
                    <a:pt x="0" y="979127"/>
                  </a:lnTo>
                  <a:lnTo>
                    <a:pt x="0" y="971549"/>
                  </a:lnTo>
                  <a:lnTo>
                    <a:pt x="0" y="49570"/>
                  </a:lnTo>
                  <a:lnTo>
                    <a:pt x="14731" y="11378"/>
                  </a:lnTo>
                  <a:lnTo>
                    <a:pt x="33047" y="0"/>
                  </a:lnTo>
                  <a:lnTo>
                    <a:pt x="5071052" y="0"/>
                  </a:lnTo>
                  <a:lnTo>
                    <a:pt x="5110364" y="19390"/>
                  </a:lnTo>
                  <a:lnTo>
                    <a:pt x="5124450" y="53397"/>
                  </a:lnTo>
                  <a:lnTo>
                    <a:pt x="5124450" y="975302"/>
                  </a:lnTo>
                  <a:lnTo>
                    <a:pt x="5105057" y="1014614"/>
                  </a:lnTo>
                  <a:lnTo>
                    <a:pt x="5074768" y="1028333"/>
                  </a:lnTo>
                  <a:lnTo>
                    <a:pt x="5071052" y="10286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76999" y="7029449"/>
              <a:ext cx="52069" cy="1028700"/>
            </a:xfrm>
            <a:custGeom>
              <a:avLst/>
              <a:gdLst/>
              <a:ahLst/>
              <a:cxnLst/>
              <a:rect l="l" t="t" r="r" b="b"/>
              <a:pathLst>
                <a:path w="52070" h="1028700">
                  <a:moveTo>
                    <a:pt x="51889" y="1028699"/>
                  </a:moveTo>
                  <a:lnTo>
                    <a:pt x="49571" y="1028699"/>
                  </a:lnTo>
                  <a:lnTo>
                    <a:pt x="42281" y="1027249"/>
                  </a:lnTo>
                  <a:lnTo>
                    <a:pt x="7250" y="1000421"/>
                  </a:lnTo>
                  <a:lnTo>
                    <a:pt x="0" y="9791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80"/>
                  </a:lnTo>
                  <a:lnTo>
                    <a:pt x="43679" y="16739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971550"/>
                  </a:lnTo>
                  <a:lnTo>
                    <a:pt x="43679" y="1011961"/>
                  </a:lnTo>
                  <a:lnTo>
                    <a:pt x="47399" y="1023120"/>
                  </a:lnTo>
                  <a:lnTo>
                    <a:pt x="51889" y="1028699"/>
                  </a:lnTo>
                  <a:close/>
                </a:path>
              </a:pathLst>
            </a:custGeom>
            <a:solidFill>
              <a:srgbClr val="33D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438173" y="3551355"/>
            <a:ext cx="2121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1C4ED8"/>
                </a:solidFill>
                <a:latin typeface="Segoe UI Semibold"/>
                <a:cs typeface="Segoe UI Semibold"/>
              </a:rPr>
              <a:t>Top</a:t>
            </a:r>
            <a:r>
              <a:rPr sz="1200" b="1" spc="-50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1C4ED8"/>
                </a:solidFill>
                <a:latin typeface="Segoe UI Semibold"/>
                <a:cs typeface="Segoe UI Semibold"/>
              </a:rPr>
              <a:t>Growing</a:t>
            </a:r>
            <a:r>
              <a:rPr sz="1200" b="1" spc="-5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Tables</a:t>
            </a:r>
            <a:r>
              <a:rPr sz="1200" b="1" spc="-5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Identified:</a:t>
            </a:r>
            <a:endParaRPr sz="1200" dirty="0">
              <a:latin typeface="Segoe UI Semibold"/>
              <a:cs typeface="Segoe UI Semibold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41212"/>
              </p:ext>
            </p:extLst>
          </p:nvPr>
        </p:nvGraphicFramePr>
        <p:xfrm>
          <a:off x="6476998" y="3855442"/>
          <a:ext cx="4914264" cy="1061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0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b="1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Table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35750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Size </a:t>
                      </a:r>
                      <a:r>
                        <a:rPr sz="1050" b="1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(GB)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Growth</a:t>
                      </a:r>
                      <a:r>
                        <a:rPr sz="1050" b="1" spc="-3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TransactionHistory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35814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112.4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DB2525"/>
                          </a:solidFill>
                          <a:latin typeface="Segoe UI"/>
                          <a:cs typeface="Segoe UI"/>
                        </a:rPr>
                        <a:t>+46%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CustomerActivity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35814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87.2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DB2525"/>
                          </a:solidFill>
                          <a:latin typeface="Segoe UI"/>
                          <a:cs typeface="Segoe UI"/>
                        </a:rPr>
                        <a:t>+32%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ProductCatalog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35814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45.8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+12%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6476998" y="4977533"/>
            <a:ext cx="2132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C4ED8"/>
                </a:solidFill>
                <a:latin typeface="Segoe UI Semibold"/>
                <a:cs typeface="Segoe UI Semibold"/>
              </a:rPr>
              <a:t>Proactive</a:t>
            </a:r>
            <a:r>
              <a:rPr sz="1200" b="1" spc="-30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1C4ED8"/>
                </a:solidFill>
                <a:latin typeface="Segoe UI Semibold"/>
                <a:cs typeface="Segoe UI Semibold"/>
              </a:rPr>
              <a:t>vs</a:t>
            </a:r>
            <a:r>
              <a:rPr sz="1200" b="1" spc="-2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Reactive</a:t>
            </a:r>
            <a:r>
              <a:rPr sz="1200" b="1" spc="-30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Timeline:</a:t>
            </a:r>
            <a:endParaRPr sz="1200" dirty="0">
              <a:latin typeface="Segoe UI Semibold"/>
              <a:cs typeface="Segoe UI Semibold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16700" y="7108733"/>
            <a:ext cx="4811395" cy="827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solidFill>
                  <a:srgbClr val="055E45"/>
                </a:solidFill>
                <a:latin typeface="Segoe UI Semibold"/>
                <a:cs typeface="Segoe UI Semibold"/>
              </a:rPr>
              <a:t>ROI</a:t>
            </a:r>
            <a:r>
              <a:rPr sz="1200" b="1" spc="-40" dirty="0">
                <a:solidFill>
                  <a:srgbClr val="055E45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055E45"/>
                </a:solidFill>
                <a:latin typeface="Segoe UI Semibold"/>
                <a:cs typeface="Segoe UI Semibold"/>
              </a:rPr>
              <a:t>Impact</a:t>
            </a:r>
            <a:endParaRPr sz="1200">
              <a:latin typeface="Segoe UI Semibold"/>
              <a:cs typeface="Segoe UI Semibold"/>
            </a:endParaRPr>
          </a:p>
          <a:p>
            <a:pPr marL="12700" marR="5080">
              <a:lnSpc>
                <a:spcPct val="119000"/>
              </a:lnSpc>
              <a:spcBef>
                <a:spcPts val="45"/>
              </a:spcBef>
            </a:pP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Early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detection provided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14 days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lead time for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controlled remediation,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preventing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estimated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4-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hour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outage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($25,000/hour)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targeted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optimization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rather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than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emergency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measures.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438172" y="5320706"/>
            <a:ext cx="5143500" cy="266700"/>
            <a:chOff x="6476999" y="6191249"/>
            <a:chExt cx="5143500" cy="266700"/>
          </a:xfrm>
        </p:grpSpPr>
        <p:sp>
          <p:nvSpPr>
            <p:cNvPr id="42" name="object 42"/>
            <p:cNvSpPr/>
            <p:nvPr/>
          </p:nvSpPr>
          <p:spPr>
            <a:xfrm>
              <a:off x="6476999" y="6419849"/>
              <a:ext cx="5143500" cy="38100"/>
            </a:xfrm>
            <a:custGeom>
              <a:avLst/>
              <a:gdLst/>
              <a:ahLst/>
              <a:cxnLst/>
              <a:rect l="l" t="t" r="r" b="b"/>
              <a:pathLst>
                <a:path w="5143500" h="38100">
                  <a:moveTo>
                    <a:pt x="5143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143499" y="0"/>
                  </a:lnTo>
                  <a:lnTo>
                    <a:pt x="5143499" y="38099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9" y="6191249"/>
              <a:ext cx="228599" cy="22859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674891" y="5603279"/>
            <a:ext cx="69469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b="1" dirty="0">
                <a:solidFill>
                  <a:srgbClr val="047857"/>
                </a:solidFill>
                <a:latin typeface="Segoe UI Semibold"/>
                <a:cs typeface="Segoe UI Semibold"/>
              </a:rPr>
              <a:t>Growth</a:t>
            </a:r>
            <a:r>
              <a:rPr sz="900" b="1" spc="-20" dirty="0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sz="900" b="1" spc="-10" dirty="0">
                <a:solidFill>
                  <a:srgbClr val="047857"/>
                </a:solidFill>
                <a:latin typeface="Segoe UI Semibold"/>
                <a:cs typeface="Segoe UI Semibold"/>
              </a:rPr>
              <a:t>Alert</a:t>
            </a:r>
            <a:endParaRPr sz="9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6A7280"/>
                </a:solidFill>
                <a:latin typeface="Segoe UI"/>
                <a:cs typeface="Segoe UI"/>
              </a:rPr>
              <a:t>Day</a:t>
            </a:r>
            <a:r>
              <a:rPr sz="90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A7280"/>
                </a:solidFill>
                <a:latin typeface="Segoe UI"/>
                <a:cs typeface="Segoe UI"/>
              </a:rPr>
              <a:t>1</a:t>
            </a:r>
            <a:endParaRPr sz="900" dirty="0">
              <a:latin typeface="Segoe UI"/>
              <a:cs typeface="Segoe U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64500" y="5311845"/>
            <a:ext cx="228599" cy="22859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878353" y="5623465"/>
            <a:ext cx="681355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Remediation</a:t>
            </a:r>
            <a:endParaRPr sz="9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6A7280"/>
                </a:solidFill>
                <a:latin typeface="Segoe UI"/>
                <a:cs typeface="Segoe UI"/>
              </a:rPr>
              <a:t>Day</a:t>
            </a:r>
            <a:r>
              <a:rPr sz="90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A7280"/>
                </a:solidFill>
                <a:latin typeface="Segoe UI"/>
                <a:cs typeface="Segoe UI"/>
              </a:rPr>
              <a:t>2</a:t>
            </a:r>
            <a:endParaRPr sz="900" dirty="0">
              <a:latin typeface="Segoe UI"/>
              <a:cs typeface="Segoe U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530714" y="5288174"/>
            <a:ext cx="1534905" cy="228599"/>
            <a:chOff x="9589888" y="6137740"/>
            <a:chExt cx="1534905" cy="228599"/>
          </a:xfrm>
        </p:grpSpPr>
        <p:sp>
          <p:nvSpPr>
            <p:cNvPr id="48" name="object 48"/>
            <p:cNvSpPr/>
            <p:nvPr/>
          </p:nvSpPr>
          <p:spPr>
            <a:xfrm>
              <a:off x="9589888" y="6255543"/>
              <a:ext cx="18415" cy="100330"/>
            </a:xfrm>
            <a:custGeom>
              <a:avLst/>
              <a:gdLst/>
              <a:ahLst/>
              <a:cxnLst/>
              <a:rect l="l" t="t" r="r" b="b"/>
              <a:pathLst>
                <a:path w="18415" h="100329">
                  <a:moveTo>
                    <a:pt x="12881" y="71437"/>
                  </a:moveTo>
                  <a:lnTo>
                    <a:pt x="4978" y="71437"/>
                  </a:lnTo>
                  <a:lnTo>
                    <a:pt x="1785" y="68245"/>
                  </a:lnTo>
                  <a:lnTo>
                    <a:pt x="1785" y="3192"/>
                  </a:lnTo>
                  <a:lnTo>
                    <a:pt x="4978" y="0"/>
                  </a:lnTo>
                  <a:lnTo>
                    <a:pt x="12881" y="0"/>
                  </a:lnTo>
                  <a:lnTo>
                    <a:pt x="16073" y="3192"/>
                  </a:lnTo>
                  <a:lnTo>
                    <a:pt x="16073" y="68245"/>
                  </a:lnTo>
                  <a:lnTo>
                    <a:pt x="12881" y="71437"/>
                  </a:lnTo>
                  <a:close/>
                </a:path>
                <a:path w="18415" h="100329">
                  <a:moveTo>
                    <a:pt x="11395" y="100012"/>
                  </a:moveTo>
                  <a:lnTo>
                    <a:pt x="6463" y="100012"/>
                  </a:lnTo>
                  <a:lnTo>
                    <a:pt x="4359" y="99140"/>
                  </a:lnTo>
                  <a:lnTo>
                    <a:pt x="871" y="95653"/>
                  </a:lnTo>
                  <a:lnTo>
                    <a:pt x="0" y="93548"/>
                  </a:lnTo>
                  <a:lnTo>
                    <a:pt x="0" y="88616"/>
                  </a:lnTo>
                  <a:lnTo>
                    <a:pt x="871" y="86512"/>
                  </a:lnTo>
                  <a:lnTo>
                    <a:pt x="4359" y="83024"/>
                  </a:lnTo>
                  <a:lnTo>
                    <a:pt x="6463" y="82153"/>
                  </a:lnTo>
                  <a:lnTo>
                    <a:pt x="11395" y="82153"/>
                  </a:lnTo>
                  <a:lnTo>
                    <a:pt x="13500" y="83024"/>
                  </a:lnTo>
                  <a:lnTo>
                    <a:pt x="16987" y="86512"/>
                  </a:lnTo>
                  <a:lnTo>
                    <a:pt x="17859" y="88616"/>
                  </a:lnTo>
                  <a:lnTo>
                    <a:pt x="17859" y="93548"/>
                  </a:lnTo>
                  <a:lnTo>
                    <a:pt x="16987" y="95653"/>
                  </a:lnTo>
                  <a:lnTo>
                    <a:pt x="13500" y="99140"/>
                  </a:lnTo>
                  <a:lnTo>
                    <a:pt x="11395" y="100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192" y="6137740"/>
              <a:ext cx="228601" cy="22859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9337947" y="5612079"/>
            <a:ext cx="64135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b="1" dirty="0">
                <a:solidFill>
                  <a:srgbClr val="333333"/>
                </a:solidFill>
                <a:latin typeface="Segoe UI Semibold"/>
                <a:cs typeface="Segoe UI Semibold"/>
              </a:rPr>
              <a:t>Server</a:t>
            </a:r>
            <a:r>
              <a:rPr sz="900" b="1" spc="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9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Alert</a:t>
            </a:r>
            <a:endParaRPr sz="9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6A7280"/>
                </a:solidFill>
                <a:latin typeface="Segoe UI"/>
                <a:cs typeface="Segoe UI"/>
              </a:rPr>
              <a:t>Day</a:t>
            </a:r>
            <a:r>
              <a:rPr sz="90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A7280"/>
                </a:solidFill>
                <a:latin typeface="Segoe UI"/>
                <a:cs typeface="Segoe UI"/>
              </a:rPr>
              <a:t>14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772776" y="5579957"/>
            <a:ext cx="38354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b="1" spc="-10" dirty="0">
                <a:solidFill>
                  <a:srgbClr val="B91B1B"/>
                </a:solidFill>
                <a:latin typeface="Segoe UI Semibold"/>
                <a:cs typeface="Segoe UI Semibold"/>
              </a:rPr>
              <a:t>Critical</a:t>
            </a:r>
            <a:endParaRPr sz="9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6A7280"/>
                </a:solidFill>
                <a:latin typeface="Segoe UI"/>
                <a:cs typeface="Segoe UI"/>
              </a:rPr>
              <a:t>Day</a:t>
            </a:r>
            <a:r>
              <a:rPr sz="90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A7280"/>
                </a:solidFill>
                <a:latin typeface="Segoe UI"/>
                <a:cs typeface="Segoe UI"/>
              </a:rPr>
              <a:t>15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6552" y="4429124"/>
            <a:ext cx="5143500" cy="1459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6595">
              <a:lnSpc>
                <a:spcPct val="100000"/>
              </a:lnSpc>
              <a:spcBef>
                <a:spcPts val="90"/>
              </a:spcBef>
            </a:pP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Impact</a:t>
            </a:r>
            <a:r>
              <a:rPr sz="1450" b="1" spc="-55" dirty="0">
                <a:solidFill>
                  <a:srgbClr val="DB3445"/>
                </a:solidFill>
                <a:latin typeface="Segoe UI Semibold"/>
                <a:cs typeface="Segoe UI Semibold"/>
              </a:rPr>
              <a:t> </a:t>
            </a: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Without</a:t>
            </a:r>
            <a:r>
              <a:rPr sz="1450" b="1" spc="-50" dirty="0">
                <a:solidFill>
                  <a:srgbClr val="DB3445"/>
                </a:solidFill>
                <a:latin typeface="Segoe UI Semibold"/>
                <a:cs typeface="Segoe UI Semibold"/>
              </a:rPr>
              <a:t> </a:t>
            </a: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Proactive</a:t>
            </a:r>
            <a:r>
              <a:rPr sz="1450" b="1" spc="-50" dirty="0">
                <a:solidFill>
                  <a:srgbClr val="DB3445"/>
                </a:solidFill>
                <a:latin typeface="Segoe UI Semibold"/>
                <a:cs typeface="Segoe UI Semibold"/>
              </a:rPr>
              <a:t> </a:t>
            </a: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Alerts</a:t>
            </a:r>
            <a:endParaRPr sz="1450" dirty="0">
              <a:latin typeface="Segoe UI Semibold"/>
              <a:cs typeface="Segoe UI Semibold"/>
            </a:endParaRPr>
          </a:p>
          <a:p>
            <a:pPr marL="647065" marR="30480">
              <a:lnSpc>
                <a:spcPct val="125000"/>
              </a:lnSpc>
              <a:spcBef>
                <a:spcPts val="775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Disk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space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quickly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consumed,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degradation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all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endParaRPr sz="1200" dirty="0">
              <a:latin typeface="Segoe UI"/>
              <a:cs typeface="Segoe UI"/>
            </a:endParaRPr>
          </a:p>
          <a:p>
            <a:pPr marL="647065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alert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triggered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free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space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&lt;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10%</a:t>
            </a:r>
            <a:endParaRPr sz="1200" dirty="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lang="en-US" sz="1425" spc="-375" baseline="26315" dirty="0">
                <a:solidFill>
                  <a:srgbClr val="FFFFFF"/>
                </a:solidFill>
                <a:latin typeface="Segoe UI"/>
                <a:cs typeface="Segoe UI"/>
              </a:rPr>
              <a:t>    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882410" y="6161404"/>
            <a:ext cx="113220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5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5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544174" y="8058149"/>
            <a:ext cx="1457325" cy="323850"/>
            <a:chOff x="10544174" y="8058149"/>
            <a:chExt cx="1457325" cy="323850"/>
          </a:xfrm>
        </p:grpSpPr>
        <p:sp>
          <p:nvSpPr>
            <p:cNvPr id="55" name="object 55"/>
            <p:cNvSpPr/>
            <p:nvPr/>
          </p:nvSpPr>
          <p:spPr>
            <a:xfrm>
              <a:off x="10544174" y="80581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8474" y="8153399"/>
              <a:ext cx="133349" cy="133349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10837018" y="8140699"/>
            <a:ext cx="1062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58" name="object 18">
            <a:extLst>
              <a:ext uri="{FF2B5EF4-FFF2-40B4-BE49-F238E27FC236}">
                <a16:creationId xmlns:a16="http://schemas.microsoft.com/office/drawing/2014/main" id="{DC15EB23-795F-DEE3-F051-CC930489B733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30714" y="5355578"/>
            <a:ext cx="152399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160" y="457450"/>
            <a:ext cx="7818120" cy="436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Visualization:</a:t>
            </a:r>
            <a:r>
              <a:rPr spc="20" dirty="0"/>
              <a:t> </a:t>
            </a:r>
            <a:r>
              <a:rPr dirty="0"/>
              <a:t>Exponential</a:t>
            </a:r>
            <a:r>
              <a:rPr spc="20" dirty="0"/>
              <a:t> </a:t>
            </a:r>
            <a:r>
              <a:rPr dirty="0"/>
              <a:t>Growth</a:t>
            </a:r>
            <a:r>
              <a:rPr spc="20" dirty="0"/>
              <a:t> </a:t>
            </a:r>
            <a:r>
              <a:rPr spc="-10" dirty="0"/>
              <a:t>Impact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5149" y="951706"/>
            <a:ext cx="5524500" cy="4953000"/>
            <a:chOff x="380999" y="1200149"/>
            <a:chExt cx="5524500" cy="4953000"/>
          </a:xfrm>
        </p:grpSpPr>
        <p:sp>
          <p:nvSpPr>
            <p:cNvPr id="4" name="object 4"/>
            <p:cNvSpPr/>
            <p:nvPr/>
          </p:nvSpPr>
          <p:spPr>
            <a:xfrm>
              <a:off x="380999" y="1200149"/>
              <a:ext cx="5524500" cy="4953000"/>
            </a:xfrm>
            <a:custGeom>
              <a:avLst/>
              <a:gdLst/>
              <a:ahLst/>
              <a:cxnLst/>
              <a:rect l="l" t="t" r="r" b="b"/>
              <a:pathLst>
                <a:path w="5524500" h="4953000">
                  <a:moveTo>
                    <a:pt x="5453302" y="4952999"/>
                  </a:moveTo>
                  <a:lnTo>
                    <a:pt x="71196" y="4952999"/>
                  </a:lnTo>
                  <a:lnTo>
                    <a:pt x="66241" y="4952511"/>
                  </a:lnTo>
                  <a:lnTo>
                    <a:pt x="29705" y="4937377"/>
                  </a:lnTo>
                  <a:lnTo>
                    <a:pt x="3885" y="4901337"/>
                  </a:lnTo>
                  <a:lnTo>
                    <a:pt x="0" y="4881802"/>
                  </a:lnTo>
                  <a:lnTo>
                    <a:pt x="0" y="4876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3" y="51661"/>
                  </a:lnTo>
                  <a:lnTo>
                    <a:pt x="5524499" y="71196"/>
                  </a:lnTo>
                  <a:lnTo>
                    <a:pt x="5524499" y="4881802"/>
                  </a:lnTo>
                  <a:lnTo>
                    <a:pt x="5508877" y="4923293"/>
                  </a:lnTo>
                  <a:lnTo>
                    <a:pt x="5472837" y="4949113"/>
                  </a:lnTo>
                  <a:lnTo>
                    <a:pt x="5458258" y="4952511"/>
                  </a:lnTo>
                  <a:lnTo>
                    <a:pt x="5453302" y="495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014" y="1419091"/>
              <a:ext cx="198090" cy="1733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7426" y="1116724"/>
            <a:ext cx="29927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0066B1"/>
                </a:solidFill>
                <a:latin typeface="Segoe UI Semibold"/>
                <a:cs typeface="Segoe UI Semibold"/>
              </a:rPr>
              <a:t>Exponential</a:t>
            </a:r>
            <a:r>
              <a:rPr sz="1550" b="1" spc="-25" dirty="0">
                <a:solidFill>
                  <a:srgbClr val="0066B1"/>
                </a:solidFill>
                <a:latin typeface="Segoe UI Semibold"/>
                <a:cs typeface="Segoe UI Semibold"/>
              </a:rPr>
              <a:t> </a:t>
            </a:r>
            <a:r>
              <a:rPr sz="1550" b="1" dirty="0">
                <a:solidFill>
                  <a:srgbClr val="0066B1"/>
                </a:solidFill>
                <a:latin typeface="Segoe UI Semibold"/>
                <a:cs typeface="Segoe UI Semibold"/>
              </a:rPr>
              <a:t>Growth</a:t>
            </a:r>
            <a:r>
              <a:rPr sz="1550" b="1" spc="-25" dirty="0">
                <a:solidFill>
                  <a:srgbClr val="0066B1"/>
                </a:solidFill>
                <a:latin typeface="Segoe UI Semibold"/>
                <a:cs typeface="Segoe UI Semibold"/>
              </a:rPr>
              <a:t> </a:t>
            </a:r>
            <a:r>
              <a:rPr sz="1550" b="1" spc="-10" dirty="0">
                <a:solidFill>
                  <a:srgbClr val="0066B1"/>
                </a:solidFill>
                <a:latin typeface="Segoe UI Semibold"/>
                <a:cs typeface="Segoe UI Semibold"/>
              </a:rPr>
              <a:t>Visualization</a:t>
            </a:r>
            <a:endParaRPr sz="1550" dirty="0">
              <a:latin typeface="Segoe UI Semibold"/>
              <a:cs typeface="Segoe UI Semibol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9821" y="3893827"/>
          <a:ext cx="5142229" cy="156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b="1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Month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5250" marB="0">
                    <a:lnB w="19050">
                      <a:solidFill>
                        <a:srgbClr val="0066B1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Size </a:t>
                      </a:r>
                      <a:r>
                        <a:rPr sz="1200" b="1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(GB)</a:t>
                      </a:r>
                      <a:endParaRPr sz="1200" dirty="0">
                        <a:latin typeface="Segoe UI"/>
                        <a:cs typeface="Segoe UI"/>
                      </a:endParaRPr>
                    </a:p>
                  </a:txBody>
                  <a:tcPr marL="0" marR="0" marT="95250" marB="0">
                    <a:lnB w="19050">
                      <a:solidFill>
                        <a:srgbClr val="0066B1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Growth</a:t>
                      </a:r>
                      <a:r>
                        <a:rPr sz="1200" b="1" spc="-3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Rate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5250" marB="0">
                    <a:lnB w="19050">
                      <a:solidFill>
                        <a:srgbClr val="0066B1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00" b="1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Trend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5250" marB="0">
                    <a:lnB w="19050">
                      <a:solidFill>
                        <a:srgbClr val="0066B1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Jan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66B1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304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66B1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66B1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10" dirty="0">
                          <a:solidFill>
                            <a:srgbClr val="0066B1"/>
                          </a:solidFill>
                          <a:latin typeface="Segoe UI"/>
                          <a:cs typeface="Segoe UI"/>
                        </a:rPr>
                        <a:t>Normal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66B1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Feb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322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10" dirty="0">
                          <a:solidFill>
                            <a:srgbClr val="0066B1"/>
                          </a:solidFill>
                          <a:latin typeface="Segoe UI"/>
                          <a:cs typeface="Segoe UI"/>
                        </a:rPr>
                        <a:t>Normal</a:t>
                      </a:r>
                      <a:endParaRPr sz="1200" dirty="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Mar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351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9%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spc="-10" dirty="0">
                          <a:solidFill>
                            <a:srgbClr val="FD7D13"/>
                          </a:solidFill>
                          <a:latin typeface="Segoe UI Semibold"/>
                          <a:cs typeface="Segoe UI Semibold"/>
                        </a:rPr>
                        <a:t>Increasing</a:t>
                      </a:r>
                      <a:endParaRPr sz="120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37915" y="5377022"/>
          <a:ext cx="5144135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 dirty="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412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17%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spc="-10" dirty="0">
                          <a:solidFill>
                            <a:srgbClr val="FD7D13"/>
                          </a:solidFill>
                          <a:latin typeface="Segoe UI Semibold"/>
                          <a:cs typeface="Segoe UI Semibold"/>
                        </a:rPr>
                        <a:t>Warning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9695" marB="0"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520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26%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spc="-10" dirty="0">
                          <a:solidFill>
                            <a:srgbClr val="DB3445"/>
                          </a:solidFill>
                          <a:latin typeface="Segoe UI Semibold"/>
                          <a:cs typeface="Segoe UI Semibold"/>
                        </a:rPr>
                        <a:t>Critical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695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34%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b="1" spc="-10" dirty="0">
                          <a:solidFill>
                            <a:srgbClr val="DB3445"/>
                          </a:solidFill>
                          <a:latin typeface="Segoe UI Semibold"/>
                          <a:cs typeface="Segoe UI Semibold"/>
                        </a:rPr>
                        <a:t>Critical</a:t>
                      </a:r>
                      <a:endParaRPr sz="120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514349" y="930430"/>
            <a:ext cx="11282504" cy="5449404"/>
            <a:chOff x="514349" y="930430"/>
            <a:chExt cx="11282504" cy="544940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49" y="1332692"/>
              <a:ext cx="5143499" cy="2666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72353" y="930430"/>
              <a:ext cx="5524500" cy="4953000"/>
            </a:xfrm>
            <a:custGeom>
              <a:avLst/>
              <a:gdLst/>
              <a:ahLst/>
              <a:cxnLst/>
              <a:rect l="l" t="t" r="r" b="b"/>
              <a:pathLst>
                <a:path w="5524500" h="4953000">
                  <a:moveTo>
                    <a:pt x="5453303" y="4952999"/>
                  </a:moveTo>
                  <a:lnTo>
                    <a:pt x="71196" y="4952999"/>
                  </a:lnTo>
                  <a:lnTo>
                    <a:pt x="66241" y="4952511"/>
                  </a:lnTo>
                  <a:lnTo>
                    <a:pt x="29705" y="4937377"/>
                  </a:lnTo>
                  <a:lnTo>
                    <a:pt x="3885" y="4901337"/>
                  </a:lnTo>
                  <a:lnTo>
                    <a:pt x="0" y="4881802"/>
                  </a:lnTo>
                  <a:lnTo>
                    <a:pt x="0" y="4876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4" y="15621"/>
                  </a:lnTo>
                  <a:lnTo>
                    <a:pt x="5520614" y="51661"/>
                  </a:lnTo>
                  <a:lnTo>
                    <a:pt x="5524500" y="71196"/>
                  </a:lnTo>
                  <a:lnTo>
                    <a:pt x="5524500" y="4881802"/>
                  </a:lnTo>
                  <a:lnTo>
                    <a:pt x="5508877" y="4923293"/>
                  </a:lnTo>
                  <a:lnTo>
                    <a:pt x="5472838" y="4949113"/>
                  </a:lnTo>
                  <a:lnTo>
                    <a:pt x="5458258" y="4952511"/>
                  </a:lnTo>
                  <a:lnTo>
                    <a:pt x="5453303" y="495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48170" y="5046334"/>
              <a:ext cx="5143500" cy="1333500"/>
            </a:xfrm>
            <a:custGeom>
              <a:avLst/>
              <a:gdLst/>
              <a:ahLst/>
              <a:cxnLst/>
              <a:rect l="l" t="t" r="r" b="b"/>
              <a:pathLst>
                <a:path w="5143500" h="1333500">
                  <a:moveTo>
                    <a:pt x="5110452" y="1333499"/>
                  </a:moveTo>
                  <a:lnTo>
                    <a:pt x="33047" y="1333499"/>
                  </a:lnTo>
                  <a:lnTo>
                    <a:pt x="28187" y="1332532"/>
                  </a:lnTo>
                  <a:lnTo>
                    <a:pt x="966" y="1305311"/>
                  </a:lnTo>
                  <a:lnTo>
                    <a:pt x="0" y="1300451"/>
                  </a:lnTo>
                  <a:lnTo>
                    <a:pt x="0" y="1295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10452" y="0"/>
                  </a:lnTo>
                  <a:lnTo>
                    <a:pt x="5142532" y="28187"/>
                  </a:lnTo>
                  <a:lnTo>
                    <a:pt x="5143499" y="33047"/>
                  </a:lnTo>
                  <a:lnTo>
                    <a:pt x="5143499" y="1300451"/>
                  </a:lnTo>
                  <a:lnTo>
                    <a:pt x="5115311" y="1332532"/>
                  </a:lnTo>
                  <a:lnTo>
                    <a:pt x="5110452" y="1333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4299" y="1183923"/>
              <a:ext cx="198090" cy="17332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71499" y="7619999"/>
            <a:ext cx="2019300" cy="704850"/>
            <a:chOff x="571499" y="7619999"/>
            <a:chExt cx="2019300" cy="704850"/>
          </a:xfrm>
        </p:grpSpPr>
        <p:sp>
          <p:nvSpPr>
            <p:cNvPr id="15" name="object 15"/>
            <p:cNvSpPr/>
            <p:nvPr/>
          </p:nvSpPr>
          <p:spPr>
            <a:xfrm>
              <a:off x="571499" y="7619999"/>
              <a:ext cx="2019300" cy="704850"/>
            </a:xfrm>
            <a:custGeom>
              <a:avLst/>
              <a:gdLst/>
              <a:ahLst/>
              <a:cxnLst/>
              <a:rect l="l" t="t" r="r" b="b"/>
              <a:pathLst>
                <a:path w="2019300" h="704850">
                  <a:moveTo>
                    <a:pt x="1948103" y="704849"/>
                  </a:moveTo>
                  <a:lnTo>
                    <a:pt x="71196" y="704849"/>
                  </a:lnTo>
                  <a:lnTo>
                    <a:pt x="66241" y="704361"/>
                  </a:lnTo>
                  <a:lnTo>
                    <a:pt x="29705" y="689227"/>
                  </a:lnTo>
                  <a:lnTo>
                    <a:pt x="3885" y="653186"/>
                  </a:lnTo>
                  <a:lnTo>
                    <a:pt x="0" y="633652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48103" y="0"/>
                  </a:lnTo>
                  <a:lnTo>
                    <a:pt x="1989594" y="15621"/>
                  </a:lnTo>
                  <a:lnTo>
                    <a:pt x="2015413" y="51661"/>
                  </a:lnTo>
                  <a:lnTo>
                    <a:pt x="2019299" y="71196"/>
                  </a:lnTo>
                  <a:lnTo>
                    <a:pt x="2019299" y="633652"/>
                  </a:lnTo>
                  <a:lnTo>
                    <a:pt x="2003677" y="675142"/>
                  </a:lnTo>
                  <a:lnTo>
                    <a:pt x="1967637" y="700962"/>
                  </a:lnTo>
                  <a:lnTo>
                    <a:pt x="1953058" y="704361"/>
                  </a:lnTo>
                  <a:lnTo>
                    <a:pt x="1948103" y="7048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799" y="77819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6"/>
                  </a:lnTo>
                  <a:lnTo>
                    <a:pt x="62575" y="331658"/>
                  </a:lnTo>
                  <a:lnTo>
                    <a:pt x="32104" y="296334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2"/>
                  </a:lnTo>
                  <a:lnTo>
                    <a:pt x="245799" y="372797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6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099" y="7896224"/>
              <a:ext cx="152399" cy="1523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68399" y="7687817"/>
            <a:ext cx="1320165" cy="51562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450" b="1" spc="-25" dirty="0">
                <a:solidFill>
                  <a:srgbClr val="333333"/>
                </a:solidFill>
                <a:latin typeface="Segoe UI"/>
                <a:cs typeface="Segoe UI"/>
              </a:rPr>
              <a:t>34%</a:t>
            </a:r>
            <a:endParaRPr sz="14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Monthly</a:t>
            </a:r>
            <a:r>
              <a:rPr sz="1050" spc="60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Growth</a:t>
            </a:r>
            <a:r>
              <a:rPr sz="1050" spc="60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66666"/>
                </a:solidFill>
                <a:latin typeface="Segoe UI"/>
                <a:cs typeface="Segoe UI"/>
              </a:rPr>
              <a:t>Rate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90799" y="7619999"/>
            <a:ext cx="1933575" cy="704850"/>
            <a:chOff x="2590799" y="7619999"/>
            <a:chExt cx="1933575" cy="704850"/>
          </a:xfrm>
        </p:grpSpPr>
        <p:sp>
          <p:nvSpPr>
            <p:cNvPr id="20" name="object 20"/>
            <p:cNvSpPr/>
            <p:nvPr/>
          </p:nvSpPr>
          <p:spPr>
            <a:xfrm>
              <a:off x="2590799" y="7619999"/>
              <a:ext cx="1933575" cy="704850"/>
            </a:xfrm>
            <a:custGeom>
              <a:avLst/>
              <a:gdLst/>
              <a:ahLst/>
              <a:cxnLst/>
              <a:rect l="l" t="t" r="r" b="b"/>
              <a:pathLst>
                <a:path w="1933575" h="704850">
                  <a:moveTo>
                    <a:pt x="1862378" y="704849"/>
                  </a:moveTo>
                  <a:lnTo>
                    <a:pt x="71196" y="704849"/>
                  </a:lnTo>
                  <a:lnTo>
                    <a:pt x="66241" y="704361"/>
                  </a:lnTo>
                  <a:lnTo>
                    <a:pt x="29705" y="689227"/>
                  </a:lnTo>
                  <a:lnTo>
                    <a:pt x="3885" y="653186"/>
                  </a:lnTo>
                  <a:lnTo>
                    <a:pt x="0" y="633652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5622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862378" y="0"/>
                  </a:lnTo>
                  <a:lnTo>
                    <a:pt x="1903869" y="15621"/>
                  </a:lnTo>
                  <a:lnTo>
                    <a:pt x="1929689" y="51661"/>
                  </a:lnTo>
                  <a:lnTo>
                    <a:pt x="1933574" y="71196"/>
                  </a:lnTo>
                  <a:lnTo>
                    <a:pt x="1933574" y="633652"/>
                  </a:lnTo>
                  <a:lnTo>
                    <a:pt x="1917953" y="675142"/>
                  </a:lnTo>
                  <a:lnTo>
                    <a:pt x="1881912" y="700962"/>
                  </a:lnTo>
                  <a:lnTo>
                    <a:pt x="1867333" y="704361"/>
                  </a:lnTo>
                  <a:lnTo>
                    <a:pt x="1862378" y="7048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05099" y="77819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6"/>
                  </a:lnTo>
                  <a:lnTo>
                    <a:pt x="62575" y="331658"/>
                  </a:lnTo>
                  <a:lnTo>
                    <a:pt x="32104" y="296334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2"/>
                  </a:lnTo>
                  <a:lnTo>
                    <a:pt x="245799" y="372797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8864" y="7905749"/>
              <a:ext cx="153471" cy="1333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186955" y="7687817"/>
            <a:ext cx="1231265" cy="51562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450" b="1" spc="-20" dirty="0">
                <a:solidFill>
                  <a:srgbClr val="333333"/>
                </a:solidFill>
                <a:latin typeface="Segoe UI"/>
                <a:cs typeface="Segoe UI"/>
              </a:rPr>
              <a:t>128%</a:t>
            </a:r>
            <a:endParaRPr sz="14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Growth</a:t>
            </a:r>
            <a:r>
              <a:rPr sz="1050" spc="30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in</a:t>
            </a:r>
            <a:r>
              <a:rPr sz="1050" spc="30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6</a:t>
            </a:r>
            <a:r>
              <a:rPr sz="1050" spc="35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Segoe UI"/>
                <a:cs typeface="Segoe UI"/>
              </a:rPr>
              <a:t>Months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76999" y="7648574"/>
            <a:ext cx="5524500" cy="1076325"/>
            <a:chOff x="6476999" y="7648574"/>
            <a:chExt cx="5524500" cy="1076325"/>
          </a:xfrm>
        </p:grpSpPr>
        <p:sp>
          <p:nvSpPr>
            <p:cNvPr id="25" name="object 25"/>
            <p:cNvSpPr/>
            <p:nvPr/>
          </p:nvSpPr>
          <p:spPr>
            <a:xfrm>
              <a:off x="6496049" y="7648574"/>
              <a:ext cx="5124450" cy="1076325"/>
            </a:xfrm>
            <a:custGeom>
              <a:avLst/>
              <a:gdLst/>
              <a:ahLst/>
              <a:cxnLst/>
              <a:rect l="l" t="t" r="r" b="b"/>
              <a:pathLst>
                <a:path w="5124450" h="1076325">
                  <a:moveTo>
                    <a:pt x="5091401" y="1076324"/>
                  </a:moveTo>
                  <a:lnTo>
                    <a:pt x="0" y="1076324"/>
                  </a:lnTo>
                  <a:lnTo>
                    <a:pt x="0" y="0"/>
                  </a:lnTo>
                  <a:lnTo>
                    <a:pt x="5091401" y="0"/>
                  </a:lnTo>
                  <a:lnTo>
                    <a:pt x="5096260" y="966"/>
                  </a:lnTo>
                  <a:lnTo>
                    <a:pt x="5123482" y="28186"/>
                  </a:lnTo>
                  <a:lnTo>
                    <a:pt x="5124448" y="33047"/>
                  </a:lnTo>
                  <a:lnTo>
                    <a:pt x="5124448" y="1043276"/>
                  </a:lnTo>
                  <a:lnTo>
                    <a:pt x="5096260" y="1075356"/>
                  </a:lnTo>
                  <a:lnTo>
                    <a:pt x="5091401" y="107632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6999" y="7648574"/>
              <a:ext cx="38100" cy="1076325"/>
            </a:xfrm>
            <a:custGeom>
              <a:avLst/>
              <a:gdLst/>
              <a:ahLst/>
              <a:cxnLst/>
              <a:rect l="l" t="t" r="r" b="b"/>
              <a:pathLst>
                <a:path w="38100" h="1076325">
                  <a:moveTo>
                    <a:pt x="38099" y="1076324"/>
                  </a:moveTo>
                  <a:lnTo>
                    <a:pt x="0" y="10763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76324"/>
                  </a:lnTo>
                  <a:close/>
                </a:path>
              </a:pathLst>
            </a:custGeom>
            <a:solidFill>
              <a:srgbClr val="28A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544174" y="82105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8305799"/>
              <a:ext cx="133349" cy="1333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755447" y="1099222"/>
            <a:ext cx="249110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0066B1"/>
                </a:solidFill>
                <a:latin typeface="Segoe UI Semibold"/>
                <a:cs typeface="Segoe UI Semibold"/>
              </a:rPr>
              <a:t>System</a:t>
            </a:r>
            <a:r>
              <a:rPr sz="1550" b="1" spc="-60" dirty="0">
                <a:solidFill>
                  <a:srgbClr val="0066B1"/>
                </a:solidFill>
                <a:latin typeface="Segoe UI Semibold"/>
                <a:cs typeface="Segoe UI Semibold"/>
              </a:rPr>
              <a:t> </a:t>
            </a:r>
            <a:r>
              <a:rPr sz="1550" b="1" dirty="0">
                <a:solidFill>
                  <a:srgbClr val="0066B1"/>
                </a:solidFill>
                <a:latin typeface="Segoe UI Semibold"/>
                <a:cs typeface="Segoe UI Semibold"/>
              </a:rPr>
              <a:t>Architecture</a:t>
            </a:r>
            <a:r>
              <a:rPr sz="1550" b="1" spc="-60" dirty="0">
                <a:solidFill>
                  <a:srgbClr val="0066B1"/>
                </a:solidFill>
                <a:latin typeface="Segoe UI Semibold"/>
                <a:cs typeface="Segoe UI Semibold"/>
              </a:rPr>
              <a:t> </a:t>
            </a:r>
            <a:r>
              <a:rPr sz="1550" b="1" spc="-10" dirty="0">
                <a:solidFill>
                  <a:srgbClr val="0066B1"/>
                </a:solidFill>
                <a:latin typeface="Segoe UI Semibold"/>
                <a:cs typeface="Segoe UI Semibold"/>
              </a:rPr>
              <a:t>Impact</a:t>
            </a:r>
            <a:endParaRPr sz="1550" dirty="0">
              <a:latin typeface="Segoe UI Semibold"/>
              <a:cs typeface="Segoe UI Semibol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5247" y="4125232"/>
            <a:ext cx="683895" cy="5187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690"/>
              </a:spcBef>
            </a:pP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+245%</a:t>
            </a:r>
            <a:endParaRPr sz="14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dirty="0">
                <a:solidFill>
                  <a:srgbClr val="666666"/>
                </a:solidFill>
                <a:latin typeface="Segoe UI"/>
                <a:cs typeface="Segoe UI"/>
              </a:rPr>
              <a:t>I/O</a:t>
            </a:r>
            <a:r>
              <a:rPr sz="950" spc="-5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66666"/>
                </a:solidFill>
                <a:latin typeface="Segoe UI"/>
                <a:cs typeface="Segoe UI"/>
              </a:rPr>
              <a:t>Pressure</a:t>
            </a:r>
            <a:endParaRPr sz="950" dirty="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58621" y="4071586"/>
            <a:ext cx="710565" cy="5187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690"/>
              </a:spcBef>
            </a:pP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+178%</a:t>
            </a:r>
            <a:endParaRPr sz="14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dirty="0">
                <a:solidFill>
                  <a:srgbClr val="666666"/>
                </a:solidFill>
                <a:latin typeface="Segoe UI"/>
                <a:cs typeface="Segoe UI"/>
              </a:rPr>
              <a:t>Backup</a:t>
            </a:r>
            <a:r>
              <a:rPr sz="950" spc="-20" dirty="0">
                <a:solidFill>
                  <a:srgbClr val="666666"/>
                </a:solidFill>
                <a:latin typeface="Segoe UI"/>
                <a:cs typeface="Segoe UI"/>
              </a:rPr>
              <a:t> Time</a:t>
            </a:r>
            <a:endParaRPr sz="950" dirty="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235345" y="4070350"/>
            <a:ext cx="647065" cy="5187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690"/>
              </a:spcBef>
            </a:pPr>
            <a:r>
              <a:rPr sz="1450" b="1" spc="-10" dirty="0">
                <a:solidFill>
                  <a:srgbClr val="DB3445"/>
                </a:solidFill>
                <a:latin typeface="Segoe UI Semibold"/>
                <a:cs typeface="Segoe UI Semibold"/>
              </a:rPr>
              <a:t>+320%</a:t>
            </a:r>
            <a:endParaRPr sz="14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dirty="0">
                <a:solidFill>
                  <a:srgbClr val="666666"/>
                </a:solidFill>
                <a:latin typeface="Segoe UI"/>
                <a:cs typeface="Segoe UI"/>
              </a:rPr>
              <a:t>Query</a:t>
            </a:r>
            <a:r>
              <a:rPr sz="950" spc="-5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950" spc="-20" dirty="0">
                <a:solidFill>
                  <a:srgbClr val="666666"/>
                </a:solidFill>
                <a:latin typeface="Segoe UI"/>
                <a:cs typeface="Segoe UI"/>
              </a:rPr>
              <a:t>Time</a:t>
            </a:r>
            <a:endParaRPr sz="950" dirty="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57995" y="4856470"/>
            <a:ext cx="2121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1C4ED8"/>
                </a:solidFill>
                <a:latin typeface="Segoe UI Semibold"/>
                <a:cs typeface="Segoe UI Semibold"/>
              </a:rPr>
              <a:t>Top</a:t>
            </a:r>
            <a:r>
              <a:rPr sz="1200" b="1" spc="-50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1C4ED8"/>
                </a:solidFill>
                <a:latin typeface="Segoe UI Semibold"/>
                <a:cs typeface="Segoe UI Semibold"/>
              </a:rPr>
              <a:t>Growing</a:t>
            </a:r>
            <a:r>
              <a:rPr sz="1200" b="1" spc="-5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Tables</a:t>
            </a:r>
            <a:r>
              <a:rPr sz="1200" b="1" spc="-55" dirty="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1C4ED8"/>
                </a:solidFill>
                <a:latin typeface="Segoe UI Semibold"/>
                <a:cs typeface="Segoe UI Semibold"/>
              </a:rPr>
              <a:t>Identified:</a:t>
            </a:r>
            <a:endParaRPr sz="1200" dirty="0">
              <a:latin typeface="Segoe UI Semibold"/>
              <a:cs typeface="Segoe UI Semibold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445885" y="5151098"/>
          <a:ext cx="5601333" cy="1061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035">
                <a:tc>
                  <a:txBody>
                    <a:bodyPr/>
                    <a:lstStyle/>
                    <a:p>
                      <a:pPr marL="9525">
                        <a:lnSpc>
                          <a:spcPts val="1025"/>
                        </a:lnSpc>
                        <a:spcBef>
                          <a:spcPts val="80"/>
                        </a:spcBef>
                      </a:pPr>
                      <a:r>
                        <a:rPr sz="1050" b="1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Table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382905" algn="r">
                        <a:lnSpc>
                          <a:spcPts val="1025"/>
                        </a:lnSpc>
                        <a:spcBef>
                          <a:spcPts val="80"/>
                        </a:spcBef>
                      </a:pPr>
                      <a:r>
                        <a:rPr sz="105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Size </a:t>
                      </a:r>
                      <a:r>
                        <a:rPr sz="1050" b="1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(GB)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R="687705" algn="r">
                        <a:lnSpc>
                          <a:spcPts val="1025"/>
                        </a:lnSpc>
                        <a:spcBef>
                          <a:spcPts val="80"/>
                        </a:spcBef>
                      </a:pPr>
                      <a:r>
                        <a:rPr sz="1050" b="1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Growth</a:t>
                      </a:r>
                      <a:r>
                        <a:rPr sz="1050" b="1" spc="-35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10160" marB="0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OrderHistory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212.4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tc>
                  <a:txBody>
                    <a:bodyPr/>
                    <a:lstStyle/>
                    <a:p>
                      <a:pPr marR="6877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DB2525"/>
                          </a:solidFill>
                          <a:latin typeface="Segoe UI"/>
                          <a:cs typeface="Segoe UI"/>
                        </a:rPr>
                        <a:t>+56%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  <a:solidFill>
                      <a:srgbClr val="006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CustomerActivity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187.2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877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DB2525"/>
                          </a:solidFill>
                          <a:latin typeface="Segoe UI"/>
                          <a:cs typeface="Segoe UI"/>
                        </a:rPr>
                        <a:t>+42%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ProductCatalog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145.8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877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+22%</a:t>
                      </a:r>
                      <a:endParaRPr sz="1050" dirty="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6591300" y="7673430"/>
            <a:ext cx="5334000" cy="9290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1200" b="1" dirty="0">
                <a:solidFill>
                  <a:srgbClr val="28A645"/>
                </a:solidFill>
                <a:latin typeface="Segoe UI Semibold"/>
                <a:cs typeface="Segoe UI Semibold"/>
              </a:rPr>
              <a:t>Growth</a:t>
            </a:r>
            <a:r>
              <a:rPr sz="1200" b="1" spc="-15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28A645"/>
                </a:solidFill>
                <a:latin typeface="Segoe UI Semibold"/>
                <a:cs typeface="Segoe UI Semibold"/>
              </a:rPr>
              <a:t>Alert</a:t>
            </a:r>
            <a:r>
              <a:rPr sz="1200" b="1" spc="-15" dirty="0">
                <a:solidFill>
                  <a:srgbClr val="28A645"/>
                </a:solidFill>
                <a:latin typeface="Segoe UI Semibold"/>
                <a:cs typeface="Segoe UI Semibold"/>
              </a:rPr>
              <a:t> </a:t>
            </a:r>
            <a:r>
              <a:rPr sz="1200" b="1" spc="-10" dirty="0">
                <a:solidFill>
                  <a:srgbClr val="28A645"/>
                </a:solidFill>
                <a:latin typeface="Segoe UI Semibold"/>
                <a:cs typeface="Segoe UI Semibold"/>
              </a:rPr>
              <a:t>Insight</a:t>
            </a:r>
            <a:endParaRPr sz="1200">
              <a:latin typeface="Segoe UI Semibold"/>
              <a:cs typeface="Segoe UI Semibold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growth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alert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detected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exponential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trend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14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days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endParaRPr sz="105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0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threshold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was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reached,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targeted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table</a:t>
            </a:r>
            <a:r>
              <a:rPr sz="10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optimization</a:t>
            </a:r>
            <a:r>
              <a:rPr sz="1050" spc="-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975" baseline="-24691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r</a:t>
            </a:r>
            <a:r>
              <a:rPr sz="1050" spc="-27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350" spc="-300" baseline="-24691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165" dirty="0">
                <a:solidFill>
                  <a:srgbClr val="333333"/>
                </a:solidFill>
                <a:latin typeface="Segoe UI"/>
                <a:cs typeface="Segoe UI"/>
              </a:rPr>
              <a:t>t</a:t>
            </a:r>
            <a:r>
              <a:rPr sz="1350" spc="-555" baseline="-24691" dirty="0">
                <a:solidFill>
                  <a:srgbClr val="FFFFFF"/>
                </a:solidFill>
                <a:latin typeface="Segoe UI"/>
                <a:cs typeface="Segoe UI"/>
              </a:rPr>
              <a:t>d</a:t>
            </a:r>
            <a:r>
              <a:rPr sz="1050" spc="-235" dirty="0">
                <a:solidFill>
                  <a:srgbClr val="333333"/>
                </a:solidFill>
                <a:latin typeface="Segoe UI"/>
                <a:cs typeface="Segoe UI"/>
              </a:rPr>
              <a:t>h</a:t>
            </a:r>
            <a:r>
              <a:rPr sz="1350" spc="-375" baseline="-24691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1050" spc="-65" dirty="0">
                <a:solidFill>
                  <a:srgbClr val="333333"/>
                </a:solidFill>
                <a:latin typeface="Segoe UI"/>
                <a:cs typeface="Segoe UI"/>
              </a:rPr>
              <a:t>e</a:t>
            </a:r>
            <a:r>
              <a:rPr sz="1350" spc="-892" baseline="-24691" dirty="0">
                <a:solidFill>
                  <a:srgbClr val="FFFFFF"/>
                </a:solidFill>
                <a:latin typeface="Segoe UI"/>
                <a:cs typeface="Segoe UI"/>
              </a:rPr>
              <a:t>w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r</a:t>
            </a:r>
            <a:r>
              <a:rPr sz="105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baseline="-24691" dirty="0">
                <a:solidFill>
                  <a:srgbClr val="FFFFFF"/>
                </a:solidFill>
                <a:latin typeface="Segoe UI"/>
                <a:cs typeface="Segoe UI"/>
              </a:rPr>
              <a:t>ith</a:t>
            </a:r>
            <a:r>
              <a:rPr sz="1350" spc="-7" baseline="-24691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50" spc="-15" baseline="-24691" dirty="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endParaRPr sz="1350" baseline="-24691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than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emergency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sz="10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Segoe UI"/>
                <a:cs typeface="Segoe UI"/>
              </a:rPr>
              <a:t>expansion.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86853" y="1531539"/>
            <a:ext cx="2095499" cy="238124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359774" y="1614748"/>
            <a:ext cx="1397000" cy="215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6B1"/>
                </a:solidFill>
                <a:latin typeface="Segoe UI Semibold"/>
                <a:cs typeface="Segoe UI Semibold"/>
              </a:rPr>
              <a:t>SQL</a:t>
            </a:r>
            <a:r>
              <a:rPr sz="1200" b="1" spc="-15" dirty="0">
                <a:solidFill>
                  <a:srgbClr val="0066B1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0066B1"/>
                </a:solidFill>
                <a:latin typeface="Segoe UI Semibold"/>
                <a:cs typeface="Segoe UI Semibold"/>
              </a:rPr>
              <a:t>Server</a:t>
            </a:r>
            <a:r>
              <a:rPr sz="1200" b="1" spc="-10" dirty="0">
                <a:solidFill>
                  <a:srgbClr val="0066B1"/>
                </a:solidFill>
                <a:latin typeface="Segoe UI Semibold"/>
                <a:cs typeface="Segoe UI Semibold"/>
              </a:rPr>
              <a:t> Instance</a:t>
            </a:r>
            <a:endParaRPr sz="12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 dirty="0">
              <a:latin typeface="Segoe UI Semibold"/>
              <a:cs typeface="Segoe UI Semibold"/>
            </a:endParaRPr>
          </a:p>
          <a:p>
            <a:pPr marL="88265" marR="297815" algn="just">
              <a:lnSpc>
                <a:spcPct val="187500"/>
              </a:lnSpc>
            </a:pP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App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(86GB)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App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(74GB)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App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(92GB)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App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4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(55GB)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App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5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(68GB)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Large</a:t>
            </a:r>
            <a:r>
              <a:rPr sz="10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333333"/>
                </a:solidFill>
                <a:latin typeface="Segoe UI"/>
                <a:cs typeface="Segoe UI"/>
              </a:rPr>
              <a:t>DB</a:t>
            </a:r>
            <a:r>
              <a:rPr sz="10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Segoe UI"/>
                <a:cs typeface="Segoe UI"/>
              </a:rPr>
              <a:t>(695GB)</a:t>
            </a:r>
            <a:endParaRPr sz="1000" dirty="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882410" y="6161404"/>
            <a:ext cx="113220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5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5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endParaRPr sz="9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0798" y="0"/>
            <a:ext cx="5791200" cy="6858000"/>
            <a:chOff x="6400798" y="0"/>
            <a:chExt cx="5791200" cy="6858000"/>
          </a:xfrm>
        </p:grpSpPr>
        <p:sp>
          <p:nvSpPr>
            <p:cNvPr id="3" name="object 3"/>
            <p:cNvSpPr/>
            <p:nvPr/>
          </p:nvSpPr>
          <p:spPr>
            <a:xfrm>
              <a:off x="6419848" y="1714499"/>
              <a:ext cx="5314950" cy="2028825"/>
            </a:xfrm>
            <a:custGeom>
              <a:avLst/>
              <a:gdLst/>
              <a:ahLst/>
              <a:cxnLst/>
              <a:rect l="l" t="t" r="r" b="b"/>
              <a:pathLst>
                <a:path w="5314950" h="2028825">
                  <a:moveTo>
                    <a:pt x="5261552" y="2028824"/>
                  </a:moveTo>
                  <a:lnTo>
                    <a:pt x="33047" y="2028824"/>
                  </a:lnTo>
                  <a:lnTo>
                    <a:pt x="4832" y="2000546"/>
                  </a:lnTo>
                  <a:lnTo>
                    <a:pt x="0" y="1979253"/>
                  </a:lnTo>
                  <a:lnTo>
                    <a:pt x="0" y="19716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2" y="19392"/>
                  </a:lnTo>
                  <a:lnTo>
                    <a:pt x="5314950" y="53397"/>
                  </a:lnTo>
                  <a:lnTo>
                    <a:pt x="5314950" y="1975427"/>
                  </a:lnTo>
                  <a:lnTo>
                    <a:pt x="5295556" y="2014739"/>
                  </a:lnTo>
                  <a:lnTo>
                    <a:pt x="5265268" y="2028458"/>
                  </a:lnTo>
                  <a:lnTo>
                    <a:pt x="5261552" y="20288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00799" y="1714499"/>
              <a:ext cx="52069" cy="2028825"/>
            </a:xfrm>
            <a:custGeom>
              <a:avLst/>
              <a:gdLst/>
              <a:ahLst/>
              <a:cxnLst/>
              <a:rect l="l" t="t" r="r" b="b"/>
              <a:pathLst>
                <a:path w="52070" h="2028825">
                  <a:moveTo>
                    <a:pt x="51890" y="2028824"/>
                  </a:moveTo>
                  <a:lnTo>
                    <a:pt x="49571" y="2028824"/>
                  </a:lnTo>
                  <a:lnTo>
                    <a:pt x="42280" y="2027374"/>
                  </a:lnTo>
                  <a:lnTo>
                    <a:pt x="7250" y="2000546"/>
                  </a:lnTo>
                  <a:lnTo>
                    <a:pt x="0" y="19792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90" y="0"/>
                  </a:lnTo>
                  <a:lnTo>
                    <a:pt x="47399" y="5579"/>
                  </a:lnTo>
                  <a:lnTo>
                    <a:pt x="43680" y="16738"/>
                  </a:lnTo>
                  <a:lnTo>
                    <a:pt x="41238" y="25541"/>
                  </a:lnTo>
                  <a:lnTo>
                    <a:pt x="39495" y="35211"/>
                  </a:lnTo>
                  <a:lnTo>
                    <a:pt x="38449" y="45747"/>
                  </a:lnTo>
                  <a:lnTo>
                    <a:pt x="38100" y="57150"/>
                  </a:lnTo>
                  <a:lnTo>
                    <a:pt x="38100" y="1971674"/>
                  </a:lnTo>
                  <a:lnTo>
                    <a:pt x="43680" y="2012085"/>
                  </a:lnTo>
                  <a:lnTo>
                    <a:pt x="47399" y="2023245"/>
                  </a:lnTo>
                  <a:lnTo>
                    <a:pt x="51890" y="202882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798" y="39719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05053" y="476249"/>
                  </a:moveTo>
                  <a:lnTo>
                    <a:pt x="71197" y="476249"/>
                  </a:lnTo>
                  <a:lnTo>
                    <a:pt x="66241" y="475761"/>
                  </a:lnTo>
                  <a:lnTo>
                    <a:pt x="29705" y="460627"/>
                  </a:lnTo>
                  <a:lnTo>
                    <a:pt x="3885" y="424587"/>
                  </a:lnTo>
                  <a:lnTo>
                    <a:pt x="0" y="405053"/>
                  </a:lnTo>
                  <a:lnTo>
                    <a:pt x="0" y="4000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405053" y="0"/>
                  </a:lnTo>
                  <a:lnTo>
                    <a:pt x="446544" y="15621"/>
                  </a:lnTo>
                  <a:lnTo>
                    <a:pt x="472363" y="51661"/>
                  </a:lnTo>
                  <a:lnTo>
                    <a:pt x="476250" y="71196"/>
                  </a:lnTo>
                  <a:lnTo>
                    <a:pt x="476250" y="405053"/>
                  </a:lnTo>
                  <a:lnTo>
                    <a:pt x="460627" y="446544"/>
                  </a:lnTo>
                  <a:lnTo>
                    <a:pt x="424587" y="472363"/>
                  </a:lnTo>
                  <a:lnTo>
                    <a:pt x="410008" y="475761"/>
                  </a:lnTo>
                  <a:lnTo>
                    <a:pt x="405053" y="4762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4748" y="4095750"/>
              <a:ext cx="228352" cy="228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798" y="46005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05053" y="476249"/>
                  </a:moveTo>
                  <a:lnTo>
                    <a:pt x="71197" y="476249"/>
                  </a:lnTo>
                  <a:lnTo>
                    <a:pt x="66241" y="475761"/>
                  </a:lnTo>
                  <a:lnTo>
                    <a:pt x="29705" y="460628"/>
                  </a:lnTo>
                  <a:lnTo>
                    <a:pt x="3885" y="424587"/>
                  </a:lnTo>
                  <a:lnTo>
                    <a:pt x="0" y="405053"/>
                  </a:lnTo>
                  <a:lnTo>
                    <a:pt x="0" y="4000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405053" y="0"/>
                  </a:lnTo>
                  <a:lnTo>
                    <a:pt x="446544" y="15621"/>
                  </a:lnTo>
                  <a:lnTo>
                    <a:pt x="472363" y="51661"/>
                  </a:lnTo>
                  <a:lnTo>
                    <a:pt x="476250" y="71196"/>
                  </a:lnTo>
                  <a:lnTo>
                    <a:pt x="476250" y="405053"/>
                  </a:lnTo>
                  <a:lnTo>
                    <a:pt x="460627" y="446544"/>
                  </a:lnTo>
                  <a:lnTo>
                    <a:pt x="424587" y="472363"/>
                  </a:lnTo>
                  <a:lnTo>
                    <a:pt x="410008" y="475761"/>
                  </a:lnTo>
                  <a:lnTo>
                    <a:pt x="405053" y="4762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3674" y="4724399"/>
              <a:ext cx="200025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00798" y="52292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05053" y="476249"/>
                  </a:moveTo>
                  <a:lnTo>
                    <a:pt x="71197" y="476249"/>
                  </a:lnTo>
                  <a:lnTo>
                    <a:pt x="66241" y="475761"/>
                  </a:lnTo>
                  <a:lnTo>
                    <a:pt x="29705" y="460627"/>
                  </a:lnTo>
                  <a:lnTo>
                    <a:pt x="3885" y="424586"/>
                  </a:lnTo>
                  <a:lnTo>
                    <a:pt x="0" y="405053"/>
                  </a:lnTo>
                  <a:lnTo>
                    <a:pt x="0" y="4000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405053" y="0"/>
                  </a:lnTo>
                  <a:lnTo>
                    <a:pt x="446544" y="15621"/>
                  </a:lnTo>
                  <a:lnTo>
                    <a:pt x="472363" y="51661"/>
                  </a:lnTo>
                  <a:lnTo>
                    <a:pt x="476250" y="71196"/>
                  </a:lnTo>
                  <a:lnTo>
                    <a:pt x="476250" y="405053"/>
                  </a:lnTo>
                  <a:lnTo>
                    <a:pt x="460627" y="446543"/>
                  </a:lnTo>
                  <a:lnTo>
                    <a:pt x="424587" y="472363"/>
                  </a:lnTo>
                  <a:lnTo>
                    <a:pt x="410008" y="475761"/>
                  </a:lnTo>
                  <a:lnTo>
                    <a:pt x="405053" y="4762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6049" y="535304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 Copilot </a:t>
            </a:r>
            <a:r>
              <a:rPr spc="-10" dirty="0"/>
              <a:t>Integration</a:t>
            </a:r>
          </a:p>
        </p:txBody>
      </p:sp>
      <p:sp>
        <p:nvSpPr>
          <p:cNvPr id="13" name="object 13"/>
          <p:cNvSpPr/>
          <p:nvPr/>
        </p:nvSpPr>
        <p:spPr>
          <a:xfrm>
            <a:off x="457199" y="2247899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28574" y="723899"/>
                </a:moveTo>
                <a:lnTo>
                  <a:pt x="0" y="723899"/>
                </a:lnTo>
                <a:lnTo>
                  <a:pt x="0" y="0"/>
                </a:lnTo>
                <a:lnTo>
                  <a:pt x="28574" y="0"/>
                </a:lnTo>
                <a:lnTo>
                  <a:pt x="28574" y="723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199" y="3124199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28574" y="723899"/>
                </a:moveTo>
                <a:lnTo>
                  <a:pt x="0" y="723899"/>
                </a:lnTo>
                <a:lnTo>
                  <a:pt x="0" y="0"/>
                </a:lnTo>
                <a:lnTo>
                  <a:pt x="28574" y="0"/>
                </a:lnTo>
                <a:lnTo>
                  <a:pt x="28574" y="723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199" y="4000499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28574" y="723899"/>
                </a:moveTo>
                <a:lnTo>
                  <a:pt x="0" y="723899"/>
                </a:lnTo>
                <a:lnTo>
                  <a:pt x="0" y="0"/>
                </a:lnTo>
                <a:lnTo>
                  <a:pt x="28574" y="0"/>
                </a:lnTo>
                <a:lnTo>
                  <a:pt x="28574" y="7238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/>
              <a:t>GitHub</a:t>
            </a:r>
            <a:r>
              <a:rPr spc="-15" dirty="0"/>
              <a:t> </a:t>
            </a:r>
            <a:r>
              <a:rPr dirty="0"/>
              <a:t>Copilot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pair</a:t>
            </a:r>
            <a:r>
              <a:rPr spc="-15" dirty="0"/>
              <a:t> </a:t>
            </a:r>
            <a:r>
              <a:rPr dirty="0"/>
              <a:t>programmer</a:t>
            </a:r>
            <a:r>
              <a:rPr spc="-10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enhances</a:t>
            </a:r>
            <a:r>
              <a:rPr spc="-15" dirty="0"/>
              <a:t> </a:t>
            </a:r>
            <a:r>
              <a:rPr spc="-25" dirty="0"/>
              <a:t>SQL</a:t>
            </a:r>
          </a:p>
          <a:p>
            <a:pPr marL="12700" marR="5080">
              <a:lnSpc>
                <a:spcPct val="129600"/>
              </a:lnSpc>
            </a:pPr>
            <a:r>
              <a:rPr dirty="0"/>
              <a:t>automation</a:t>
            </a:r>
            <a:r>
              <a:rPr spc="-10" dirty="0"/>
              <a:t> </a:t>
            </a:r>
            <a:r>
              <a:rPr dirty="0"/>
              <a:t>development</a:t>
            </a:r>
            <a:r>
              <a:rPr spc="-10" dirty="0"/>
              <a:t> </a:t>
            </a:r>
            <a:r>
              <a:rPr dirty="0"/>
              <a:t>by</a:t>
            </a:r>
            <a:r>
              <a:rPr spc="-10" dirty="0"/>
              <a:t> </a:t>
            </a:r>
            <a:r>
              <a:rPr dirty="0"/>
              <a:t>providing</a:t>
            </a:r>
            <a:r>
              <a:rPr spc="-10" dirty="0"/>
              <a:t> </a:t>
            </a:r>
            <a:r>
              <a:rPr dirty="0"/>
              <a:t>intelligent</a:t>
            </a:r>
            <a:r>
              <a:rPr spc="-10" dirty="0"/>
              <a:t> </a:t>
            </a:r>
            <a:r>
              <a:rPr dirty="0"/>
              <a:t>code</a:t>
            </a:r>
            <a:r>
              <a:rPr spc="-10" dirty="0"/>
              <a:t> suggestions 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context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comments.</a:t>
            </a:r>
          </a:p>
          <a:p>
            <a:pPr marL="193040">
              <a:lnSpc>
                <a:spcPct val="100000"/>
              </a:lnSpc>
              <a:spcBef>
                <a:spcPts val="1605"/>
              </a:spcBef>
            </a:pP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Accelerated</a:t>
            </a:r>
            <a:r>
              <a:rPr sz="1500" b="1" spc="-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Script</a:t>
            </a:r>
            <a:r>
              <a:rPr sz="1500" b="1" spc="-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Development</a:t>
            </a:r>
            <a:endParaRPr sz="1500">
              <a:latin typeface="Segoe UI Semibold"/>
              <a:cs typeface="Segoe UI Semibold"/>
            </a:endParaRPr>
          </a:p>
          <a:p>
            <a:pPr marL="193040" marR="76200">
              <a:lnSpc>
                <a:spcPts val="1800"/>
              </a:lnSpc>
              <a:spcBef>
                <a:spcPts val="60"/>
              </a:spcBef>
            </a:pPr>
            <a:r>
              <a:rPr sz="1200" dirty="0"/>
              <a:t>Reduces</a:t>
            </a:r>
            <a:r>
              <a:rPr sz="1200" spc="-15" dirty="0"/>
              <a:t> </a:t>
            </a:r>
            <a:r>
              <a:rPr sz="1200" dirty="0"/>
              <a:t>development</a:t>
            </a:r>
            <a:r>
              <a:rPr sz="1200" spc="-10" dirty="0"/>
              <a:t> </a:t>
            </a:r>
            <a:r>
              <a:rPr sz="1200" dirty="0"/>
              <a:t>time</a:t>
            </a:r>
            <a:r>
              <a:rPr sz="1200" spc="-10" dirty="0"/>
              <a:t> </a:t>
            </a:r>
            <a:r>
              <a:rPr sz="1200" dirty="0"/>
              <a:t>by</a:t>
            </a:r>
            <a:r>
              <a:rPr sz="1200" spc="-10" dirty="0"/>
              <a:t> </a:t>
            </a:r>
            <a:r>
              <a:rPr sz="1200" dirty="0"/>
              <a:t>generating</a:t>
            </a:r>
            <a:r>
              <a:rPr sz="1200" spc="-10" dirty="0"/>
              <a:t> </a:t>
            </a:r>
            <a:r>
              <a:rPr sz="1200" dirty="0"/>
              <a:t>boilerplate</a:t>
            </a:r>
            <a:r>
              <a:rPr sz="1200" spc="-10" dirty="0"/>
              <a:t> </a:t>
            </a:r>
            <a:r>
              <a:rPr sz="1200" dirty="0"/>
              <a:t>code</a:t>
            </a:r>
            <a:r>
              <a:rPr sz="1200" spc="-10" dirty="0"/>
              <a:t> </a:t>
            </a:r>
            <a:r>
              <a:rPr sz="1200" dirty="0"/>
              <a:t>and</a:t>
            </a:r>
            <a:r>
              <a:rPr sz="1200" spc="-10" dirty="0"/>
              <a:t> complex </a:t>
            </a:r>
            <a:r>
              <a:rPr sz="1200" dirty="0"/>
              <a:t>queries</a:t>
            </a:r>
            <a:r>
              <a:rPr sz="1200" spc="-15" dirty="0"/>
              <a:t> </a:t>
            </a:r>
            <a:r>
              <a:rPr sz="1200" dirty="0"/>
              <a:t>for</a:t>
            </a:r>
            <a:r>
              <a:rPr sz="1200" spc="-10" dirty="0"/>
              <a:t> </a:t>
            </a:r>
            <a:r>
              <a:rPr sz="1200" dirty="0"/>
              <a:t>database</a:t>
            </a:r>
            <a:r>
              <a:rPr sz="1200" spc="-15" dirty="0"/>
              <a:t> </a:t>
            </a:r>
            <a:r>
              <a:rPr sz="1200" dirty="0"/>
              <a:t>monitoring</a:t>
            </a:r>
            <a:r>
              <a:rPr sz="1200" spc="-10" dirty="0"/>
              <a:t> tasks.</a:t>
            </a:r>
            <a:endParaRPr sz="1200"/>
          </a:p>
          <a:p>
            <a:pPr marL="193040">
              <a:lnSpc>
                <a:spcPct val="100000"/>
              </a:lnSpc>
              <a:spcBef>
                <a:spcPts val="1440"/>
              </a:spcBef>
            </a:pP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Enhanced</a:t>
            </a:r>
            <a:r>
              <a:rPr sz="15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Code</a:t>
            </a:r>
            <a:r>
              <a:rPr sz="1500" b="1" spc="-2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Quality</a:t>
            </a:r>
            <a:endParaRPr sz="1500">
              <a:latin typeface="Segoe UI Semibold"/>
              <a:cs typeface="Segoe UI Semibold"/>
            </a:endParaRPr>
          </a:p>
          <a:p>
            <a:pPr marL="193040" marR="139065">
              <a:lnSpc>
                <a:spcPts val="1800"/>
              </a:lnSpc>
              <a:spcBef>
                <a:spcPts val="60"/>
              </a:spcBef>
            </a:pPr>
            <a:r>
              <a:rPr sz="1200" dirty="0"/>
              <a:t>Suggests</a:t>
            </a:r>
            <a:r>
              <a:rPr sz="1200" spc="-20" dirty="0"/>
              <a:t> </a:t>
            </a:r>
            <a:r>
              <a:rPr sz="1200" dirty="0"/>
              <a:t>optimized</a:t>
            </a:r>
            <a:r>
              <a:rPr sz="1200" spc="-15" dirty="0"/>
              <a:t> </a:t>
            </a:r>
            <a:r>
              <a:rPr sz="1200" dirty="0"/>
              <a:t>SQL</a:t>
            </a:r>
            <a:r>
              <a:rPr sz="1200" spc="-20" dirty="0"/>
              <a:t> </a:t>
            </a:r>
            <a:r>
              <a:rPr sz="1200" dirty="0"/>
              <a:t>queries</a:t>
            </a:r>
            <a:r>
              <a:rPr sz="1200" spc="-15" dirty="0"/>
              <a:t> </a:t>
            </a:r>
            <a:r>
              <a:rPr sz="1200" dirty="0"/>
              <a:t>and</a:t>
            </a:r>
            <a:r>
              <a:rPr sz="1200" spc="-20" dirty="0"/>
              <a:t> </a:t>
            </a:r>
            <a:r>
              <a:rPr sz="1200" dirty="0"/>
              <a:t>best</a:t>
            </a:r>
            <a:r>
              <a:rPr sz="1200" spc="-15" dirty="0"/>
              <a:t> </a:t>
            </a:r>
            <a:r>
              <a:rPr sz="1200" dirty="0"/>
              <a:t>practices</a:t>
            </a:r>
            <a:r>
              <a:rPr sz="1200" spc="-15" dirty="0"/>
              <a:t> </a:t>
            </a:r>
            <a:r>
              <a:rPr sz="1200" dirty="0"/>
              <a:t>patterns,</a:t>
            </a:r>
            <a:r>
              <a:rPr sz="1200" spc="-20" dirty="0"/>
              <a:t> </a:t>
            </a:r>
            <a:r>
              <a:rPr sz="1200" spc="-10" dirty="0"/>
              <a:t>improving </a:t>
            </a:r>
            <a:r>
              <a:rPr sz="1200" dirty="0"/>
              <a:t>performance of monitoring </a:t>
            </a:r>
            <a:r>
              <a:rPr sz="1200" spc="-10" dirty="0"/>
              <a:t>scripts.</a:t>
            </a:r>
            <a:endParaRPr sz="1200"/>
          </a:p>
          <a:p>
            <a:pPr marL="193040">
              <a:lnSpc>
                <a:spcPct val="100000"/>
              </a:lnSpc>
              <a:spcBef>
                <a:spcPts val="1440"/>
              </a:spcBef>
            </a:pP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Learning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&amp;</a:t>
            </a:r>
            <a:r>
              <a:rPr sz="1500" b="1" spc="-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Documentation</a:t>
            </a:r>
            <a:endParaRPr sz="1500">
              <a:latin typeface="Segoe UI Semibold"/>
              <a:cs typeface="Segoe UI Semibold"/>
            </a:endParaRPr>
          </a:p>
          <a:p>
            <a:pPr marL="193040" marR="727075">
              <a:lnSpc>
                <a:spcPts val="1800"/>
              </a:lnSpc>
              <a:spcBef>
                <a:spcPts val="40"/>
              </a:spcBef>
            </a:pPr>
            <a:r>
              <a:rPr sz="1200" dirty="0"/>
              <a:t>Assists</a:t>
            </a:r>
            <a:r>
              <a:rPr sz="1200" spc="-20" dirty="0"/>
              <a:t> </a:t>
            </a:r>
            <a:r>
              <a:rPr sz="1200" dirty="0"/>
              <a:t>in</a:t>
            </a:r>
            <a:r>
              <a:rPr sz="1200" spc="-20" dirty="0"/>
              <a:t> </a:t>
            </a:r>
            <a:r>
              <a:rPr sz="1200" dirty="0"/>
              <a:t>understanding</a:t>
            </a:r>
            <a:r>
              <a:rPr sz="1200" spc="-20" dirty="0"/>
              <a:t> </a:t>
            </a:r>
            <a:r>
              <a:rPr sz="1200" dirty="0"/>
              <a:t>complex</a:t>
            </a:r>
            <a:r>
              <a:rPr sz="1200" spc="-20" dirty="0"/>
              <a:t> </a:t>
            </a:r>
            <a:r>
              <a:rPr sz="1200" dirty="0"/>
              <a:t>SQL</a:t>
            </a:r>
            <a:r>
              <a:rPr sz="1200" spc="-15" dirty="0"/>
              <a:t> </a:t>
            </a:r>
            <a:r>
              <a:rPr sz="1200" dirty="0"/>
              <a:t>concepts</a:t>
            </a:r>
            <a:r>
              <a:rPr sz="1200" spc="-20" dirty="0"/>
              <a:t> </a:t>
            </a:r>
            <a:r>
              <a:rPr sz="1200" dirty="0"/>
              <a:t>and</a:t>
            </a:r>
            <a:r>
              <a:rPr sz="1200" spc="-20" dirty="0"/>
              <a:t> </a:t>
            </a:r>
            <a:r>
              <a:rPr sz="1200" spc="-10" dirty="0"/>
              <a:t>generates </a:t>
            </a:r>
            <a:r>
              <a:rPr sz="1200" dirty="0"/>
              <a:t>documentation</a:t>
            </a:r>
            <a:r>
              <a:rPr sz="1200" spc="-30" dirty="0"/>
              <a:t> </a:t>
            </a:r>
            <a:r>
              <a:rPr sz="1200" dirty="0"/>
              <a:t>comments</a:t>
            </a:r>
            <a:r>
              <a:rPr sz="1200" spc="-30" dirty="0"/>
              <a:t> </a:t>
            </a:r>
            <a:r>
              <a:rPr sz="1200" spc="-10" dirty="0"/>
              <a:t>automatically.</a:t>
            </a:r>
            <a:endParaRPr sz="1200"/>
          </a:p>
        </p:txBody>
      </p: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xfrm>
            <a:off x="6388099" y="1301750"/>
            <a:ext cx="5164455" cy="4339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Copilot</a:t>
            </a:r>
            <a:r>
              <a:rPr spc="-15" dirty="0"/>
              <a:t> </a:t>
            </a:r>
            <a:r>
              <a:rPr dirty="0"/>
              <a:t>Helps</a:t>
            </a:r>
            <a:r>
              <a:rPr spc="-15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Database</a:t>
            </a:r>
            <a:r>
              <a:rPr spc="-15" dirty="0"/>
              <a:t> </a:t>
            </a:r>
            <a:r>
              <a:rPr spc="-10" dirty="0"/>
              <a:t>Alerts</a:t>
            </a:r>
          </a:p>
          <a:p>
            <a:pPr marL="164465" marR="829944">
              <a:lnSpc>
                <a:spcPct val="125000"/>
              </a:lnSpc>
              <a:spcBef>
                <a:spcPts val="1935"/>
              </a:spcBef>
            </a:pPr>
            <a:r>
              <a:rPr sz="1050" b="0" dirty="0">
                <a:solidFill>
                  <a:srgbClr val="6A7280"/>
                </a:solidFill>
                <a:latin typeface="Liberation Mono"/>
                <a:cs typeface="Liberation Mono"/>
              </a:rPr>
              <a:t>-- Ask Copilot to generate threshold monitoring </a:t>
            </a:r>
            <a:r>
              <a:rPr sz="1050" b="0" spc="-20" dirty="0">
                <a:solidFill>
                  <a:srgbClr val="6A7280"/>
                </a:solidFill>
                <a:latin typeface="Liberation Mono"/>
                <a:cs typeface="Liberation Mono"/>
              </a:rPr>
              <a:t>code </a:t>
            </a:r>
            <a:r>
              <a:rPr sz="1050" b="0" dirty="0">
                <a:latin typeface="Liberation Mono"/>
                <a:cs typeface="Liberation Mono"/>
              </a:rPr>
              <a:t>CREATE PROCEDURE </a:t>
            </a:r>
            <a:r>
              <a:rPr sz="1050" b="0" spc="-10" dirty="0">
                <a:solidFill>
                  <a:srgbClr val="24292E"/>
                </a:solidFill>
                <a:latin typeface="Liberation Mono"/>
                <a:cs typeface="Liberation Mono"/>
              </a:rPr>
              <a:t>MonitorDatabaseGrowth</a:t>
            </a:r>
            <a:endParaRPr sz="1050" dirty="0">
              <a:latin typeface="Liberation Mono"/>
              <a:cs typeface="Liberation Mono"/>
            </a:endParaRPr>
          </a:p>
          <a:p>
            <a:pPr marL="325120">
              <a:lnSpc>
                <a:spcPct val="100000"/>
              </a:lnSpc>
              <a:spcBef>
                <a:spcPts val="315"/>
              </a:spcBef>
            </a:pPr>
            <a:r>
              <a:rPr sz="1050" b="0" dirty="0">
                <a:latin typeface="Liberation Mono"/>
                <a:cs typeface="Liberation Mono"/>
              </a:rPr>
              <a:t>AS </a:t>
            </a:r>
            <a:r>
              <a:rPr sz="1050" b="0" spc="-10" dirty="0">
                <a:latin typeface="Liberation Mono"/>
                <a:cs typeface="Liberation Mono"/>
              </a:rPr>
              <a:t>BEGIN</a:t>
            </a:r>
            <a:endParaRPr sz="1050" dirty="0">
              <a:latin typeface="Liberation Mono"/>
              <a:cs typeface="Liberation Mono"/>
            </a:endParaRPr>
          </a:p>
          <a:p>
            <a:pPr marL="645160" marR="1149350" indent="-160020">
              <a:lnSpc>
                <a:spcPct val="125000"/>
              </a:lnSpc>
            </a:pPr>
            <a:r>
              <a:rPr sz="1050" b="0" dirty="0">
                <a:latin typeface="Liberation Mono"/>
                <a:cs typeface="Liberation Mono"/>
              </a:rPr>
              <a:t>SELECT </a:t>
            </a:r>
            <a:r>
              <a:rPr sz="1050" b="0" dirty="0">
                <a:solidFill>
                  <a:srgbClr val="24292E"/>
                </a:solidFill>
                <a:latin typeface="Liberation Mono"/>
                <a:cs typeface="Liberation Mono"/>
              </a:rPr>
              <a:t>DB_NAME(database_id) </a:t>
            </a:r>
            <a:r>
              <a:rPr sz="1050" b="0" dirty="0">
                <a:latin typeface="Liberation Mono"/>
                <a:cs typeface="Liberation Mono"/>
              </a:rPr>
              <a:t>AS </a:t>
            </a:r>
            <a:r>
              <a:rPr sz="1050" b="0" spc="-10" dirty="0">
                <a:solidFill>
                  <a:srgbClr val="24292E"/>
                </a:solidFill>
                <a:latin typeface="Liberation Mono"/>
                <a:cs typeface="Liberation Mono"/>
              </a:rPr>
              <a:t>DatabaseName, </a:t>
            </a:r>
            <a:r>
              <a:rPr sz="1050" b="0" dirty="0">
                <a:solidFill>
                  <a:srgbClr val="24292E"/>
                </a:solidFill>
                <a:latin typeface="Liberation Mono"/>
                <a:cs typeface="Liberation Mono"/>
              </a:rPr>
              <a:t>size_mb = SUM(size * 8 / </a:t>
            </a:r>
            <a:r>
              <a:rPr sz="1050" b="0" spc="-10" dirty="0">
                <a:solidFill>
                  <a:srgbClr val="24292E"/>
                </a:solidFill>
                <a:latin typeface="Liberation Mono"/>
                <a:cs typeface="Liberation Mono"/>
              </a:rPr>
              <a:t>1024),</a:t>
            </a:r>
            <a:endParaRPr sz="1050" dirty="0">
              <a:latin typeface="Liberation Mono"/>
              <a:cs typeface="Liberation Mono"/>
            </a:endParaRPr>
          </a:p>
          <a:p>
            <a:pPr marL="645160">
              <a:lnSpc>
                <a:spcPct val="100000"/>
              </a:lnSpc>
              <a:spcBef>
                <a:spcPts val="315"/>
              </a:spcBef>
            </a:pPr>
            <a:r>
              <a:rPr sz="1050" b="0" dirty="0">
                <a:solidFill>
                  <a:srgbClr val="24292E"/>
                </a:solidFill>
                <a:latin typeface="Liberation Mono"/>
                <a:cs typeface="Liberation Mono"/>
              </a:rPr>
              <a:t>growth_pct = </a:t>
            </a:r>
            <a:r>
              <a:rPr sz="1050" b="0" spc="-25" dirty="0">
                <a:solidFill>
                  <a:srgbClr val="24292E"/>
                </a:solidFill>
                <a:latin typeface="Liberation Mono"/>
                <a:cs typeface="Liberation Mono"/>
              </a:rPr>
              <a:t>...</a:t>
            </a:r>
            <a:endParaRPr sz="1050" dirty="0">
              <a:latin typeface="Liberation Mono"/>
              <a:cs typeface="Liberation Mono"/>
            </a:endParaRPr>
          </a:p>
          <a:p>
            <a:pPr marL="485140">
              <a:lnSpc>
                <a:spcPct val="100000"/>
              </a:lnSpc>
              <a:spcBef>
                <a:spcPts val="315"/>
              </a:spcBef>
            </a:pPr>
            <a:r>
              <a:rPr sz="1050" b="0" dirty="0">
                <a:latin typeface="Liberation Mono"/>
                <a:cs typeface="Liberation Mono"/>
              </a:rPr>
              <a:t>FROM </a:t>
            </a:r>
            <a:r>
              <a:rPr sz="1050" b="0" spc="-10" dirty="0">
                <a:solidFill>
                  <a:srgbClr val="24292E"/>
                </a:solidFill>
                <a:latin typeface="Liberation Mono"/>
                <a:cs typeface="Liberation Mono"/>
              </a:rPr>
              <a:t>sys.database_files</a:t>
            </a:r>
            <a:endParaRPr sz="1050" dirty="0">
              <a:latin typeface="Liberation Mono"/>
              <a:cs typeface="Liberation Mono"/>
            </a:endParaRPr>
          </a:p>
          <a:p>
            <a:pPr marL="325120" marR="2350135" indent="159385">
              <a:lnSpc>
                <a:spcPct val="125000"/>
              </a:lnSpc>
            </a:pPr>
            <a:r>
              <a:rPr sz="1050" b="0" dirty="0">
                <a:latin typeface="Liberation Mono"/>
                <a:cs typeface="Liberation Mono"/>
              </a:rPr>
              <a:t>WHERE </a:t>
            </a:r>
            <a:r>
              <a:rPr sz="1050" b="0" dirty="0">
                <a:solidFill>
                  <a:srgbClr val="24292E"/>
                </a:solidFill>
                <a:latin typeface="Liberation Mono"/>
                <a:cs typeface="Liberation Mono"/>
              </a:rPr>
              <a:t>growth_pct &gt; </a:t>
            </a:r>
            <a:r>
              <a:rPr sz="1050" b="0" spc="-10" dirty="0">
                <a:solidFill>
                  <a:srgbClr val="24292E"/>
                </a:solidFill>
                <a:latin typeface="Liberation Mono"/>
                <a:cs typeface="Liberation Mono"/>
              </a:rPr>
              <a:t>@threshold </a:t>
            </a:r>
            <a:r>
              <a:rPr sz="1050" b="0" spc="-25" dirty="0">
                <a:latin typeface="Liberation Mono"/>
                <a:cs typeface="Liberation Mono"/>
              </a:rPr>
              <a:t>END</a:t>
            </a:r>
            <a:endParaRPr sz="1050" dirty="0">
              <a:latin typeface="Liberation Mono"/>
              <a:cs typeface="Liberation Mono"/>
            </a:endParaRPr>
          </a:p>
          <a:p>
            <a:pPr>
              <a:lnSpc>
                <a:spcPct val="100000"/>
              </a:lnSpc>
            </a:pPr>
            <a:endParaRPr sz="1050" dirty="0">
              <a:latin typeface="Liberation Mono"/>
              <a:cs typeface="Liberation Mono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50" dirty="0">
              <a:latin typeface="Liberation Mono"/>
              <a:cs typeface="Liberation Mono"/>
            </a:endParaRPr>
          </a:p>
          <a:p>
            <a:pPr marL="640715">
              <a:lnSpc>
                <a:spcPct val="100000"/>
              </a:lnSpc>
            </a:pPr>
            <a:endParaRPr lang="en-US" sz="1200" dirty="0">
              <a:solidFill>
                <a:srgbClr val="202020"/>
              </a:solidFill>
            </a:endParaRPr>
          </a:p>
          <a:p>
            <a:pPr marL="640715">
              <a:lnSpc>
                <a:spcPct val="100000"/>
              </a:lnSpc>
            </a:pPr>
            <a:r>
              <a:rPr sz="1200" dirty="0">
                <a:solidFill>
                  <a:srgbClr val="202020"/>
                </a:solidFill>
              </a:rPr>
              <a:t>Faster</a:t>
            </a:r>
            <a:r>
              <a:rPr sz="1200" spc="-20" dirty="0">
                <a:solidFill>
                  <a:srgbClr val="202020"/>
                </a:solidFill>
              </a:rPr>
              <a:t> </a:t>
            </a:r>
            <a:r>
              <a:rPr sz="1200" spc="-10" dirty="0">
                <a:solidFill>
                  <a:srgbClr val="202020"/>
                </a:solidFill>
              </a:rPr>
              <a:t>Development</a:t>
            </a:r>
            <a:r>
              <a:rPr sz="1200" spc="-25" dirty="0">
                <a:solidFill>
                  <a:srgbClr val="202020"/>
                </a:solidFill>
              </a:rPr>
              <a:t> </a:t>
            </a:r>
            <a:r>
              <a:rPr sz="1200" spc="-10" dirty="0">
                <a:solidFill>
                  <a:srgbClr val="202020"/>
                </a:solidFill>
              </a:rPr>
              <a:t>Cycles</a:t>
            </a:r>
            <a:endParaRPr sz="1200" dirty="0"/>
          </a:p>
          <a:p>
            <a:pPr marL="640715">
              <a:lnSpc>
                <a:spcPct val="100000"/>
              </a:lnSpc>
              <a:spcBef>
                <a:spcPts val="285"/>
              </a:spcBef>
            </a:pP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Reduce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development</a:t>
            </a:r>
            <a:r>
              <a:rPr sz="1050" b="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time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by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up</a:t>
            </a:r>
            <a:r>
              <a:rPr sz="1050" b="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to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55%</a:t>
            </a:r>
            <a:r>
              <a:rPr sz="1050" b="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050" b="0" spc="-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monitoring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scripts</a:t>
            </a:r>
            <a:endParaRPr sz="10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 dirty="0">
              <a:latin typeface="Segoe UI"/>
              <a:cs typeface="Segoe UI"/>
            </a:endParaRPr>
          </a:p>
          <a:p>
            <a:pPr marL="64071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02020"/>
                </a:solidFill>
              </a:rPr>
              <a:t>Seamless </a:t>
            </a:r>
            <a:r>
              <a:rPr sz="1200" spc="-10" dirty="0">
                <a:solidFill>
                  <a:srgbClr val="202020"/>
                </a:solidFill>
              </a:rPr>
              <a:t>Integration</a:t>
            </a:r>
            <a:endParaRPr sz="1200" dirty="0"/>
          </a:p>
          <a:p>
            <a:pPr marL="640715">
              <a:lnSpc>
                <a:spcPct val="100000"/>
              </a:lnSpc>
              <a:spcBef>
                <a:spcPts val="284"/>
              </a:spcBef>
            </a:pP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Works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with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VS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Code,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SQL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Server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Management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Studio,</a:t>
            </a:r>
            <a:r>
              <a:rPr sz="1050" b="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lang="en-US" sz="1050" b="0" spc="-15" dirty="0">
                <a:solidFill>
                  <a:srgbClr val="202020"/>
                </a:solidFill>
                <a:latin typeface="Segoe UI"/>
                <a:cs typeface="Segoe UI"/>
              </a:rPr>
              <a:t>Visual Studio</a:t>
            </a:r>
            <a:endParaRPr sz="10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50" dirty="0">
              <a:latin typeface="Segoe UI"/>
              <a:cs typeface="Segoe UI"/>
            </a:endParaRPr>
          </a:p>
          <a:p>
            <a:pPr marL="640715">
              <a:lnSpc>
                <a:spcPct val="100000"/>
              </a:lnSpc>
            </a:pPr>
            <a:r>
              <a:rPr sz="1200" dirty="0">
                <a:solidFill>
                  <a:srgbClr val="202020"/>
                </a:solidFill>
              </a:rPr>
              <a:t>AI-Assisted</a:t>
            </a:r>
            <a:r>
              <a:rPr sz="1200" spc="-25" dirty="0">
                <a:solidFill>
                  <a:srgbClr val="202020"/>
                </a:solidFill>
              </a:rPr>
              <a:t> </a:t>
            </a:r>
            <a:r>
              <a:rPr sz="1200" spc="-10" dirty="0">
                <a:solidFill>
                  <a:srgbClr val="202020"/>
                </a:solidFill>
              </a:rPr>
              <a:t>Debugging</a:t>
            </a:r>
            <a:endParaRPr sz="1200" dirty="0"/>
          </a:p>
          <a:p>
            <a:pPr marL="640715">
              <a:lnSpc>
                <a:spcPct val="100000"/>
              </a:lnSpc>
              <a:spcBef>
                <a:spcPts val="285"/>
              </a:spcBef>
            </a:pP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Identifies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suggests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fixes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for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common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SQL</a:t>
            </a:r>
            <a:r>
              <a:rPr sz="1050" b="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050" b="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r>
              <a:rPr sz="1050" b="0" spc="-10" dirty="0">
                <a:solidFill>
                  <a:srgbClr val="202020"/>
                </a:solidFill>
                <a:latin typeface="Segoe UI"/>
                <a:cs typeface="Segoe UI"/>
              </a:rPr>
              <a:t> issues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37018" y="6417158"/>
            <a:ext cx="1202690" cy="2870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078" rIns="0" bIns="0" rtlCol="0">
            <a:spAutoFit/>
          </a:bodyPr>
          <a:lstStyle/>
          <a:p>
            <a:pPr marL="102044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1024" y="0"/>
            <a:ext cx="3990975" cy="6858000"/>
            <a:chOff x="8201024" y="0"/>
            <a:chExt cx="3990975" cy="6858000"/>
          </a:xfrm>
        </p:grpSpPr>
        <p:sp>
          <p:nvSpPr>
            <p:cNvPr id="3" name="object 3"/>
            <p:cNvSpPr/>
            <p:nvPr/>
          </p:nvSpPr>
          <p:spPr>
            <a:xfrm>
              <a:off x="8220073" y="1638299"/>
              <a:ext cx="3514725" cy="1943100"/>
            </a:xfrm>
            <a:custGeom>
              <a:avLst/>
              <a:gdLst/>
              <a:ahLst/>
              <a:cxnLst/>
              <a:rect l="l" t="t" r="r" b="b"/>
              <a:pathLst>
                <a:path w="3514725" h="1943100">
                  <a:moveTo>
                    <a:pt x="3481677" y="1943099"/>
                  </a:moveTo>
                  <a:lnTo>
                    <a:pt x="16523" y="1943099"/>
                  </a:lnTo>
                  <a:lnTo>
                    <a:pt x="14093" y="1942132"/>
                  </a:lnTo>
                  <a:lnTo>
                    <a:pt x="0" y="1910051"/>
                  </a:lnTo>
                  <a:lnTo>
                    <a:pt x="0" y="1904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3481677" y="0"/>
                  </a:lnTo>
                  <a:lnTo>
                    <a:pt x="3513757" y="28187"/>
                  </a:lnTo>
                  <a:lnTo>
                    <a:pt x="3514724" y="33047"/>
                  </a:lnTo>
                  <a:lnTo>
                    <a:pt x="3514724" y="1910051"/>
                  </a:lnTo>
                  <a:lnTo>
                    <a:pt x="3486536" y="1942132"/>
                  </a:lnTo>
                  <a:lnTo>
                    <a:pt x="3481677" y="19430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01024" y="1638299"/>
              <a:ext cx="38100" cy="1943100"/>
            </a:xfrm>
            <a:custGeom>
              <a:avLst/>
              <a:gdLst/>
              <a:ahLst/>
              <a:cxnLst/>
              <a:rect l="l" t="t" r="r" b="b"/>
              <a:pathLst>
                <a:path w="38100" h="1943100">
                  <a:moveTo>
                    <a:pt x="38099" y="1943099"/>
                  </a:moveTo>
                  <a:lnTo>
                    <a:pt x="2789" y="1919625"/>
                  </a:lnTo>
                  <a:lnTo>
                    <a:pt x="0" y="19049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19430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1524" y="1824037"/>
              <a:ext cx="228600" cy="20002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ROI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4500" y="1082675"/>
            <a:ext cx="51288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Quantifiable</a:t>
            </a:r>
            <a:r>
              <a:rPr sz="13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value</a:t>
            </a:r>
            <a:r>
              <a:rPr sz="13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sz="13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Automated</a:t>
            </a:r>
            <a:r>
              <a:rPr sz="13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Database</a:t>
            </a:r>
            <a:r>
              <a:rPr sz="13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3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4A5462"/>
                </a:solidFill>
                <a:latin typeface="Segoe UI"/>
                <a:cs typeface="Segoe UI"/>
              </a:rPr>
              <a:t>Alert</a:t>
            </a:r>
            <a:r>
              <a:rPr sz="13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Segoe UI"/>
                <a:cs typeface="Segoe UI"/>
              </a:rPr>
              <a:t>System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199" y="1638299"/>
            <a:ext cx="3533775" cy="2628900"/>
            <a:chOff x="457199" y="1638299"/>
            <a:chExt cx="3533775" cy="2628900"/>
          </a:xfrm>
        </p:grpSpPr>
        <p:sp>
          <p:nvSpPr>
            <p:cNvPr id="10" name="object 10"/>
            <p:cNvSpPr/>
            <p:nvPr/>
          </p:nvSpPr>
          <p:spPr>
            <a:xfrm>
              <a:off x="476249" y="1638299"/>
              <a:ext cx="3514725" cy="2628900"/>
            </a:xfrm>
            <a:custGeom>
              <a:avLst/>
              <a:gdLst/>
              <a:ahLst/>
              <a:cxnLst/>
              <a:rect l="l" t="t" r="r" b="b"/>
              <a:pathLst>
                <a:path w="3514725" h="2628900">
                  <a:moveTo>
                    <a:pt x="3481676" y="2628899"/>
                  </a:moveTo>
                  <a:lnTo>
                    <a:pt x="16523" y="2628899"/>
                  </a:lnTo>
                  <a:lnTo>
                    <a:pt x="14093" y="2627932"/>
                  </a:lnTo>
                  <a:lnTo>
                    <a:pt x="0" y="2595851"/>
                  </a:lnTo>
                  <a:lnTo>
                    <a:pt x="0" y="25907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3481676" y="0"/>
                  </a:lnTo>
                  <a:lnTo>
                    <a:pt x="3513757" y="28187"/>
                  </a:lnTo>
                  <a:lnTo>
                    <a:pt x="3514724" y="33047"/>
                  </a:lnTo>
                  <a:lnTo>
                    <a:pt x="3514724" y="2595851"/>
                  </a:lnTo>
                  <a:lnTo>
                    <a:pt x="3486536" y="2627932"/>
                  </a:lnTo>
                  <a:lnTo>
                    <a:pt x="3481676" y="26288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1638299"/>
              <a:ext cx="38100" cy="2628900"/>
            </a:xfrm>
            <a:custGeom>
              <a:avLst/>
              <a:gdLst/>
              <a:ahLst/>
              <a:cxnLst/>
              <a:rect l="l" t="t" r="r" b="b"/>
              <a:pathLst>
                <a:path w="38100" h="2628900">
                  <a:moveTo>
                    <a:pt x="38099" y="2628899"/>
                  </a:moveTo>
                  <a:lnTo>
                    <a:pt x="2789" y="2605425"/>
                  </a:lnTo>
                  <a:lnTo>
                    <a:pt x="0" y="25907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26288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" y="1809749"/>
              <a:ext cx="228600" cy="228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299" y="2247899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299" y="2781299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299" y="3314699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299" y="3848099"/>
              <a:ext cx="15239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77900" y="1797050"/>
            <a:ext cx="2685415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Cost</a:t>
            </a:r>
            <a:r>
              <a:rPr sz="1500" b="1" spc="-3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Savings</a:t>
            </a:r>
            <a:endParaRPr sz="1500">
              <a:latin typeface="Segoe UI Semibold"/>
              <a:cs typeface="Segoe UI Semibold"/>
            </a:endParaRPr>
          </a:p>
          <a:p>
            <a:pPr marL="126364" marR="59690">
              <a:lnSpc>
                <a:spcPct val="125000"/>
              </a:lnSpc>
              <a:spcBef>
                <a:spcPts val="114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Reduced</a:t>
            </a:r>
            <a:r>
              <a:rPr sz="12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storage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costs</a:t>
            </a:r>
            <a:r>
              <a:rPr sz="12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by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proactively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managing</a:t>
            </a:r>
            <a:r>
              <a:rPr sz="1200" spc="-5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growth</a:t>
            </a:r>
            <a:endParaRPr sz="1200">
              <a:latin typeface="Segoe UI"/>
              <a:cs typeface="Segoe UI"/>
            </a:endParaRPr>
          </a:p>
          <a:p>
            <a:pPr marL="126364" marR="9652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Lower operational expenses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through automation</a:t>
            </a:r>
            <a:endParaRPr sz="1200">
              <a:latin typeface="Segoe UI"/>
              <a:cs typeface="Segoe UI"/>
            </a:endParaRPr>
          </a:p>
          <a:p>
            <a:pPr marL="126364" marR="5080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Decreased downtime-related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financial impact</a:t>
            </a:r>
            <a:endParaRPr sz="1200">
              <a:latin typeface="Segoe UI"/>
              <a:cs typeface="Segoe UI"/>
            </a:endParaRPr>
          </a:p>
          <a:p>
            <a:pPr marL="126364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Optimized DBA resource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allocation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33874" y="1638299"/>
            <a:ext cx="3524250" cy="1943100"/>
            <a:chOff x="4333874" y="1638299"/>
            <a:chExt cx="3524250" cy="1943100"/>
          </a:xfrm>
        </p:grpSpPr>
        <p:sp>
          <p:nvSpPr>
            <p:cNvPr id="19" name="object 19"/>
            <p:cNvSpPr/>
            <p:nvPr/>
          </p:nvSpPr>
          <p:spPr>
            <a:xfrm>
              <a:off x="4352924" y="1638299"/>
              <a:ext cx="3505200" cy="1943100"/>
            </a:xfrm>
            <a:custGeom>
              <a:avLst/>
              <a:gdLst/>
              <a:ahLst/>
              <a:cxnLst/>
              <a:rect l="l" t="t" r="r" b="b"/>
              <a:pathLst>
                <a:path w="3505200" h="1943100">
                  <a:moveTo>
                    <a:pt x="3472152" y="1943099"/>
                  </a:moveTo>
                  <a:lnTo>
                    <a:pt x="16523" y="1943099"/>
                  </a:lnTo>
                  <a:lnTo>
                    <a:pt x="14093" y="1942132"/>
                  </a:lnTo>
                  <a:lnTo>
                    <a:pt x="0" y="1910051"/>
                  </a:lnTo>
                  <a:lnTo>
                    <a:pt x="0" y="1904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3472152" y="0"/>
                  </a:lnTo>
                  <a:lnTo>
                    <a:pt x="3504232" y="28187"/>
                  </a:lnTo>
                  <a:lnTo>
                    <a:pt x="3505199" y="33047"/>
                  </a:lnTo>
                  <a:lnTo>
                    <a:pt x="3505199" y="1910051"/>
                  </a:lnTo>
                  <a:lnTo>
                    <a:pt x="3477011" y="1942132"/>
                  </a:lnTo>
                  <a:lnTo>
                    <a:pt x="3472152" y="19430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33874" y="1638299"/>
              <a:ext cx="38100" cy="1943100"/>
            </a:xfrm>
            <a:custGeom>
              <a:avLst/>
              <a:gdLst/>
              <a:ahLst/>
              <a:cxnLst/>
              <a:rect l="l" t="t" r="r" b="b"/>
              <a:pathLst>
                <a:path w="38100" h="1943100">
                  <a:moveTo>
                    <a:pt x="38099" y="1943099"/>
                  </a:moveTo>
                  <a:lnTo>
                    <a:pt x="2789" y="1919625"/>
                  </a:lnTo>
                  <a:lnTo>
                    <a:pt x="0" y="1904999"/>
                  </a:lnTo>
                  <a:lnTo>
                    <a:pt x="0" y="38099"/>
                  </a:lnTo>
                  <a:lnTo>
                    <a:pt x="23474" y="2789"/>
                  </a:lnTo>
                  <a:lnTo>
                    <a:pt x="38099" y="0"/>
                  </a:lnTo>
                  <a:lnTo>
                    <a:pt x="38099" y="19430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4498" y="1809749"/>
              <a:ext cx="228352" cy="228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974" y="2247899"/>
              <a:ext cx="152399" cy="152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974" y="2552699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974" y="2857499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974" y="3162299"/>
              <a:ext cx="152399" cy="1523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851449" y="1797050"/>
            <a:ext cx="2734945" cy="1541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Performance</a:t>
            </a:r>
            <a:r>
              <a:rPr sz="1500" b="1" spc="-25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Gains</a:t>
            </a:r>
            <a:endParaRPr sz="1500">
              <a:latin typeface="Segoe UI Semibold"/>
              <a:cs typeface="Segoe UI Semibold"/>
            </a:endParaRPr>
          </a:p>
          <a:p>
            <a:pPr marL="126364">
              <a:lnSpc>
                <a:spcPct val="100000"/>
              </a:lnSpc>
              <a:spcBef>
                <a:spcPts val="15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Improved query response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times</a:t>
            </a:r>
            <a:endParaRPr sz="1200">
              <a:latin typeface="Segoe UI"/>
              <a:cs typeface="Segoe UI"/>
            </a:endParaRPr>
          </a:p>
          <a:p>
            <a:pPr marL="126364" marR="5080">
              <a:lnSpc>
                <a:spcPct val="166700"/>
              </a:lnSpc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Reduced</a:t>
            </a:r>
            <a:r>
              <a:rPr sz="12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resource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contention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Faster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backup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and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recovery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operations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Optimized application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performance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24999" y="1797050"/>
            <a:ext cx="1282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02020"/>
                </a:solidFill>
                <a:latin typeface="Segoe UI Semibold"/>
                <a:cs typeface="Segoe UI Semibold"/>
              </a:rPr>
              <a:t>Business</a:t>
            </a:r>
            <a:r>
              <a:rPr sz="1500" b="1" spc="-6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Value</a:t>
            </a:r>
            <a:endParaRPr sz="1500">
              <a:latin typeface="Segoe UI Semibold"/>
              <a:cs typeface="Segoe UI Semibold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620125" y="2247900"/>
            <a:ext cx="876299" cy="3295649"/>
            <a:chOff x="8620125" y="2247900"/>
            <a:chExt cx="876299" cy="3295649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0125" y="2247900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0125" y="2552699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0125" y="2857499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0125" y="3162300"/>
              <a:ext cx="152399" cy="1523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115424" y="516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6" y="358506"/>
                  </a:lnTo>
                  <a:lnTo>
                    <a:pt x="62574" y="331658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1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2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F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1752" y="5276849"/>
              <a:ext cx="87600" cy="1523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839299" y="2216150"/>
            <a:ext cx="23094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Enhanced service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reliability</a:t>
            </a:r>
            <a:endParaRPr sz="1200">
              <a:latin typeface="Segoe UI"/>
              <a:cs typeface="Segoe UI"/>
            </a:endParaRPr>
          </a:p>
          <a:p>
            <a:pPr marL="12700" marR="259079">
              <a:lnSpc>
                <a:spcPct val="166700"/>
              </a:lnSpc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Improved compliance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posture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Increased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IT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team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productivity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Better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capacity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planning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 decisions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7199" y="5162549"/>
            <a:ext cx="381000" cy="381000"/>
            <a:chOff x="457199" y="5162549"/>
            <a:chExt cx="381000" cy="381000"/>
          </a:xfrm>
        </p:grpSpPr>
        <p:sp>
          <p:nvSpPr>
            <p:cNvPr id="39" name="object 39"/>
            <p:cNvSpPr/>
            <p:nvPr/>
          </p:nvSpPr>
          <p:spPr>
            <a:xfrm>
              <a:off x="457199" y="516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6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2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F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499" y="5276849"/>
              <a:ext cx="152399" cy="1523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444500" y="4740275"/>
            <a:ext cx="2642870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0F6EBE"/>
                </a:solidFill>
                <a:latin typeface="Segoe UI Semibold"/>
                <a:cs typeface="Segoe UI Semibold"/>
              </a:rPr>
              <a:t>Key</a:t>
            </a:r>
            <a:r>
              <a:rPr sz="1350" b="1" spc="-25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0F6EBE"/>
                </a:solidFill>
                <a:latin typeface="Segoe UI Semibold"/>
                <a:cs typeface="Segoe UI Semibold"/>
              </a:rPr>
              <a:t>ROI</a:t>
            </a:r>
            <a:r>
              <a:rPr sz="1350" b="1" spc="-20" dirty="0">
                <a:solidFill>
                  <a:srgbClr val="0F6EBE"/>
                </a:solidFill>
                <a:latin typeface="Segoe UI Semibold"/>
                <a:cs typeface="Segoe UI Semibold"/>
              </a:rPr>
              <a:t> </a:t>
            </a:r>
            <a:r>
              <a:rPr sz="1350" b="1" spc="-10" dirty="0">
                <a:solidFill>
                  <a:srgbClr val="0F6EBE"/>
                </a:solidFill>
                <a:latin typeface="Segoe UI Semibold"/>
                <a:cs typeface="Segoe UI Semibold"/>
              </a:rPr>
              <a:t>Metrics</a:t>
            </a:r>
            <a:endParaRPr sz="1350">
              <a:latin typeface="Segoe UI Semibold"/>
              <a:cs typeface="Segoe UI Semibold"/>
            </a:endParaRPr>
          </a:p>
          <a:p>
            <a:pPr marL="507365">
              <a:lnSpc>
                <a:spcPct val="100000"/>
              </a:lnSpc>
              <a:spcBef>
                <a:spcPts val="1605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70%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Reduction</a:t>
            </a:r>
            <a:endParaRPr sz="1200">
              <a:latin typeface="Segoe UI Semibold"/>
              <a:cs typeface="Segoe UI Semibold"/>
            </a:endParaRPr>
          </a:p>
          <a:p>
            <a:pPr marL="507365">
              <a:lnSpc>
                <a:spcPct val="100000"/>
              </a:lnSpc>
              <a:spcBef>
                <a:spcPts val="284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in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time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spent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on</a:t>
            </a:r>
            <a:r>
              <a:rPr sz="1050" spc="-1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manual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monitoring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514724" y="5162549"/>
            <a:ext cx="381000" cy="381000"/>
            <a:chOff x="3514724" y="5162549"/>
            <a:chExt cx="381000" cy="381000"/>
          </a:xfrm>
        </p:grpSpPr>
        <p:sp>
          <p:nvSpPr>
            <p:cNvPr id="43" name="object 43"/>
            <p:cNvSpPr/>
            <p:nvPr/>
          </p:nvSpPr>
          <p:spPr>
            <a:xfrm>
              <a:off x="3514724" y="516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6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2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F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28488" y="5286374"/>
              <a:ext cx="153471" cy="13334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992860" y="5108483"/>
            <a:ext cx="1875155" cy="446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85%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Decrease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in</a:t>
            </a:r>
            <a:r>
              <a:rPr sz="1050" spc="-2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unexpected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incidents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86499" y="5162549"/>
            <a:ext cx="381000" cy="381000"/>
            <a:chOff x="6286499" y="5162549"/>
            <a:chExt cx="381000" cy="381000"/>
          </a:xfrm>
        </p:grpSpPr>
        <p:sp>
          <p:nvSpPr>
            <p:cNvPr id="47" name="object 47"/>
            <p:cNvSpPr/>
            <p:nvPr/>
          </p:nvSpPr>
          <p:spPr>
            <a:xfrm>
              <a:off x="6286499" y="516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6" y="358506"/>
                  </a:lnTo>
                  <a:lnTo>
                    <a:pt x="62574" y="331658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1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2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6" y="353902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F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799" y="5286374"/>
              <a:ext cx="152399" cy="13334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6773564" y="5108483"/>
            <a:ext cx="1915795" cy="446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30%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Improvement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in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overall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database 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performance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837018" y="6417158"/>
            <a:ext cx="1202690" cy="2870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Automated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dirty="0"/>
              <a:t>Alert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7078" rIns="0" bIns="0" rtlCol="0">
            <a:spAutoFit/>
          </a:bodyPr>
          <a:lstStyle/>
          <a:p>
            <a:pPr marL="102044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0" name="object 50"/>
          <p:cNvSpPr txBox="1"/>
          <p:nvPr/>
        </p:nvSpPr>
        <p:spPr>
          <a:xfrm>
            <a:off x="9594750" y="5108483"/>
            <a:ext cx="2152650" cy="446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200" b="1" dirty="0">
                <a:solidFill>
                  <a:srgbClr val="202020"/>
                </a:solidFill>
                <a:latin typeface="Segoe UI Semibold"/>
                <a:cs typeface="Segoe UI Semibold"/>
              </a:rPr>
              <a:t>40% Cost </a:t>
            </a:r>
            <a:r>
              <a:rPr sz="120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Savings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in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storage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and</a:t>
            </a:r>
            <a:r>
              <a:rPr sz="1050" spc="-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4A5462"/>
                </a:solidFill>
                <a:latin typeface="Segoe UI"/>
                <a:cs typeface="Segoe UI"/>
              </a:rPr>
              <a:t>operational</a:t>
            </a:r>
            <a:r>
              <a:rPr sz="1050" spc="-10" dirty="0">
                <a:solidFill>
                  <a:srgbClr val="4A5462"/>
                </a:solidFill>
                <a:latin typeface="Segoe UI"/>
                <a:cs typeface="Segoe UI"/>
              </a:rPr>
              <a:t> expenses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5999" y="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5999" y="2285999"/>
                </a:moveTo>
                <a:lnTo>
                  <a:pt x="0" y="0"/>
                </a:lnTo>
                <a:lnTo>
                  <a:pt x="2285999" y="0"/>
                </a:lnTo>
                <a:lnTo>
                  <a:pt x="2285999" y="2285999"/>
                </a:lnTo>
                <a:close/>
              </a:path>
            </a:pathLst>
          </a:custGeom>
          <a:solidFill>
            <a:srgbClr val="F0F7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199" y="45719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199" y="6705599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11277599" y="9524"/>
                </a:moveTo>
                <a:lnTo>
                  <a:pt x="0" y="9524"/>
                </a:lnTo>
                <a:lnTo>
                  <a:pt x="0" y="0"/>
                </a:lnTo>
                <a:lnTo>
                  <a:pt x="11277599" y="0"/>
                </a:lnTo>
                <a:lnTo>
                  <a:pt x="11277599" y="952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4500" y="596900"/>
            <a:ext cx="329755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/>
              <a:t>Conclusion</a:t>
            </a:r>
            <a:r>
              <a:rPr sz="2250" spc="-10" dirty="0"/>
              <a:t> </a:t>
            </a:r>
            <a:r>
              <a:rPr sz="2250" dirty="0"/>
              <a:t>&amp;</a:t>
            </a:r>
            <a:r>
              <a:rPr sz="2250" spc="-5" dirty="0"/>
              <a:t> </a:t>
            </a:r>
            <a:r>
              <a:rPr sz="2250" dirty="0"/>
              <a:t>Thank</a:t>
            </a:r>
            <a:r>
              <a:rPr sz="2250" spc="-5" dirty="0"/>
              <a:t> </a:t>
            </a:r>
            <a:r>
              <a:rPr sz="2250" spc="-50" dirty="0"/>
              <a:t>You</a:t>
            </a:r>
            <a:endParaRPr sz="2250"/>
          </a:p>
        </p:txBody>
      </p:sp>
      <p:sp>
        <p:nvSpPr>
          <p:cNvPr id="6" name="object 6"/>
          <p:cNvSpPr/>
          <p:nvPr/>
        </p:nvSpPr>
        <p:spPr>
          <a:xfrm>
            <a:off x="457199" y="1600199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099" y="1790699"/>
                </a:moveTo>
                <a:lnTo>
                  <a:pt x="0" y="1790699"/>
                </a:lnTo>
                <a:lnTo>
                  <a:pt x="0" y="0"/>
                </a:lnTo>
                <a:lnTo>
                  <a:pt x="38099" y="0"/>
                </a:lnTo>
                <a:lnTo>
                  <a:pt x="38099" y="17906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4500" y="1187450"/>
            <a:ext cx="23437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Project</a:t>
            </a:r>
            <a:r>
              <a:rPr sz="1500" b="1" spc="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Summary</a:t>
            </a:r>
            <a:r>
              <a:rPr sz="1500" b="1" spc="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&amp;</a:t>
            </a:r>
            <a:r>
              <a:rPr sz="1500" b="1" spc="10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Impact</a:t>
            </a:r>
            <a:endParaRPr sz="1500">
              <a:latin typeface="Segoe UI Semibold"/>
              <a:cs typeface="Segoe UI Semibold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6749" y="2038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749" y="2343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6749" y="2647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749" y="2952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6749" y="3257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Automated</a:t>
            </a:r>
            <a:r>
              <a:rPr spc="-30" dirty="0"/>
              <a:t> </a:t>
            </a:r>
            <a:r>
              <a:rPr dirty="0"/>
              <a:t>Database</a:t>
            </a:r>
            <a:r>
              <a:rPr spc="-25" dirty="0"/>
              <a:t> </a:t>
            </a:r>
            <a:r>
              <a:rPr dirty="0"/>
              <a:t>Growth</a:t>
            </a:r>
            <a:r>
              <a:rPr spc="-30" dirty="0"/>
              <a:t> </a:t>
            </a:r>
            <a:r>
              <a:rPr dirty="0"/>
              <a:t>Alert</a:t>
            </a:r>
            <a:r>
              <a:rPr spc="-25" dirty="0"/>
              <a:t> </a:t>
            </a:r>
            <a:r>
              <a:rPr spc="-10" dirty="0"/>
              <a:t>System:</a:t>
            </a:r>
          </a:p>
          <a:p>
            <a:pPr marL="202565">
              <a:lnSpc>
                <a:spcPct val="100000"/>
              </a:lnSpc>
              <a:spcBef>
                <a:spcPts val="1005"/>
              </a:spcBef>
            </a:pPr>
            <a:r>
              <a:rPr sz="1200" dirty="0"/>
              <a:t>Provides</a:t>
            </a:r>
            <a:r>
              <a:rPr sz="1200" spc="-5" dirty="0"/>
              <a:t> </a:t>
            </a:r>
            <a:r>
              <a:rPr sz="1200" dirty="0"/>
              <a:t>proactive</a:t>
            </a:r>
            <a:r>
              <a:rPr sz="1200" spc="-5" dirty="0"/>
              <a:t> </a:t>
            </a:r>
            <a:r>
              <a:rPr sz="1200" dirty="0"/>
              <a:t>monitoring</a:t>
            </a:r>
            <a:r>
              <a:rPr sz="1200" spc="-5" dirty="0"/>
              <a:t> </a:t>
            </a:r>
            <a:r>
              <a:rPr sz="1200" dirty="0"/>
              <a:t>across</a:t>
            </a:r>
            <a:r>
              <a:rPr sz="1200" spc="-5" dirty="0"/>
              <a:t> </a:t>
            </a:r>
            <a:r>
              <a:rPr sz="1200" dirty="0"/>
              <a:t>16 SQL</a:t>
            </a:r>
            <a:r>
              <a:rPr sz="1200" spc="-5" dirty="0"/>
              <a:t> </a:t>
            </a:r>
            <a:r>
              <a:rPr sz="1200" dirty="0"/>
              <a:t>MI</a:t>
            </a:r>
            <a:r>
              <a:rPr sz="1200" spc="-5" dirty="0"/>
              <a:t> </a:t>
            </a:r>
            <a:r>
              <a:rPr sz="1200" spc="-10" dirty="0"/>
              <a:t>servers</a:t>
            </a:r>
            <a:endParaRPr sz="1200"/>
          </a:p>
          <a:p>
            <a:pPr marL="202565">
              <a:lnSpc>
                <a:spcPct val="100000"/>
              </a:lnSpc>
              <a:spcBef>
                <a:spcPts val="960"/>
              </a:spcBef>
            </a:pPr>
            <a:r>
              <a:rPr sz="1200" dirty="0"/>
              <a:t>Enables timely intervention before performance issues </a:t>
            </a:r>
            <a:r>
              <a:rPr sz="1200" spc="-10" dirty="0"/>
              <a:t>arise</a:t>
            </a:r>
            <a:endParaRPr sz="1200"/>
          </a:p>
          <a:p>
            <a:pPr marL="202565" marR="223520">
              <a:lnSpc>
                <a:spcPct val="166700"/>
              </a:lnSpc>
            </a:pPr>
            <a:r>
              <a:rPr sz="1200" dirty="0"/>
              <a:t>Reduces</a:t>
            </a:r>
            <a:r>
              <a:rPr sz="1200" spc="-20" dirty="0"/>
              <a:t> </a:t>
            </a:r>
            <a:r>
              <a:rPr sz="1200" dirty="0"/>
              <a:t>operational</a:t>
            </a:r>
            <a:r>
              <a:rPr sz="1200" spc="-20" dirty="0"/>
              <a:t> </a:t>
            </a:r>
            <a:r>
              <a:rPr sz="1200" dirty="0"/>
              <a:t>costs</a:t>
            </a:r>
            <a:r>
              <a:rPr sz="1200" spc="-15" dirty="0"/>
              <a:t> </a:t>
            </a:r>
            <a:r>
              <a:rPr sz="1200" dirty="0"/>
              <a:t>through</a:t>
            </a:r>
            <a:r>
              <a:rPr sz="1200" spc="-20" dirty="0"/>
              <a:t> </a:t>
            </a:r>
            <a:r>
              <a:rPr sz="1200" dirty="0"/>
              <a:t>optimized</a:t>
            </a:r>
            <a:r>
              <a:rPr sz="1200" spc="-15" dirty="0"/>
              <a:t> </a:t>
            </a:r>
            <a:r>
              <a:rPr sz="1200" dirty="0"/>
              <a:t>storage</a:t>
            </a:r>
            <a:r>
              <a:rPr sz="1200" spc="-20" dirty="0"/>
              <a:t> </a:t>
            </a:r>
            <a:r>
              <a:rPr sz="1200" spc="-10" dirty="0"/>
              <a:t>management </a:t>
            </a:r>
            <a:r>
              <a:rPr sz="1200" dirty="0"/>
              <a:t>Empowers application owners with actionable </a:t>
            </a:r>
            <a:r>
              <a:rPr sz="1200" spc="-10" dirty="0"/>
              <a:t>insights</a:t>
            </a:r>
            <a:endParaRPr sz="1200"/>
          </a:p>
          <a:p>
            <a:pPr marL="202565">
              <a:lnSpc>
                <a:spcPct val="100000"/>
              </a:lnSpc>
              <a:spcBef>
                <a:spcPts val="960"/>
              </a:spcBef>
            </a:pPr>
            <a:r>
              <a:rPr sz="1200" dirty="0"/>
              <a:t>Leverages</a:t>
            </a:r>
            <a:r>
              <a:rPr sz="1200" spc="-5" dirty="0"/>
              <a:t> </a:t>
            </a:r>
            <a:r>
              <a:rPr sz="1200" dirty="0"/>
              <a:t>GitHub</a:t>
            </a:r>
            <a:r>
              <a:rPr sz="1200" spc="-5" dirty="0"/>
              <a:t> </a:t>
            </a:r>
            <a:r>
              <a:rPr sz="1200" dirty="0"/>
              <a:t>Copilot</a:t>
            </a:r>
            <a:r>
              <a:rPr sz="1200" spc="-5" dirty="0"/>
              <a:t> </a:t>
            </a:r>
            <a:r>
              <a:rPr sz="1200" dirty="0"/>
              <a:t>to</a:t>
            </a:r>
            <a:r>
              <a:rPr sz="1200" spc="-5" dirty="0"/>
              <a:t> </a:t>
            </a:r>
            <a:r>
              <a:rPr sz="1200" dirty="0"/>
              <a:t>accelerate</a:t>
            </a:r>
            <a:r>
              <a:rPr sz="1200" spc="-5" dirty="0"/>
              <a:t> </a:t>
            </a:r>
            <a:r>
              <a:rPr sz="1200" dirty="0"/>
              <a:t>development</a:t>
            </a:r>
            <a:r>
              <a:rPr sz="1200" spc="-5" dirty="0"/>
              <a:t> </a:t>
            </a:r>
            <a:r>
              <a:rPr sz="1200" dirty="0"/>
              <a:t>and</a:t>
            </a:r>
            <a:r>
              <a:rPr sz="1200" spc="-5" dirty="0"/>
              <a:t> </a:t>
            </a:r>
            <a:r>
              <a:rPr sz="1200" spc="-10" dirty="0"/>
              <a:t>maintenance</a:t>
            </a:r>
            <a:endParaRPr sz="1200"/>
          </a:p>
        </p:txBody>
      </p:sp>
      <p:sp>
        <p:nvSpPr>
          <p:cNvPr id="14" name="object 14"/>
          <p:cNvSpPr txBox="1"/>
          <p:nvPr/>
        </p:nvSpPr>
        <p:spPr>
          <a:xfrm>
            <a:off x="444500" y="3536315"/>
            <a:ext cx="67163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This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system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transforms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reactive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database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management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into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proactive</a:t>
            </a:r>
            <a:r>
              <a:rPr sz="135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approach,</a:t>
            </a:r>
            <a:r>
              <a:rPr sz="135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saving </a:t>
            </a:r>
            <a:r>
              <a:rPr sz="1350" dirty="0">
                <a:solidFill>
                  <a:srgbClr val="202020"/>
                </a:solidFill>
                <a:latin typeface="Segoe UI"/>
                <a:cs typeface="Segoe UI"/>
              </a:rPr>
              <a:t>valuable resources while ensuring optimal application </a:t>
            </a:r>
            <a:r>
              <a:rPr sz="1350" spc="-10" dirty="0">
                <a:solidFill>
                  <a:srgbClr val="202020"/>
                </a:solidFill>
                <a:latin typeface="Segoe UI"/>
                <a:cs typeface="Segoe UI"/>
              </a:rPr>
              <a:t>performance.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62850" y="1187450"/>
            <a:ext cx="162496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Acknowledgments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Special</a:t>
            </a:r>
            <a:r>
              <a:rPr sz="1200" spc="-2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thanks</a:t>
            </a:r>
            <a:r>
              <a:rPr sz="1200" spc="-1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Segoe UI"/>
                <a:cs typeface="Segoe UI"/>
              </a:rPr>
              <a:t>to: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2425" y="2019300"/>
            <a:ext cx="190499" cy="1523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191450" y="1987550"/>
            <a:ext cx="2116455" cy="278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24765" indent="19050">
              <a:lnSpc>
                <a:spcPct val="166700"/>
              </a:lnSpc>
            </a:pPr>
            <a:r>
              <a:rPr lang="en-US" sz="1200" dirty="0">
                <a:solidFill>
                  <a:srgbClr val="202020"/>
                </a:solidFill>
                <a:latin typeface="Segoe UI"/>
                <a:cs typeface="Segoe UI"/>
              </a:rPr>
              <a:t>My leads &amp; my 1C DBA Team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2425" y="2333625"/>
            <a:ext cx="190499" cy="1333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199" y="4552949"/>
            <a:ext cx="5638799" cy="17144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6899" y="4711700"/>
            <a:ext cx="174815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Get</a:t>
            </a:r>
            <a:r>
              <a:rPr sz="1500" b="1" spc="-15" dirty="0">
                <a:solidFill>
                  <a:srgbClr val="0078D4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0078D4"/>
                </a:solidFill>
                <a:latin typeface="Segoe UI Semibold"/>
                <a:cs typeface="Segoe UI Semibold"/>
              </a:rPr>
              <a:t>in</a:t>
            </a:r>
            <a:r>
              <a:rPr sz="1500" b="1" spc="-10" dirty="0">
                <a:solidFill>
                  <a:srgbClr val="0078D4"/>
                </a:solidFill>
                <a:latin typeface="Segoe UI Semibold"/>
                <a:cs typeface="Segoe UI Semibold"/>
              </a:rPr>
              <a:t> Touch</a:t>
            </a:r>
            <a:endParaRPr sz="1500">
              <a:latin typeface="Segoe UI Semibold"/>
              <a:cs typeface="Segoe UI Semibold"/>
            </a:endParaRPr>
          </a:p>
          <a:p>
            <a:pPr marL="278765">
              <a:lnSpc>
                <a:spcPct val="100000"/>
              </a:lnSpc>
              <a:spcBef>
                <a:spcPts val="1200"/>
              </a:spcBef>
            </a:pP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{Your</a:t>
            </a:r>
            <a:r>
              <a:rPr sz="1200" spc="-5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Email</a:t>
            </a:r>
            <a:r>
              <a:rPr sz="1200" spc="-4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Address}</a:t>
            </a:r>
            <a:endParaRPr sz="1200">
              <a:latin typeface="Segoe UI"/>
              <a:cs typeface="Segoe UI"/>
            </a:endParaRPr>
          </a:p>
          <a:p>
            <a:pPr marL="278765">
              <a:lnSpc>
                <a:spcPct val="100000"/>
              </a:lnSpc>
              <a:spcBef>
                <a:spcPts val="960"/>
              </a:spcBef>
            </a:pP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{Your</a:t>
            </a:r>
            <a:r>
              <a:rPr sz="1200" spc="-35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02020"/>
                </a:solidFill>
                <a:latin typeface="Segoe UI"/>
                <a:cs typeface="Segoe UI"/>
              </a:rPr>
              <a:t>Phone</a:t>
            </a:r>
            <a:r>
              <a:rPr sz="1200" spc="-30" dirty="0">
                <a:solidFill>
                  <a:srgbClr val="202020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Segoe UI"/>
                <a:cs typeface="Segoe UI"/>
              </a:rPr>
              <a:t>Number}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9209" y="5340350"/>
            <a:ext cx="3012440" cy="10541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5"/>
              </a:spcBef>
              <a:tabLst>
                <a:tab pos="1809114" algn="l"/>
              </a:tabLst>
            </a:pPr>
            <a:r>
              <a:rPr sz="4500" b="1" spc="-10" dirty="0">
                <a:solidFill>
                  <a:srgbClr val="0F6EBE"/>
                </a:solidFill>
                <a:latin typeface="Segoe UI"/>
                <a:cs typeface="Segoe UI"/>
              </a:rPr>
              <a:t>Thank</a:t>
            </a:r>
            <a:r>
              <a:rPr sz="4500" b="1" dirty="0">
                <a:solidFill>
                  <a:srgbClr val="0F6EBE"/>
                </a:solidFill>
                <a:latin typeface="Segoe UI"/>
                <a:cs typeface="Segoe UI"/>
              </a:rPr>
              <a:t>	</a:t>
            </a:r>
            <a:r>
              <a:rPr sz="4500" b="1" spc="-70" dirty="0">
                <a:solidFill>
                  <a:srgbClr val="0F6EBE"/>
                </a:solidFill>
                <a:latin typeface="Segoe UI"/>
                <a:cs typeface="Segoe UI"/>
              </a:rPr>
              <a:t>You!</a:t>
            </a:r>
            <a:endParaRPr sz="4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500" dirty="0">
                <a:solidFill>
                  <a:srgbClr val="4A5462"/>
                </a:solidFill>
                <a:latin typeface="Segoe UI"/>
                <a:cs typeface="Segoe UI"/>
              </a:rPr>
              <a:t>Questions</a:t>
            </a:r>
            <a:r>
              <a:rPr sz="150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4A5462"/>
                </a:solidFill>
                <a:latin typeface="Segoe UI"/>
                <a:cs typeface="Segoe UI"/>
              </a:rPr>
              <a:t>&amp;</a:t>
            </a:r>
            <a:r>
              <a:rPr sz="150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4A5462"/>
                </a:solidFill>
                <a:latin typeface="Segoe UI"/>
                <a:cs typeface="Segoe UI"/>
              </a:rPr>
              <a:t>Feedback</a:t>
            </a:r>
            <a:r>
              <a:rPr sz="150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4A5462"/>
                </a:solidFill>
                <a:latin typeface="Segoe UI"/>
                <a:cs typeface="Segoe UI"/>
              </a:rPr>
              <a:t>Welcome</a:t>
            </a:r>
            <a:endParaRPr sz="1500">
              <a:latin typeface="Segoe UI"/>
              <a:cs typeface="Segoe U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343" y="7019925"/>
            <a:ext cx="157153" cy="2286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30249" y="6822439"/>
            <a:ext cx="105879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Key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spc="-20" dirty="0">
                <a:solidFill>
                  <a:srgbClr val="202020"/>
                </a:solidFill>
                <a:latin typeface="Segoe UI Semibold"/>
                <a:cs typeface="Segoe UI Semibold"/>
              </a:rPr>
              <a:t>Takeaway: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Proactive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database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growth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management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is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crucial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for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maintaining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optimal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system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performance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and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</a:t>
            </a:r>
            <a:r>
              <a:rPr sz="1350" b="1" dirty="0">
                <a:solidFill>
                  <a:srgbClr val="202020"/>
                </a:solidFill>
                <a:latin typeface="Segoe UI Semibold"/>
                <a:cs typeface="Segoe UI Semibold"/>
              </a:rPr>
              <a:t>reducing</a:t>
            </a:r>
            <a:r>
              <a:rPr sz="1350" b="1" spc="-10" dirty="0">
                <a:solidFill>
                  <a:srgbClr val="202020"/>
                </a:solidFill>
                <a:latin typeface="Segoe UI Semibold"/>
                <a:cs typeface="Segoe UI Semibold"/>
              </a:rPr>
              <a:t> operational costs.</a:t>
            </a:r>
            <a:endParaRPr sz="1350">
              <a:latin typeface="Segoe UI Semibold"/>
              <a:cs typeface="Segoe UI Semibold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515350" y="44196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400050" y="371475"/>
                </a:moveTo>
                <a:lnTo>
                  <a:pt x="335164" y="369605"/>
                </a:lnTo>
                <a:lnTo>
                  <a:pt x="273611" y="364194"/>
                </a:lnTo>
                <a:lnTo>
                  <a:pt x="216213" y="355533"/>
                </a:lnTo>
                <a:lnTo>
                  <a:pt x="163794" y="343917"/>
                </a:lnTo>
                <a:lnTo>
                  <a:pt x="117179" y="329639"/>
                </a:lnTo>
                <a:lnTo>
                  <a:pt x="77192" y="312993"/>
                </a:lnTo>
                <a:lnTo>
                  <a:pt x="20396" y="273771"/>
                </a:lnTo>
                <a:lnTo>
                  <a:pt x="0" y="228600"/>
                </a:lnTo>
                <a:lnTo>
                  <a:pt x="0" y="142875"/>
                </a:lnTo>
                <a:lnTo>
                  <a:pt x="20396" y="97703"/>
                </a:lnTo>
                <a:lnTo>
                  <a:pt x="77192" y="58481"/>
                </a:lnTo>
                <a:lnTo>
                  <a:pt x="117179" y="41835"/>
                </a:lnTo>
                <a:lnTo>
                  <a:pt x="163794" y="27557"/>
                </a:lnTo>
                <a:lnTo>
                  <a:pt x="216213" y="15941"/>
                </a:lnTo>
                <a:lnTo>
                  <a:pt x="273611" y="7280"/>
                </a:lnTo>
                <a:lnTo>
                  <a:pt x="335164" y="1869"/>
                </a:lnTo>
                <a:lnTo>
                  <a:pt x="400050" y="0"/>
                </a:lnTo>
                <a:lnTo>
                  <a:pt x="464935" y="1869"/>
                </a:lnTo>
                <a:lnTo>
                  <a:pt x="526488" y="7280"/>
                </a:lnTo>
                <a:lnTo>
                  <a:pt x="583886" y="15941"/>
                </a:lnTo>
                <a:lnTo>
                  <a:pt x="636305" y="27557"/>
                </a:lnTo>
                <a:lnTo>
                  <a:pt x="682920" y="41835"/>
                </a:lnTo>
                <a:lnTo>
                  <a:pt x="722907" y="58481"/>
                </a:lnTo>
                <a:lnTo>
                  <a:pt x="779703" y="97703"/>
                </a:lnTo>
                <a:lnTo>
                  <a:pt x="800100" y="142875"/>
                </a:lnTo>
                <a:lnTo>
                  <a:pt x="800100" y="228600"/>
                </a:lnTo>
                <a:lnTo>
                  <a:pt x="779703" y="273771"/>
                </a:lnTo>
                <a:lnTo>
                  <a:pt x="722907" y="312993"/>
                </a:lnTo>
                <a:lnTo>
                  <a:pt x="682920" y="329639"/>
                </a:lnTo>
                <a:lnTo>
                  <a:pt x="636305" y="343917"/>
                </a:lnTo>
                <a:lnTo>
                  <a:pt x="583886" y="355533"/>
                </a:lnTo>
                <a:lnTo>
                  <a:pt x="526488" y="364194"/>
                </a:lnTo>
                <a:lnTo>
                  <a:pt x="464935" y="369605"/>
                </a:lnTo>
                <a:lnTo>
                  <a:pt x="400050" y="371475"/>
                </a:lnTo>
                <a:close/>
              </a:path>
              <a:path w="800100" h="914400">
                <a:moveTo>
                  <a:pt x="400050" y="657225"/>
                </a:moveTo>
                <a:lnTo>
                  <a:pt x="335164" y="655355"/>
                </a:lnTo>
                <a:lnTo>
                  <a:pt x="273611" y="649944"/>
                </a:lnTo>
                <a:lnTo>
                  <a:pt x="216213" y="641283"/>
                </a:lnTo>
                <a:lnTo>
                  <a:pt x="163794" y="629667"/>
                </a:lnTo>
                <a:lnTo>
                  <a:pt x="117179" y="615389"/>
                </a:lnTo>
                <a:lnTo>
                  <a:pt x="77192" y="598743"/>
                </a:lnTo>
                <a:lnTo>
                  <a:pt x="20396" y="559521"/>
                </a:lnTo>
                <a:lnTo>
                  <a:pt x="0" y="514350"/>
                </a:lnTo>
                <a:lnTo>
                  <a:pt x="0" y="332362"/>
                </a:lnTo>
                <a:lnTo>
                  <a:pt x="21187" y="347300"/>
                </a:lnTo>
                <a:lnTo>
                  <a:pt x="44865" y="360781"/>
                </a:lnTo>
                <a:lnTo>
                  <a:pt x="97869" y="383440"/>
                </a:lnTo>
                <a:lnTo>
                  <a:pt x="140096" y="396709"/>
                </a:lnTo>
                <a:lnTo>
                  <a:pt x="186253" y="407855"/>
                </a:lnTo>
                <a:lnTo>
                  <a:pt x="235833" y="416748"/>
                </a:lnTo>
                <a:lnTo>
                  <a:pt x="288329" y="423260"/>
                </a:lnTo>
                <a:lnTo>
                  <a:pt x="343237" y="427262"/>
                </a:lnTo>
                <a:lnTo>
                  <a:pt x="400050" y="428625"/>
                </a:lnTo>
                <a:lnTo>
                  <a:pt x="800100" y="428625"/>
                </a:lnTo>
                <a:lnTo>
                  <a:pt x="800100" y="514350"/>
                </a:lnTo>
                <a:lnTo>
                  <a:pt x="779703" y="559521"/>
                </a:lnTo>
                <a:lnTo>
                  <a:pt x="722907" y="598743"/>
                </a:lnTo>
                <a:lnTo>
                  <a:pt x="682920" y="615389"/>
                </a:lnTo>
                <a:lnTo>
                  <a:pt x="636305" y="629667"/>
                </a:lnTo>
                <a:lnTo>
                  <a:pt x="583886" y="641283"/>
                </a:lnTo>
                <a:lnTo>
                  <a:pt x="526488" y="649944"/>
                </a:lnTo>
                <a:lnTo>
                  <a:pt x="464935" y="655355"/>
                </a:lnTo>
                <a:lnTo>
                  <a:pt x="400050" y="657225"/>
                </a:lnTo>
                <a:close/>
              </a:path>
              <a:path w="800100" h="914400">
                <a:moveTo>
                  <a:pt x="800100" y="428625"/>
                </a:moveTo>
                <a:lnTo>
                  <a:pt x="400050" y="428625"/>
                </a:lnTo>
                <a:lnTo>
                  <a:pt x="456862" y="427262"/>
                </a:lnTo>
                <a:lnTo>
                  <a:pt x="511770" y="423260"/>
                </a:lnTo>
                <a:lnTo>
                  <a:pt x="564266" y="416748"/>
                </a:lnTo>
                <a:lnTo>
                  <a:pt x="613846" y="407855"/>
                </a:lnTo>
                <a:lnTo>
                  <a:pt x="660003" y="396709"/>
                </a:lnTo>
                <a:lnTo>
                  <a:pt x="702230" y="383440"/>
                </a:lnTo>
                <a:lnTo>
                  <a:pt x="755116" y="360781"/>
                </a:lnTo>
                <a:lnTo>
                  <a:pt x="800100" y="332362"/>
                </a:lnTo>
                <a:lnTo>
                  <a:pt x="800100" y="428625"/>
                </a:lnTo>
                <a:close/>
              </a:path>
              <a:path w="800100" h="914400">
                <a:moveTo>
                  <a:pt x="400050" y="914400"/>
                </a:moveTo>
                <a:lnTo>
                  <a:pt x="335164" y="912530"/>
                </a:lnTo>
                <a:lnTo>
                  <a:pt x="273611" y="907119"/>
                </a:lnTo>
                <a:lnTo>
                  <a:pt x="216213" y="898458"/>
                </a:lnTo>
                <a:lnTo>
                  <a:pt x="163794" y="886842"/>
                </a:lnTo>
                <a:lnTo>
                  <a:pt x="117179" y="872564"/>
                </a:lnTo>
                <a:lnTo>
                  <a:pt x="77192" y="855918"/>
                </a:lnTo>
                <a:lnTo>
                  <a:pt x="20396" y="816696"/>
                </a:lnTo>
                <a:lnTo>
                  <a:pt x="0" y="771525"/>
                </a:lnTo>
                <a:lnTo>
                  <a:pt x="0" y="618112"/>
                </a:lnTo>
                <a:lnTo>
                  <a:pt x="21187" y="633050"/>
                </a:lnTo>
                <a:lnTo>
                  <a:pt x="44865" y="646531"/>
                </a:lnTo>
                <a:lnTo>
                  <a:pt x="97869" y="669190"/>
                </a:lnTo>
                <a:lnTo>
                  <a:pt x="140096" y="682459"/>
                </a:lnTo>
                <a:lnTo>
                  <a:pt x="186253" y="693605"/>
                </a:lnTo>
                <a:lnTo>
                  <a:pt x="235833" y="702498"/>
                </a:lnTo>
                <a:lnTo>
                  <a:pt x="288329" y="709010"/>
                </a:lnTo>
                <a:lnTo>
                  <a:pt x="343237" y="713012"/>
                </a:lnTo>
                <a:lnTo>
                  <a:pt x="400050" y="714375"/>
                </a:lnTo>
                <a:lnTo>
                  <a:pt x="800100" y="714375"/>
                </a:lnTo>
                <a:lnTo>
                  <a:pt x="800100" y="771525"/>
                </a:lnTo>
                <a:lnTo>
                  <a:pt x="779703" y="816696"/>
                </a:lnTo>
                <a:lnTo>
                  <a:pt x="722907" y="855918"/>
                </a:lnTo>
                <a:lnTo>
                  <a:pt x="682920" y="872564"/>
                </a:lnTo>
                <a:lnTo>
                  <a:pt x="636305" y="886842"/>
                </a:lnTo>
                <a:lnTo>
                  <a:pt x="583886" y="898458"/>
                </a:lnTo>
                <a:lnTo>
                  <a:pt x="526488" y="907119"/>
                </a:lnTo>
                <a:lnTo>
                  <a:pt x="464935" y="912530"/>
                </a:lnTo>
                <a:lnTo>
                  <a:pt x="400050" y="914400"/>
                </a:lnTo>
                <a:close/>
              </a:path>
              <a:path w="800100" h="914400">
                <a:moveTo>
                  <a:pt x="800100" y="714375"/>
                </a:moveTo>
                <a:lnTo>
                  <a:pt x="400050" y="714375"/>
                </a:lnTo>
                <a:lnTo>
                  <a:pt x="456862" y="713012"/>
                </a:lnTo>
                <a:lnTo>
                  <a:pt x="511770" y="709010"/>
                </a:lnTo>
                <a:lnTo>
                  <a:pt x="564266" y="702498"/>
                </a:lnTo>
                <a:lnTo>
                  <a:pt x="613846" y="693605"/>
                </a:lnTo>
                <a:lnTo>
                  <a:pt x="660003" y="682459"/>
                </a:lnTo>
                <a:lnTo>
                  <a:pt x="702230" y="669190"/>
                </a:lnTo>
                <a:lnTo>
                  <a:pt x="755116" y="646531"/>
                </a:lnTo>
                <a:lnTo>
                  <a:pt x="800100" y="618112"/>
                </a:lnTo>
                <a:lnTo>
                  <a:pt x="800100" y="714375"/>
                </a:lnTo>
                <a:close/>
              </a:path>
            </a:pathLst>
          </a:custGeom>
          <a:solidFill>
            <a:srgbClr val="0078D4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0544174" y="7343775"/>
            <a:ext cx="1457325" cy="323850"/>
            <a:chOff x="10544174" y="7343775"/>
            <a:chExt cx="1457325" cy="323850"/>
          </a:xfrm>
        </p:grpSpPr>
        <p:sp>
          <p:nvSpPr>
            <p:cNvPr id="28" name="object 28"/>
            <p:cNvSpPr/>
            <p:nvPr/>
          </p:nvSpPr>
          <p:spPr>
            <a:xfrm>
              <a:off x="10544174" y="7343775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7439024"/>
              <a:ext cx="133349" cy="1333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837018" y="7417283"/>
            <a:ext cx="1202690" cy="2870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sz="9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7799" y="7501501"/>
            <a:ext cx="251015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Automated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Database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Growth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sz="1050" spc="-20" dirty="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Segoe UI"/>
                <a:cs typeface="Segoe UI"/>
              </a:rPr>
              <a:t>System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819631" y="7501501"/>
            <a:ext cx="233045" cy="2032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z="1050" spc="-25" dirty="0">
                <a:solidFill>
                  <a:srgbClr val="6A7280"/>
                </a:solidFill>
                <a:latin typeface="Segoe UI"/>
                <a:cs typeface="Segoe UI"/>
              </a:rPr>
              <a:t>13</a:t>
            </a:fld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1794</Words>
  <Application>Microsoft Office PowerPoint</Application>
  <PresentationFormat>Custom</PresentationFormat>
  <Paragraphs>350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Liberation Mono</vt:lpstr>
      <vt:lpstr>Segoe UI</vt:lpstr>
      <vt:lpstr>Segoe UI Semibold</vt:lpstr>
      <vt:lpstr>Times New Roman</vt:lpstr>
      <vt:lpstr>Office Theme</vt:lpstr>
      <vt:lpstr>Automated Database Growth Alert System</vt:lpstr>
      <vt:lpstr>Agenda</vt:lpstr>
      <vt:lpstr>Introduction</vt:lpstr>
      <vt:lpstr>What is Database Growth?</vt:lpstr>
      <vt:lpstr>Why Monitor Database Growth?</vt:lpstr>
      <vt:lpstr>Database Growth Alert System: Overview</vt:lpstr>
      <vt:lpstr>How the System Works Stepwise workflow of the Automated Database Growth Alert System</vt:lpstr>
      <vt:lpstr>Key Difference: Database Growth Alerts vs Server Storage Alerts</vt:lpstr>
      <vt:lpstr>Real-World Case Study: 6-Database Server</vt:lpstr>
      <vt:lpstr>Case Study Visualization: Exponential Growth Impact</vt:lpstr>
      <vt:lpstr>GitHub Copilot Integration</vt:lpstr>
      <vt:lpstr>Benefits and ROI</vt:lpstr>
      <vt:lpstr>Conclusion &amp;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Srihima Vishnu Seshasai, Pyda Venkata (Cognizant)</cp:lastModifiedBy>
  <cp:revision>1</cp:revision>
  <dcterms:created xsi:type="dcterms:W3CDTF">2025-07-30T16:29:33Z</dcterms:created>
  <dcterms:modified xsi:type="dcterms:W3CDTF">2025-08-01T10:08:02Z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2025-07-30T00:00:00Z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2025-07-30T00:00:00Z</vt:filetime>
  </property>
</Properties>
</file>